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y="5143500" cx="9144000"/>
  <p:notesSz cx="6858000" cy="9144000"/>
  <p:embeddedFontLst>
    <p:embeddedFont>
      <p:font typeface="Source Code Pro"/>
      <p:regular r:id="rId59"/>
      <p:bold r:id="rId60"/>
      <p:italic r:id="rId61"/>
      <p:boldItalic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91EDD35-F7D5-4A0D-AE6D-22B7702B5ACF}">
  <a:tblStyle styleId="{591EDD35-F7D5-4A0D-AE6D-22B7702B5AC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SourceCodePro-boldItalic.fntdata"/><Relationship Id="rId61" Type="http://schemas.openxmlformats.org/officeDocument/2006/relationships/font" Target="fonts/SourceCodePro-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SourceCodePro-bold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font" Target="fonts/SourceCodePro-regular.fntdata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11e9135c4f8_0_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11e9135c4f8_0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1297d341fb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1297d341fb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12bf976e67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12bf976e67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12bf976e67a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12bf976e67a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12bf976e67a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12bf976e67a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12bf976e67a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12bf976e67a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12bf976e67a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12bf976e67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12bf976e67a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12bf976e67a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12bf976e67a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12bf976e67a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1297d341fb9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1297d341fb9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12bf976e67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12bf976e67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12bf976e67a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12bf976e67a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12bf976e67a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12bf976e67a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12bf976e67a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12bf976e67a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12bf976e67a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12bf976e67a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12bf976e67a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12bf976e67a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12bf976e67a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12bf976e67a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2df68bc712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2df68bc712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12bf976e67a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12bf976e67a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2df68bc7121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2df68bc7121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2df68bc7121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2df68bc7121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2df68bc7121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2df68bc7121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2df68bc7121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0" name="Google Shape;610;g2df68bc7121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2df68bc7121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2df68bc7121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2df68bc7121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" name="Google Shape;630;g2df68bc7121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2df68bc7121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2df68bc7121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2df68bc7121_1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" name="Google Shape;648;g2df68bc7121_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2df68bc7121_1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2df68bc7121_1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2df68bc7121_1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g2df68bc7121_1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2df68bc7121_1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3" name="Google Shape;673;g2df68bc7121_1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2df68bc7121_1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" name="Google Shape;681;g2df68bc7121_1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2df68bc7121_1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g2df68bc7121_1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2df68bc7121_1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2df68bc7121_1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2df68bc7121_1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g2df68bc7121_1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2df68bc7121_1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3" name="Google Shape;713;g2df68bc7121_1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2df68bc7121_1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1" name="Google Shape;721;g2df68bc7121_1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2df68bc7121_1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9" name="Google Shape;729;g2df68bc7121_1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2df68bc7121_1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2df68bc7121_1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2df68bc7121_1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5" name="Google Shape;745;g2df68bc7121_1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2df68bc7121_1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3" name="Google Shape;753;g2df68bc7121_1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2df68bc7121_1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1" name="Google Shape;761;g2df68bc7121_1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2df68bc7121_1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2df68bc7121_1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2df68bc7121_1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2df68bc7121_1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2df68bc7121_1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2df68bc7121_1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2df68bc7121_1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2df68bc7121_1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2df68bc7121_1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2df68bc7121_1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2df68bc7121_1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8" name="Google Shape;808;g2df68bc7121_1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2df68bc7121_1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6" name="Google Shape;816;g2df68bc7121_1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2df68bc7121_1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4" name="Google Shape;824;g2df68bc7121_1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g2df68bc7121_1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2" name="Google Shape;832;g2df68bc7121_1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2df68bc7121_1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0" name="Google Shape;840;g2df68bc7121_1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mailto:konrad.voelkel@hhu.de" TargetMode="Externa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mailto:konrad.voelkel@hhu.de" TargetMode="Externa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mailto:konrad.voelkel@hhu.de" TargetMode="Externa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mailto:konrad.voelkel@hhu.de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mailto:konrad.voelkel@hhu.de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mailto:konrad.voelkel@hhu.de" TargetMode="Externa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mailto:konrad.voelkel@hhu.de" TargetMode="Externa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mailto:konrad.voelkel@hhu.de" TargetMode="Externa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mailto:konrad.voelkel@hhu.de" TargetMode="Externa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mailto:konrad.voelkel@hhu.de" TargetMode="Externa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mailto:konrad.voelkel@hhu.de" TargetMode="Externa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folie 1" showMasterSp="0" type="title">
  <p:cSld name="TITLE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2"/>
          <p:cNvGrpSpPr/>
          <p:nvPr/>
        </p:nvGrpSpPr>
        <p:grpSpPr>
          <a:xfrm>
            <a:off x="-4877" y="4944919"/>
            <a:ext cx="9145385" cy="197882"/>
            <a:chOff x="-4877" y="4950860"/>
            <a:chExt cx="9145385" cy="198120"/>
          </a:xfrm>
        </p:grpSpPr>
        <p:sp>
          <p:nvSpPr>
            <p:cNvPr id="43" name="Google Shape;43;p2"/>
            <p:cNvSpPr/>
            <p:nvPr/>
          </p:nvSpPr>
          <p:spPr>
            <a:xfrm>
              <a:off x="-4877" y="4950860"/>
              <a:ext cx="480060" cy="198120"/>
            </a:xfrm>
            <a:custGeom>
              <a:rect b="b" l="l" r="r" t="t"/>
              <a:pathLst>
                <a:path extrusionOk="0" h="198120" w="914400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22288" y="4950860"/>
              <a:ext cx="8618220" cy="198120"/>
            </a:xfrm>
            <a:custGeom>
              <a:rect b="b" l="l" r="r" t="t"/>
              <a:pathLst>
                <a:path extrusionOk="0" h="198120" w="914400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2"/>
            <p:cNvSpPr txBox="1"/>
            <p:nvPr/>
          </p:nvSpPr>
          <p:spPr>
            <a:xfrm>
              <a:off x="8194726" y="4966101"/>
              <a:ext cx="449700" cy="16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127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1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hhu.de</a:t>
              </a:r>
              <a:endParaRPr/>
            </a:p>
          </p:txBody>
        </p:sp>
      </p:grpSp>
      <p:sp>
        <p:nvSpPr>
          <p:cNvPr id="46" name="Google Shape;46;p2"/>
          <p:cNvSpPr/>
          <p:nvPr/>
        </p:nvSpPr>
        <p:spPr>
          <a:xfrm>
            <a:off x="1" y="1420646"/>
            <a:ext cx="3171307" cy="3491843"/>
          </a:xfrm>
          <a:custGeom>
            <a:rect b="b" l="l" r="r" t="t"/>
            <a:pathLst>
              <a:path extrusionOk="0" h="4702819" w="4271120">
                <a:moveTo>
                  <a:pt x="3773588" y="3280579"/>
                </a:moveTo>
                <a:cubicBezTo>
                  <a:pt x="3773588" y="3280579"/>
                  <a:pt x="3730105" y="3343276"/>
                  <a:pt x="3717970" y="3393838"/>
                </a:cubicBezTo>
                <a:cubicBezTo>
                  <a:pt x="3745273" y="3430243"/>
                  <a:pt x="3753363" y="3442378"/>
                  <a:pt x="3755385" y="3541480"/>
                </a:cubicBezTo>
                <a:cubicBezTo>
                  <a:pt x="3755385" y="3549570"/>
                  <a:pt x="3745273" y="3551593"/>
                  <a:pt x="3742240" y="3544514"/>
                </a:cubicBezTo>
                <a:cubicBezTo>
                  <a:pt x="3714936" y="3479795"/>
                  <a:pt x="3663363" y="3420131"/>
                  <a:pt x="3594598" y="3403951"/>
                </a:cubicBezTo>
                <a:cubicBezTo>
                  <a:pt x="3610778" y="3321029"/>
                  <a:pt x="3667408" y="3281590"/>
                  <a:pt x="3773588" y="3280579"/>
                </a:cubicBezTo>
                <a:close/>
                <a:moveTo>
                  <a:pt x="3937409" y="2981250"/>
                </a:moveTo>
                <a:cubicBezTo>
                  <a:pt x="3924264" y="3035858"/>
                  <a:pt x="3891904" y="3080352"/>
                  <a:pt x="3833252" y="3118780"/>
                </a:cubicBezTo>
                <a:cubicBezTo>
                  <a:pt x="3598643" y="3075297"/>
                  <a:pt x="3669430" y="3152151"/>
                  <a:pt x="3480327" y="3142039"/>
                </a:cubicBezTo>
                <a:cubicBezTo>
                  <a:pt x="3479316" y="3127881"/>
                  <a:pt x="3479316" y="3081364"/>
                  <a:pt x="3488417" y="3070240"/>
                </a:cubicBezTo>
                <a:cubicBezTo>
                  <a:pt x="3640104" y="3123836"/>
                  <a:pt x="3659318" y="3035858"/>
                  <a:pt x="3802914" y="3008554"/>
                </a:cubicBezTo>
                <a:cubicBezTo>
                  <a:pt x="3851454" y="2999453"/>
                  <a:pt x="3909095" y="2995408"/>
                  <a:pt x="3937409" y="2981250"/>
                </a:cubicBezTo>
                <a:close/>
                <a:moveTo>
                  <a:pt x="1530647" y="2816671"/>
                </a:moveTo>
                <a:cubicBezTo>
                  <a:pt x="1533681" y="2815912"/>
                  <a:pt x="1537220" y="2816924"/>
                  <a:pt x="1538737" y="2820463"/>
                </a:cubicBezTo>
                <a:cubicBezTo>
                  <a:pt x="1704581" y="3184511"/>
                  <a:pt x="1838065" y="3351366"/>
                  <a:pt x="1944246" y="3409008"/>
                </a:cubicBezTo>
                <a:cubicBezTo>
                  <a:pt x="2164698" y="3528335"/>
                  <a:pt x="3031334" y="3856989"/>
                  <a:pt x="3606733" y="3913618"/>
                </a:cubicBezTo>
                <a:cubicBezTo>
                  <a:pt x="3614823" y="3913618"/>
                  <a:pt x="3615834" y="3924742"/>
                  <a:pt x="3607744" y="3926765"/>
                </a:cubicBezTo>
                <a:cubicBezTo>
                  <a:pt x="3352910" y="3984405"/>
                  <a:pt x="2663241" y="3916653"/>
                  <a:pt x="2423576" y="3894405"/>
                </a:cubicBezTo>
                <a:cubicBezTo>
                  <a:pt x="2159641" y="3869123"/>
                  <a:pt x="2078741" y="3805416"/>
                  <a:pt x="2077731" y="3806426"/>
                </a:cubicBezTo>
                <a:cubicBezTo>
                  <a:pt x="1903797" y="3672942"/>
                  <a:pt x="1564018" y="3144061"/>
                  <a:pt x="1525591" y="2823496"/>
                </a:cubicBezTo>
                <a:cubicBezTo>
                  <a:pt x="1525085" y="2819957"/>
                  <a:pt x="1527613" y="2817429"/>
                  <a:pt x="1530647" y="2816671"/>
                </a:cubicBezTo>
                <a:close/>
                <a:moveTo>
                  <a:pt x="3996062" y="2605067"/>
                </a:moveTo>
                <a:cubicBezTo>
                  <a:pt x="4069883" y="2597989"/>
                  <a:pt x="4190221" y="2621247"/>
                  <a:pt x="4271120" y="2676866"/>
                </a:cubicBezTo>
                <a:cubicBezTo>
                  <a:pt x="4252918" y="2737541"/>
                  <a:pt x="4086063" y="2706192"/>
                  <a:pt x="4008197" y="2693046"/>
                </a:cubicBezTo>
                <a:cubicBezTo>
                  <a:pt x="3953589" y="2684955"/>
                  <a:pt x="3889881" y="2681922"/>
                  <a:pt x="3829207" y="2680911"/>
                </a:cubicBezTo>
                <a:cubicBezTo>
                  <a:pt x="3777633" y="2679899"/>
                  <a:pt x="3693700" y="2671810"/>
                  <a:pt x="3670441" y="2642484"/>
                </a:cubicBezTo>
                <a:cubicBezTo>
                  <a:pt x="3719992" y="2647540"/>
                  <a:pt x="3843364" y="2620237"/>
                  <a:pt x="3996062" y="2605067"/>
                </a:cubicBezTo>
                <a:close/>
                <a:moveTo>
                  <a:pt x="3443991" y="1373753"/>
                </a:moveTo>
                <a:cubicBezTo>
                  <a:pt x="3569601" y="1369611"/>
                  <a:pt x="3697113" y="1404594"/>
                  <a:pt x="3808982" y="1505845"/>
                </a:cubicBezTo>
                <a:cubicBezTo>
                  <a:pt x="3760442" y="1576632"/>
                  <a:pt x="3761453" y="1685847"/>
                  <a:pt x="3766510" y="1714160"/>
                </a:cubicBezTo>
                <a:cubicBezTo>
                  <a:pt x="3739205" y="1705060"/>
                  <a:pt x="3695722" y="1653485"/>
                  <a:pt x="3673475" y="1626182"/>
                </a:cubicBezTo>
                <a:cubicBezTo>
                  <a:pt x="3582463" y="1677757"/>
                  <a:pt x="3486394" y="1844611"/>
                  <a:pt x="3503586" y="1940680"/>
                </a:cubicBezTo>
                <a:cubicBezTo>
                  <a:pt x="3512687" y="2019557"/>
                  <a:pt x="3455046" y="2031692"/>
                  <a:pt x="3349877" y="1900230"/>
                </a:cubicBezTo>
                <a:cubicBezTo>
                  <a:pt x="3299315" y="1936634"/>
                  <a:pt x="3250775" y="1870904"/>
                  <a:pt x="3263920" y="1778881"/>
                </a:cubicBezTo>
                <a:cubicBezTo>
                  <a:pt x="3182010" y="1864836"/>
                  <a:pt x="2961559" y="1908320"/>
                  <a:pt x="2886727" y="1881016"/>
                </a:cubicBezTo>
                <a:cubicBezTo>
                  <a:pt x="3034368" y="1838544"/>
                  <a:pt x="3254820" y="1604947"/>
                  <a:pt x="3400439" y="1585733"/>
                </a:cubicBezTo>
                <a:cubicBezTo>
                  <a:pt x="3282123" y="1528092"/>
                  <a:pt x="3076841" y="1513935"/>
                  <a:pt x="2921109" y="1605957"/>
                </a:cubicBezTo>
                <a:cubicBezTo>
                  <a:pt x="2914030" y="1610002"/>
                  <a:pt x="2906951" y="1599890"/>
                  <a:pt x="2913019" y="1594835"/>
                </a:cubicBezTo>
                <a:cubicBezTo>
                  <a:pt x="3030576" y="1496238"/>
                  <a:pt x="3234642" y="1380656"/>
                  <a:pt x="3443991" y="1373753"/>
                </a:cubicBezTo>
                <a:close/>
                <a:moveTo>
                  <a:pt x="0" y="0"/>
                </a:moveTo>
                <a:lnTo>
                  <a:pt x="115292" y="0"/>
                </a:lnTo>
                <a:lnTo>
                  <a:pt x="274676" y="0"/>
                </a:lnTo>
                <a:lnTo>
                  <a:pt x="3942724" y="0"/>
                </a:lnTo>
                <a:lnTo>
                  <a:pt x="3939432" y="53696"/>
                </a:lnTo>
                <a:cubicBezTo>
                  <a:pt x="3926286" y="139653"/>
                  <a:pt x="3890892" y="219541"/>
                  <a:pt x="3684598" y="334822"/>
                </a:cubicBezTo>
                <a:cubicBezTo>
                  <a:pt x="3918196" y="331789"/>
                  <a:pt x="3971792" y="185158"/>
                  <a:pt x="3981904" y="155833"/>
                </a:cubicBezTo>
                <a:cubicBezTo>
                  <a:pt x="4027411" y="317632"/>
                  <a:pt x="3993028" y="404599"/>
                  <a:pt x="3993028" y="404599"/>
                </a:cubicBezTo>
                <a:cubicBezTo>
                  <a:pt x="3940444" y="578533"/>
                  <a:pt x="3623924" y="771681"/>
                  <a:pt x="3433810" y="635163"/>
                </a:cubicBezTo>
                <a:cubicBezTo>
                  <a:pt x="2893805" y="156844"/>
                  <a:pt x="3099088" y="642242"/>
                  <a:pt x="2283013" y="464262"/>
                </a:cubicBezTo>
                <a:cubicBezTo>
                  <a:pt x="2277957" y="463251"/>
                  <a:pt x="2278968" y="455161"/>
                  <a:pt x="2284025" y="455161"/>
                </a:cubicBezTo>
                <a:cubicBezTo>
                  <a:pt x="2601556" y="444037"/>
                  <a:pt x="2854367" y="256957"/>
                  <a:pt x="2959536" y="115383"/>
                </a:cubicBezTo>
                <a:cubicBezTo>
                  <a:pt x="2963581" y="109315"/>
                  <a:pt x="2955491" y="101225"/>
                  <a:pt x="2949424" y="107293"/>
                </a:cubicBezTo>
                <a:cubicBezTo>
                  <a:pt x="2789647" y="273137"/>
                  <a:pt x="2362902" y="477408"/>
                  <a:pt x="1789525" y="314598"/>
                </a:cubicBezTo>
                <a:cubicBezTo>
                  <a:pt x="1719750" y="288306"/>
                  <a:pt x="1577164" y="254935"/>
                  <a:pt x="1564018" y="251900"/>
                </a:cubicBezTo>
                <a:cubicBezTo>
                  <a:pt x="1542782" y="245833"/>
                  <a:pt x="1554917" y="262013"/>
                  <a:pt x="1554917" y="262013"/>
                </a:cubicBezTo>
                <a:cubicBezTo>
                  <a:pt x="2567173" y="576510"/>
                  <a:pt x="2389194" y="907188"/>
                  <a:pt x="2389194" y="907188"/>
                </a:cubicBezTo>
                <a:cubicBezTo>
                  <a:pt x="2370992" y="796962"/>
                  <a:pt x="2292115" y="689770"/>
                  <a:pt x="2159641" y="613927"/>
                </a:cubicBezTo>
                <a:cubicBezTo>
                  <a:pt x="2258743" y="732242"/>
                  <a:pt x="2255710" y="818197"/>
                  <a:pt x="2255710" y="818197"/>
                </a:cubicBezTo>
                <a:cubicBezTo>
                  <a:pt x="2256721" y="837412"/>
                  <a:pt x="2256721" y="904154"/>
                  <a:pt x="2248631" y="897075"/>
                </a:cubicBezTo>
                <a:cubicBezTo>
                  <a:pt x="2238518" y="886963"/>
                  <a:pt x="2210203" y="755501"/>
                  <a:pt x="2071663" y="706960"/>
                </a:cubicBezTo>
                <a:cubicBezTo>
                  <a:pt x="2049416" y="701905"/>
                  <a:pt x="2063573" y="718085"/>
                  <a:pt x="2063573" y="718085"/>
                </a:cubicBezTo>
                <a:cubicBezTo>
                  <a:pt x="2150540" y="841456"/>
                  <a:pt x="2086831" y="984043"/>
                  <a:pt x="1981662" y="1090223"/>
                </a:cubicBezTo>
                <a:cubicBezTo>
                  <a:pt x="1992786" y="1084155"/>
                  <a:pt x="2003909" y="1077077"/>
                  <a:pt x="2015034" y="1068987"/>
                </a:cubicBezTo>
                <a:cubicBezTo>
                  <a:pt x="2088854" y="1009323"/>
                  <a:pt x="2150540" y="961794"/>
                  <a:pt x="2152563" y="876851"/>
                </a:cubicBezTo>
                <a:cubicBezTo>
                  <a:pt x="2152563" y="848535"/>
                  <a:pt x="2189978" y="899097"/>
                  <a:pt x="2193013" y="935503"/>
                </a:cubicBezTo>
                <a:cubicBezTo>
                  <a:pt x="2190990" y="1046740"/>
                  <a:pt x="2126271" y="1094268"/>
                  <a:pt x="2042337" y="1153931"/>
                </a:cubicBezTo>
                <a:cubicBezTo>
                  <a:pt x="1941212" y="1225730"/>
                  <a:pt x="1609524" y="1394608"/>
                  <a:pt x="1195925" y="1315731"/>
                </a:cubicBezTo>
                <a:cubicBezTo>
                  <a:pt x="1484130" y="1399664"/>
                  <a:pt x="1645929" y="1362248"/>
                  <a:pt x="1759188" y="1329888"/>
                </a:cubicBezTo>
                <a:cubicBezTo>
                  <a:pt x="1763233" y="1328876"/>
                  <a:pt x="1766267" y="1334944"/>
                  <a:pt x="1762222" y="1336967"/>
                </a:cubicBezTo>
                <a:cubicBezTo>
                  <a:pt x="1691435" y="1385506"/>
                  <a:pt x="1611546" y="1409776"/>
                  <a:pt x="1303117" y="1458316"/>
                </a:cubicBezTo>
                <a:cubicBezTo>
                  <a:pt x="1585254" y="1480563"/>
                  <a:pt x="1740986" y="1459328"/>
                  <a:pt x="1879527" y="1385506"/>
                </a:cubicBezTo>
                <a:cubicBezTo>
                  <a:pt x="1882560" y="1383484"/>
                  <a:pt x="1885594" y="1387529"/>
                  <a:pt x="1882560" y="1389551"/>
                </a:cubicBezTo>
                <a:cubicBezTo>
                  <a:pt x="1799638" y="1452248"/>
                  <a:pt x="1517501" y="1619104"/>
                  <a:pt x="1158509" y="1608992"/>
                </a:cubicBezTo>
                <a:cubicBezTo>
                  <a:pt x="1213116" y="1658542"/>
                  <a:pt x="1464916" y="1649442"/>
                  <a:pt x="1500309" y="1648430"/>
                </a:cubicBezTo>
                <a:cubicBezTo>
                  <a:pt x="1502332" y="1648430"/>
                  <a:pt x="1503344" y="1650453"/>
                  <a:pt x="1502332" y="1651464"/>
                </a:cubicBezTo>
                <a:cubicBezTo>
                  <a:pt x="1450759" y="1717194"/>
                  <a:pt x="1323342" y="1726296"/>
                  <a:pt x="1323342" y="1726296"/>
                </a:cubicBezTo>
                <a:cubicBezTo>
                  <a:pt x="1347612" y="1731352"/>
                  <a:pt x="1368848" y="1736409"/>
                  <a:pt x="1387050" y="1741465"/>
                </a:cubicBezTo>
                <a:cubicBezTo>
                  <a:pt x="1405252" y="1745509"/>
                  <a:pt x="1424467" y="1748544"/>
                  <a:pt x="1442669" y="1750566"/>
                </a:cubicBezTo>
                <a:cubicBezTo>
                  <a:pt x="1624693" y="1761689"/>
                  <a:pt x="1816830" y="1717194"/>
                  <a:pt x="1983684" y="1635284"/>
                </a:cubicBezTo>
                <a:cubicBezTo>
                  <a:pt x="1989752" y="1632250"/>
                  <a:pt x="2041326" y="1604947"/>
                  <a:pt x="2041326" y="1604947"/>
                </a:cubicBezTo>
                <a:cubicBezTo>
                  <a:pt x="2046382" y="1641352"/>
                  <a:pt x="2021101" y="1692925"/>
                  <a:pt x="1993797" y="1723262"/>
                </a:cubicBezTo>
                <a:cubicBezTo>
                  <a:pt x="1962449" y="1757644"/>
                  <a:pt x="1921999" y="1780903"/>
                  <a:pt x="1881549" y="1801128"/>
                </a:cubicBezTo>
                <a:cubicBezTo>
                  <a:pt x="1892672" y="1818319"/>
                  <a:pt x="1875482" y="1856746"/>
                  <a:pt x="1868403" y="1865847"/>
                </a:cubicBezTo>
                <a:cubicBezTo>
                  <a:pt x="1612558" y="2185401"/>
                  <a:pt x="1001766" y="1993265"/>
                  <a:pt x="1001766" y="1993265"/>
                </a:cubicBezTo>
                <a:cubicBezTo>
                  <a:pt x="1001766" y="1993265"/>
                  <a:pt x="1000754" y="1993265"/>
                  <a:pt x="999744" y="1993265"/>
                </a:cubicBezTo>
                <a:cubicBezTo>
                  <a:pt x="1145363" y="2093377"/>
                  <a:pt x="1362780" y="2123715"/>
                  <a:pt x="1477051" y="2115625"/>
                </a:cubicBezTo>
                <a:cubicBezTo>
                  <a:pt x="1479074" y="2115625"/>
                  <a:pt x="1480085" y="2117648"/>
                  <a:pt x="1478062" y="2118658"/>
                </a:cubicBezTo>
                <a:cubicBezTo>
                  <a:pt x="1447725" y="2137873"/>
                  <a:pt x="1347612" y="2158097"/>
                  <a:pt x="1337500" y="2160120"/>
                </a:cubicBezTo>
                <a:cubicBezTo>
                  <a:pt x="1571097" y="2180345"/>
                  <a:pt x="1753121" y="2096412"/>
                  <a:pt x="1830987" y="2044838"/>
                </a:cubicBezTo>
                <a:cubicBezTo>
                  <a:pt x="1837055" y="2040793"/>
                  <a:pt x="1845144" y="2048883"/>
                  <a:pt x="1840088" y="2054950"/>
                </a:cubicBezTo>
                <a:cubicBezTo>
                  <a:pt x="1765256" y="2154052"/>
                  <a:pt x="1717728" y="2182367"/>
                  <a:pt x="1610536" y="2209670"/>
                </a:cubicBezTo>
                <a:cubicBezTo>
                  <a:pt x="1399185" y="2261244"/>
                  <a:pt x="1159521" y="2246076"/>
                  <a:pt x="970417" y="2143940"/>
                </a:cubicBezTo>
                <a:cubicBezTo>
                  <a:pt x="1170644" y="2526190"/>
                  <a:pt x="1447725" y="2465516"/>
                  <a:pt x="1531659" y="2446302"/>
                </a:cubicBezTo>
                <a:cubicBezTo>
                  <a:pt x="1427500" y="2605067"/>
                  <a:pt x="1220195" y="2650574"/>
                  <a:pt x="1040194" y="2520123"/>
                </a:cubicBezTo>
                <a:cubicBezTo>
                  <a:pt x="1030081" y="2513044"/>
                  <a:pt x="1021991" y="2504955"/>
                  <a:pt x="1012890" y="2497875"/>
                </a:cubicBezTo>
                <a:cubicBezTo>
                  <a:pt x="890529" y="2709226"/>
                  <a:pt x="464795" y="2786080"/>
                  <a:pt x="585134" y="2905408"/>
                </a:cubicBezTo>
                <a:cubicBezTo>
                  <a:pt x="1526602" y="3840809"/>
                  <a:pt x="2443801" y="4164407"/>
                  <a:pt x="2443801" y="4164407"/>
                </a:cubicBezTo>
                <a:cubicBezTo>
                  <a:pt x="2521667" y="4282217"/>
                  <a:pt x="2602820" y="4452359"/>
                  <a:pt x="2680749" y="4641304"/>
                </a:cubicBezTo>
                <a:lnTo>
                  <a:pt x="2704586" y="4702819"/>
                </a:lnTo>
                <a:lnTo>
                  <a:pt x="274676" y="4702819"/>
                </a:lnTo>
                <a:lnTo>
                  <a:pt x="115292" y="4702819"/>
                </a:lnTo>
                <a:lnTo>
                  <a:pt x="0" y="4702819"/>
                </a:lnTo>
                <a:close/>
              </a:path>
            </a:pathLst>
          </a:custGeom>
          <a:solidFill>
            <a:srgbClr val="DAE5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 txBox="1"/>
          <p:nvPr>
            <p:ph type="ctrTitle"/>
          </p:nvPr>
        </p:nvSpPr>
        <p:spPr>
          <a:xfrm>
            <a:off x="3654279" y="2265285"/>
            <a:ext cx="4401000" cy="10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b="0" sz="3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"/>
          <p:cNvSpPr txBox="1"/>
          <p:nvPr>
            <p:ph idx="1" type="subTitle"/>
          </p:nvPr>
        </p:nvSpPr>
        <p:spPr>
          <a:xfrm>
            <a:off x="3654279" y="3489852"/>
            <a:ext cx="44010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Autofit/>
          </a:bodyPr>
          <a:lstStyle>
            <a:lvl1pPr lv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grpSp>
        <p:nvGrpSpPr>
          <p:cNvPr id="49" name="Google Shape;49;p2"/>
          <p:cNvGrpSpPr/>
          <p:nvPr/>
        </p:nvGrpSpPr>
        <p:grpSpPr>
          <a:xfrm>
            <a:off x="522809" y="384879"/>
            <a:ext cx="1528148" cy="582679"/>
            <a:chOff x="695325" y="516229"/>
            <a:chExt cx="2555004" cy="974217"/>
          </a:xfrm>
        </p:grpSpPr>
        <p:sp>
          <p:nvSpPr>
            <p:cNvPr id="50" name="Google Shape;50;p2"/>
            <p:cNvSpPr/>
            <p:nvPr/>
          </p:nvSpPr>
          <p:spPr>
            <a:xfrm>
              <a:off x="2979337" y="1251070"/>
              <a:ext cx="270992" cy="239376"/>
            </a:xfrm>
            <a:custGeom>
              <a:rect b="b" l="l" r="r" t="t"/>
              <a:pathLst>
                <a:path extrusionOk="0" h="239376" w="270992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2216494" y="728506"/>
              <a:ext cx="659414" cy="663930"/>
            </a:xfrm>
            <a:custGeom>
              <a:rect b="b" l="l" r="r" t="t"/>
              <a:pathLst>
                <a:path extrusionOk="0" h="663930" w="659414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695325" y="516229"/>
              <a:ext cx="659414" cy="858142"/>
            </a:xfrm>
            <a:custGeom>
              <a:rect b="b" l="l" r="r" t="t"/>
              <a:pathLst>
                <a:path extrusionOk="0" h="858142" w="659414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1458619" y="516229"/>
              <a:ext cx="659414" cy="858142"/>
            </a:xfrm>
            <a:custGeom>
              <a:rect b="b" l="l" r="r" t="t"/>
              <a:pathLst>
                <a:path extrusionOk="0" h="858142" w="659414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" name="Google Shape;54;p2"/>
          <p:cNvSpPr txBox="1"/>
          <p:nvPr/>
        </p:nvSpPr>
        <p:spPr>
          <a:xfrm>
            <a:off x="521550" y="4880675"/>
            <a:ext cx="3978600" cy="5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000">
                <a:solidFill>
                  <a:schemeClr val="lt1"/>
                </a:solidFill>
              </a:rPr>
              <a:t>Data Science, Sommersemester 2026, vldatascience</a:t>
            </a:r>
            <a:r>
              <a:rPr b="1" lang="en-GB" sz="1000">
                <a:solidFill>
                  <a:srgbClr val="F3F3F3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@hhu.de</a:t>
            </a:r>
            <a:endParaRPr b="1"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folie mit Bild 1" showMasterSp="0">
  <p:cSld name="Titelfolie mit Bild 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3"/>
          <p:cNvGrpSpPr/>
          <p:nvPr/>
        </p:nvGrpSpPr>
        <p:grpSpPr>
          <a:xfrm>
            <a:off x="-4877" y="4944919"/>
            <a:ext cx="9145385" cy="197882"/>
            <a:chOff x="-4877" y="4950860"/>
            <a:chExt cx="9145385" cy="198120"/>
          </a:xfrm>
        </p:grpSpPr>
        <p:sp>
          <p:nvSpPr>
            <p:cNvPr id="57" name="Google Shape;57;p3"/>
            <p:cNvSpPr/>
            <p:nvPr/>
          </p:nvSpPr>
          <p:spPr>
            <a:xfrm>
              <a:off x="-4877" y="4950860"/>
              <a:ext cx="480060" cy="198120"/>
            </a:xfrm>
            <a:custGeom>
              <a:rect b="b" l="l" r="r" t="t"/>
              <a:pathLst>
                <a:path extrusionOk="0" h="198120" w="914400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522288" y="4950860"/>
              <a:ext cx="8618220" cy="198120"/>
            </a:xfrm>
            <a:custGeom>
              <a:rect b="b" l="l" r="r" t="t"/>
              <a:pathLst>
                <a:path extrusionOk="0" h="198120" w="914400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3"/>
            <p:cNvSpPr txBox="1"/>
            <p:nvPr/>
          </p:nvSpPr>
          <p:spPr>
            <a:xfrm>
              <a:off x="8194726" y="4966101"/>
              <a:ext cx="449700" cy="1677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127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1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hhu.de</a:t>
              </a:r>
              <a:endParaRPr/>
            </a:p>
          </p:txBody>
        </p:sp>
      </p:grpSp>
      <p:sp>
        <p:nvSpPr>
          <p:cNvPr id="60" name="Google Shape;60;p3"/>
          <p:cNvSpPr txBox="1"/>
          <p:nvPr>
            <p:ph idx="1" type="subTitle"/>
          </p:nvPr>
        </p:nvSpPr>
        <p:spPr>
          <a:xfrm>
            <a:off x="526536" y="3508164"/>
            <a:ext cx="49365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61" name="Google Shape;61;p3"/>
          <p:cNvSpPr txBox="1"/>
          <p:nvPr>
            <p:ph type="ctrTitle"/>
          </p:nvPr>
        </p:nvSpPr>
        <p:spPr>
          <a:xfrm>
            <a:off x="526536" y="2328723"/>
            <a:ext cx="4936500" cy="1107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b="0" sz="3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2" name="Google Shape;62;p3"/>
          <p:cNvGrpSpPr/>
          <p:nvPr/>
        </p:nvGrpSpPr>
        <p:grpSpPr>
          <a:xfrm>
            <a:off x="522809" y="384879"/>
            <a:ext cx="1528148" cy="582679"/>
            <a:chOff x="695325" y="516229"/>
            <a:chExt cx="2555004" cy="974217"/>
          </a:xfrm>
        </p:grpSpPr>
        <p:sp>
          <p:nvSpPr>
            <p:cNvPr id="63" name="Google Shape;63;p3"/>
            <p:cNvSpPr/>
            <p:nvPr/>
          </p:nvSpPr>
          <p:spPr>
            <a:xfrm>
              <a:off x="2979337" y="1251070"/>
              <a:ext cx="270992" cy="239376"/>
            </a:xfrm>
            <a:custGeom>
              <a:rect b="b" l="l" r="r" t="t"/>
              <a:pathLst>
                <a:path extrusionOk="0" h="239376" w="270992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2216494" y="728506"/>
              <a:ext cx="659414" cy="663930"/>
            </a:xfrm>
            <a:custGeom>
              <a:rect b="b" l="l" r="r" t="t"/>
              <a:pathLst>
                <a:path extrusionOk="0" h="663930" w="659414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695325" y="516229"/>
              <a:ext cx="659414" cy="858142"/>
            </a:xfrm>
            <a:custGeom>
              <a:rect b="b" l="l" r="r" t="t"/>
              <a:pathLst>
                <a:path extrusionOk="0" h="858142" w="659414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1458619" y="516229"/>
              <a:ext cx="659414" cy="858142"/>
            </a:xfrm>
            <a:custGeom>
              <a:rect b="b" l="l" r="r" t="t"/>
              <a:pathLst>
                <a:path extrusionOk="0" h="858142" w="659414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" name="Google Shape;67;p3"/>
          <p:cNvSpPr txBox="1"/>
          <p:nvPr>
            <p:ph idx="2" type="body"/>
          </p:nvPr>
        </p:nvSpPr>
        <p:spPr>
          <a:xfrm>
            <a:off x="5620941" y="1087041"/>
            <a:ext cx="3523200" cy="382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5400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0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◼"/>
              <a:defRPr b="0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◼"/>
              <a:defRPr b="0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◼"/>
              <a:defRPr b="0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◼"/>
              <a:defRPr b="0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68" name="Google Shape;68;p3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26000" wrap="square" tIns="54000">
            <a:noAutofit/>
          </a:bodyPr>
          <a:lstStyle>
            <a:lvl1pPr lvl="0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1pPr>
            <a:lvl2pPr lvl="1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2pPr>
            <a:lvl3pPr lvl="2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3pPr>
            <a:lvl4pPr lvl="3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4pPr>
            <a:lvl5pPr lvl="4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5pPr>
            <a:lvl6pPr lvl="5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6pPr>
            <a:lvl7pPr lvl="6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7pPr>
            <a:lvl8pPr lvl="7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8pPr>
            <a:lvl9pPr lvl="8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3"/>
          <p:cNvSpPr txBox="1"/>
          <p:nvPr/>
        </p:nvSpPr>
        <p:spPr>
          <a:xfrm>
            <a:off x="521550" y="4880675"/>
            <a:ext cx="3978600" cy="5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000">
                <a:solidFill>
                  <a:schemeClr val="lt1"/>
                </a:solidFill>
              </a:rPr>
              <a:t>Data Science, Sommersemester 2026, vldatascience</a:t>
            </a:r>
            <a:r>
              <a:rPr b="1" lang="en-GB" sz="1000">
                <a:solidFill>
                  <a:srgbClr val="F3F3F3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@hhu.de</a:t>
            </a:r>
            <a:endParaRPr b="1"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folie mit Bild 2" showMasterSp="0">
  <p:cSld name="Titelfolie mit Bild 2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oogle Shape;71;p4"/>
          <p:cNvGrpSpPr/>
          <p:nvPr/>
        </p:nvGrpSpPr>
        <p:grpSpPr>
          <a:xfrm>
            <a:off x="-4877" y="4944919"/>
            <a:ext cx="9145385" cy="197882"/>
            <a:chOff x="-4877" y="4950860"/>
            <a:chExt cx="9145385" cy="198120"/>
          </a:xfrm>
        </p:grpSpPr>
        <p:sp>
          <p:nvSpPr>
            <p:cNvPr id="72" name="Google Shape;72;p4"/>
            <p:cNvSpPr/>
            <p:nvPr/>
          </p:nvSpPr>
          <p:spPr>
            <a:xfrm>
              <a:off x="-4877" y="4950860"/>
              <a:ext cx="480060" cy="198120"/>
            </a:xfrm>
            <a:custGeom>
              <a:rect b="b" l="l" r="r" t="t"/>
              <a:pathLst>
                <a:path extrusionOk="0" h="198120" w="914400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4"/>
            <p:cNvSpPr/>
            <p:nvPr/>
          </p:nvSpPr>
          <p:spPr>
            <a:xfrm>
              <a:off x="522288" y="4950860"/>
              <a:ext cx="8618220" cy="198120"/>
            </a:xfrm>
            <a:custGeom>
              <a:rect b="b" l="l" r="r" t="t"/>
              <a:pathLst>
                <a:path extrusionOk="0" h="198120" w="914400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4"/>
            <p:cNvSpPr txBox="1"/>
            <p:nvPr/>
          </p:nvSpPr>
          <p:spPr>
            <a:xfrm>
              <a:off x="8194726" y="4966101"/>
              <a:ext cx="449700" cy="1677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127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1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hhu.de</a:t>
              </a:r>
              <a:endParaRPr/>
            </a:p>
          </p:txBody>
        </p:sp>
      </p:grpSp>
      <p:sp>
        <p:nvSpPr>
          <p:cNvPr id="75" name="Google Shape;75;p4"/>
          <p:cNvSpPr txBox="1"/>
          <p:nvPr>
            <p:ph type="ctrTitle"/>
          </p:nvPr>
        </p:nvSpPr>
        <p:spPr>
          <a:xfrm>
            <a:off x="526536" y="2247714"/>
            <a:ext cx="2830200" cy="1188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b="0" sz="3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"/>
          <p:cNvSpPr txBox="1"/>
          <p:nvPr>
            <p:ph idx="1" type="subTitle"/>
          </p:nvPr>
        </p:nvSpPr>
        <p:spPr>
          <a:xfrm>
            <a:off x="526536" y="3508164"/>
            <a:ext cx="28302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grpSp>
        <p:nvGrpSpPr>
          <p:cNvPr id="77" name="Google Shape;77;p4"/>
          <p:cNvGrpSpPr/>
          <p:nvPr/>
        </p:nvGrpSpPr>
        <p:grpSpPr>
          <a:xfrm>
            <a:off x="522809" y="384879"/>
            <a:ext cx="1528148" cy="582679"/>
            <a:chOff x="695325" y="516229"/>
            <a:chExt cx="2555004" cy="974217"/>
          </a:xfrm>
        </p:grpSpPr>
        <p:sp>
          <p:nvSpPr>
            <p:cNvPr id="78" name="Google Shape;78;p4"/>
            <p:cNvSpPr/>
            <p:nvPr/>
          </p:nvSpPr>
          <p:spPr>
            <a:xfrm>
              <a:off x="2979337" y="1251070"/>
              <a:ext cx="270992" cy="239376"/>
            </a:xfrm>
            <a:custGeom>
              <a:rect b="b" l="l" r="r" t="t"/>
              <a:pathLst>
                <a:path extrusionOk="0" h="239376" w="270992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4"/>
            <p:cNvSpPr/>
            <p:nvPr/>
          </p:nvSpPr>
          <p:spPr>
            <a:xfrm>
              <a:off x="2216494" y="728506"/>
              <a:ext cx="659414" cy="663930"/>
            </a:xfrm>
            <a:custGeom>
              <a:rect b="b" l="l" r="r" t="t"/>
              <a:pathLst>
                <a:path extrusionOk="0" h="663930" w="659414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4"/>
            <p:cNvSpPr/>
            <p:nvPr/>
          </p:nvSpPr>
          <p:spPr>
            <a:xfrm>
              <a:off x="695325" y="516229"/>
              <a:ext cx="659414" cy="858142"/>
            </a:xfrm>
            <a:custGeom>
              <a:rect b="b" l="l" r="r" t="t"/>
              <a:pathLst>
                <a:path extrusionOk="0" h="858142" w="659414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4"/>
            <p:cNvSpPr/>
            <p:nvPr/>
          </p:nvSpPr>
          <p:spPr>
            <a:xfrm>
              <a:off x="1458619" y="516229"/>
              <a:ext cx="659414" cy="858142"/>
            </a:xfrm>
            <a:custGeom>
              <a:rect b="b" l="l" r="r" t="t"/>
              <a:pathLst>
                <a:path extrusionOk="0" h="858142" w="659414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" name="Google Shape;82;p4"/>
          <p:cNvSpPr/>
          <p:nvPr>
            <p:ph idx="2" type="pic"/>
          </p:nvPr>
        </p:nvSpPr>
        <p:spPr>
          <a:xfrm>
            <a:off x="3537300" y="1087675"/>
            <a:ext cx="5606700" cy="3857400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4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26000" wrap="square" tIns="54000">
            <a:noAutofit/>
          </a:bodyPr>
          <a:lstStyle>
            <a:lvl1pPr lvl="0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1pPr>
            <a:lvl2pPr lvl="1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2pPr>
            <a:lvl3pPr lvl="2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3pPr>
            <a:lvl4pPr lvl="3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4pPr>
            <a:lvl5pPr lvl="4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5pPr>
            <a:lvl6pPr lvl="5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6pPr>
            <a:lvl7pPr lvl="6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7pPr>
            <a:lvl8pPr lvl="7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8pPr>
            <a:lvl9pPr lvl="8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4" name="Google Shape;84;p4"/>
          <p:cNvSpPr txBox="1"/>
          <p:nvPr/>
        </p:nvSpPr>
        <p:spPr>
          <a:xfrm>
            <a:off x="521550" y="4880675"/>
            <a:ext cx="3978600" cy="5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000">
                <a:solidFill>
                  <a:schemeClr val="lt1"/>
                </a:solidFill>
              </a:rPr>
              <a:t>Data Science, Sommersemester 2026, vldatascience</a:t>
            </a:r>
            <a:r>
              <a:rPr b="1" lang="en-GB" sz="1000">
                <a:solidFill>
                  <a:srgbClr val="F3F3F3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@hhu.de</a:t>
            </a:r>
            <a:endParaRPr b="1"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folie mit zwei Bildern" showMasterSp="0">
  <p:cSld name="Titelfolie mit zwei Bildern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5"/>
          <p:cNvGrpSpPr/>
          <p:nvPr/>
        </p:nvGrpSpPr>
        <p:grpSpPr>
          <a:xfrm>
            <a:off x="-4877" y="4944919"/>
            <a:ext cx="9145385" cy="197882"/>
            <a:chOff x="-4877" y="4950860"/>
            <a:chExt cx="9145385" cy="198120"/>
          </a:xfrm>
        </p:grpSpPr>
        <p:sp>
          <p:nvSpPr>
            <p:cNvPr id="87" name="Google Shape;87;p5"/>
            <p:cNvSpPr/>
            <p:nvPr/>
          </p:nvSpPr>
          <p:spPr>
            <a:xfrm>
              <a:off x="-4877" y="4950860"/>
              <a:ext cx="480060" cy="198120"/>
            </a:xfrm>
            <a:custGeom>
              <a:rect b="b" l="l" r="r" t="t"/>
              <a:pathLst>
                <a:path extrusionOk="0" h="198120" w="914400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5"/>
            <p:cNvSpPr/>
            <p:nvPr/>
          </p:nvSpPr>
          <p:spPr>
            <a:xfrm>
              <a:off x="522288" y="4950860"/>
              <a:ext cx="8618220" cy="198120"/>
            </a:xfrm>
            <a:custGeom>
              <a:rect b="b" l="l" r="r" t="t"/>
              <a:pathLst>
                <a:path extrusionOk="0" h="198120" w="914400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5"/>
            <p:cNvSpPr txBox="1"/>
            <p:nvPr/>
          </p:nvSpPr>
          <p:spPr>
            <a:xfrm>
              <a:off x="8194726" y="4966101"/>
              <a:ext cx="449700" cy="1677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127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1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hhu.de</a:t>
              </a:r>
              <a:endParaRPr/>
            </a:p>
          </p:txBody>
        </p:sp>
      </p:grpSp>
      <p:sp>
        <p:nvSpPr>
          <p:cNvPr id="90" name="Google Shape;90;p5"/>
          <p:cNvSpPr txBox="1"/>
          <p:nvPr>
            <p:ph idx="10" type="dt"/>
          </p:nvPr>
        </p:nvSpPr>
        <p:spPr>
          <a:xfrm>
            <a:off x="6565050" y="4454906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35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1" name="Google Shape;91;p5"/>
          <p:cNvSpPr txBox="1"/>
          <p:nvPr>
            <p:ph type="ctrTitle"/>
          </p:nvPr>
        </p:nvSpPr>
        <p:spPr>
          <a:xfrm>
            <a:off x="526536" y="3813888"/>
            <a:ext cx="5773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b="0" sz="3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5"/>
          <p:cNvSpPr txBox="1"/>
          <p:nvPr>
            <p:ph idx="1" type="subTitle"/>
          </p:nvPr>
        </p:nvSpPr>
        <p:spPr>
          <a:xfrm>
            <a:off x="526536" y="4453269"/>
            <a:ext cx="5773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grpSp>
        <p:nvGrpSpPr>
          <p:cNvPr id="93" name="Google Shape;93;p5"/>
          <p:cNvGrpSpPr/>
          <p:nvPr/>
        </p:nvGrpSpPr>
        <p:grpSpPr>
          <a:xfrm>
            <a:off x="522809" y="384879"/>
            <a:ext cx="1528148" cy="582679"/>
            <a:chOff x="695325" y="516229"/>
            <a:chExt cx="2555004" cy="974217"/>
          </a:xfrm>
        </p:grpSpPr>
        <p:sp>
          <p:nvSpPr>
            <p:cNvPr id="94" name="Google Shape;94;p5"/>
            <p:cNvSpPr/>
            <p:nvPr/>
          </p:nvSpPr>
          <p:spPr>
            <a:xfrm>
              <a:off x="2979337" y="1251070"/>
              <a:ext cx="270992" cy="239376"/>
            </a:xfrm>
            <a:custGeom>
              <a:rect b="b" l="l" r="r" t="t"/>
              <a:pathLst>
                <a:path extrusionOk="0" h="239376" w="270992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5"/>
            <p:cNvSpPr/>
            <p:nvPr/>
          </p:nvSpPr>
          <p:spPr>
            <a:xfrm>
              <a:off x="2216494" y="728506"/>
              <a:ext cx="659414" cy="663930"/>
            </a:xfrm>
            <a:custGeom>
              <a:rect b="b" l="l" r="r" t="t"/>
              <a:pathLst>
                <a:path extrusionOk="0" h="663930" w="659414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5"/>
            <p:cNvSpPr/>
            <p:nvPr/>
          </p:nvSpPr>
          <p:spPr>
            <a:xfrm>
              <a:off x="695325" y="516229"/>
              <a:ext cx="659414" cy="858142"/>
            </a:xfrm>
            <a:custGeom>
              <a:rect b="b" l="l" r="r" t="t"/>
              <a:pathLst>
                <a:path extrusionOk="0" h="858142" w="659414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5"/>
            <p:cNvSpPr/>
            <p:nvPr/>
          </p:nvSpPr>
          <p:spPr>
            <a:xfrm>
              <a:off x="1458619" y="516229"/>
              <a:ext cx="659414" cy="858142"/>
            </a:xfrm>
            <a:custGeom>
              <a:rect b="b" l="l" r="r" t="t"/>
              <a:pathLst>
                <a:path extrusionOk="0" h="858142" w="659414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" name="Google Shape;98;p5"/>
          <p:cNvSpPr txBox="1"/>
          <p:nvPr>
            <p:ph idx="2" type="body"/>
          </p:nvPr>
        </p:nvSpPr>
        <p:spPr>
          <a:xfrm>
            <a:off x="0" y="1420645"/>
            <a:ext cx="6678300" cy="2393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5400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99" name="Google Shape;99;p5"/>
          <p:cNvSpPr txBox="1"/>
          <p:nvPr>
            <p:ph idx="3" type="body"/>
          </p:nvPr>
        </p:nvSpPr>
        <p:spPr>
          <a:xfrm>
            <a:off x="6740999" y="1420646"/>
            <a:ext cx="2403000" cy="2393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5400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00" name="Google Shape;100;p5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26000" wrap="square" tIns="54000">
            <a:noAutofit/>
          </a:bodyPr>
          <a:lstStyle>
            <a:lvl1pPr lvl="0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1pPr>
            <a:lvl2pPr lvl="1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2pPr>
            <a:lvl3pPr lvl="2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3pPr>
            <a:lvl4pPr lvl="3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4pPr>
            <a:lvl5pPr lvl="4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5pPr>
            <a:lvl6pPr lvl="5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6pPr>
            <a:lvl7pPr lvl="6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7pPr>
            <a:lvl8pPr lvl="7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8pPr>
            <a:lvl9pPr lvl="8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1" name="Google Shape;101;p5"/>
          <p:cNvSpPr txBox="1"/>
          <p:nvPr/>
        </p:nvSpPr>
        <p:spPr>
          <a:xfrm>
            <a:off x="521550" y="4880675"/>
            <a:ext cx="3978600" cy="5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000">
                <a:solidFill>
                  <a:schemeClr val="lt1"/>
                </a:solidFill>
              </a:rPr>
              <a:t>Data Science, Sommersemester 2026, vldatascience</a:t>
            </a:r>
            <a:r>
              <a:rPr b="1" lang="en-GB" sz="1000">
                <a:solidFill>
                  <a:srgbClr val="F3F3F3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@hhu.de</a:t>
            </a:r>
            <a:endParaRPr b="1"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haltsverzeichnis ">
  <p:cSld name="Inhaltsverzeichnis 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"/>
          <p:cNvSpPr txBox="1"/>
          <p:nvPr>
            <p:ph type="title"/>
          </p:nvPr>
        </p:nvSpPr>
        <p:spPr>
          <a:xfrm>
            <a:off x="526594" y="330502"/>
            <a:ext cx="68268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" type="body"/>
          </p:nvPr>
        </p:nvSpPr>
        <p:spPr>
          <a:xfrm>
            <a:off x="5488102" y="1420646"/>
            <a:ext cx="3655800" cy="348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5400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05" name="Google Shape;105;p6"/>
          <p:cNvSpPr txBox="1"/>
          <p:nvPr>
            <p:ph idx="2" type="body"/>
          </p:nvPr>
        </p:nvSpPr>
        <p:spPr>
          <a:xfrm>
            <a:off x="521550" y="1420645"/>
            <a:ext cx="4586400" cy="3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Autofit/>
          </a:bodyPr>
          <a:lstStyle>
            <a:lvl1pPr indent="-3302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Arial"/>
              <a:buAutoNum type="arabicPeriod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06" name="Google Shape;106;p6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26000" wrap="square" tIns="54000">
            <a:noAutofit/>
          </a:bodyPr>
          <a:lstStyle>
            <a:lvl1pPr lvl="0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1pPr>
            <a:lvl2pPr lvl="1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2pPr>
            <a:lvl3pPr lvl="2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3pPr>
            <a:lvl4pPr lvl="3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4pPr>
            <a:lvl5pPr lvl="4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5pPr>
            <a:lvl6pPr lvl="5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6pPr>
            <a:lvl7pPr lvl="6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7pPr>
            <a:lvl8pPr lvl="7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8pPr>
            <a:lvl9pPr lvl="8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22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+ Inhalt">
  <p:cSld name="Titel + Inhal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"/>
          <p:cNvSpPr txBox="1"/>
          <p:nvPr>
            <p:ph type="title"/>
          </p:nvPr>
        </p:nvSpPr>
        <p:spPr>
          <a:xfrm>
            <a:off x="526594" y="330502"/>
            <a:ext cx="68268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7"/>
          <p:cNvSpPr txBox="1"/>
          <p:nvPr>
            <p:ph idx="1" type="body"/>
          </p:nvPr>
        </p:nvSpPr>
        <p:spPr>
          <a:xfrm>
            <a:off x="521550" y="1420645"/>
            <a:ext cx="8096400" cy="3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26000" wrap="square" tIns="54000">
            <a:noAutofit/>
          </a:bodyPr>
          <a:lstStyle>
            <a:lvl1pPr lvl="0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1pPr>
            <a:lvl2pPr lvl="1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2pPr>
            <a:lvl3pPr lvl="2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3pPr>
            <a:lvl4pPr lvl="3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4pPr>
            <a:lvl5pPr lvl="4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5pPr>
            <a:lvl6pPr lvl="5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6pPr>
            <a:lvl7pPr lvl="6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7pPr>
            <a:lvl8pPr lvl="7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8pPr>
            <a:lvl9pPr lvl="8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halt + Untertitel">
  <p:cSld name="Inhalt + Untertitel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"/>
          <p:cNvSpPr txBox="1"/>
          <p:nvPr>
            <p:ph type="title"/>
          </p:nvPr>
        </p:nvSpPr>
        <p:spPr>
          <a:xfrm>
            <a:off x="526594" y="330502"/>
            <a:ext cx="68268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8"/>
          <p:cNvSpPr txBox="1"/>
          <p:nvPr>
            <p:ph idx="1" type="body"/>
          </p:nvPr>
        </p:nvSpPr>
        <p:spPr>
          <a:xfrm>
            <a:off x="521550" y="1420645"/>
            <a:ext cx="8100900" cy="3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14" name="Google Shape;114;p8"/>
          <p:cNvSpPr txBox="1"/>
          <p:nvPr>
            <p:ph idx="2" type="body"/>
          </p:nvPr>
        </p:nvSpPr>
        <p:spPr>
          <a:xfrm>
            <a:off x="521494" y="1087042"/>
            <a:ext cx="81009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0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15" name="Google Shape;115;p8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26000" wrap="square" tIns="54000">
            <a:noAutofit/>
          </a:bodyPr>
          <a:lstStyle>
            <a:lvl1pPr lvl="0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1pPr>
            <a:lvl2pPr lvl="1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2pPr>
            <a:lvl3pPr lvl="2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3pPr>
            <a:lvl4pPr lvl="3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4pPr>
            <a:lvl5pPr lvl="4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5pPr>
            <a:lvl6pPr lvl="5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6pPr>
            <a:lvl7pPr lvl="6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7pPr>
            <a:lvl8pPr lvl="7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8pPr>
            <a:lvl9pPr lvl="8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halt + Untertitel, grosser Text">
  <p:cSld name="Inhalt + Untertitel, grosser 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9"/>
          <p:cNvSpPr txBox="1"/>
          <p:nvPr>
            <p:ph type="title"/>
          </p:nvPr>
        </p:nvSpPr>
        <p:spPr>
          <a:xfrm>
            <a:off x="526594" y="330502"/>
            <a:ext cx="68268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9"/>
          <p:cNvSpPr txBox="1"/>
          <p:nvPr>
            <p:ph idx="1" type="body"/>
          </p:nvPr>
        </p:nvSpPr>
        <p:spPr>
          <a:xfrm>
            <a:off x="521550" y="1543846"/>
            <a:ext cx="8100900" cy="3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Autofit/>
          </a:bodyPr>
          <a:lstStyle>
            <a:lvl1pPr indent="-355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◼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◼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◼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◼"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19" name="Google Shape;119;p9"/>
          <p:cNvSpPr txBox="1"/>
          <p:nvPr>
            <p:ph idx="2" type="body"/>
          </p:nvPr>
        </p:nvSpPr>
        <p:spPr>
          <a:xfrm>
            <a:off x="521494" y="1087042"/>
            <a:ext cx="81009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20" name="Google Shape;120;p9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26000" wrap="square" tIns="54000">
            <a:noAutofit/>
          </a:bodyPr>
          <a:lstStyle>
            <a:lvl1pPr lvl="0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1pPr>
            <a:lvl2pPr lvl="1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2pPr>
            <a:lvl3pPr lvl="2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3pPr>
            <a:lvl4pPr lvl="3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4pPr>
            <a:lvl5pPr lvl="4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5pPr>
            <a:lvl6pPr lvl="5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6pPr>
            <a:lvl7pPr lvl="6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7pPr>
            <a:lvl8pPr lvl="7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8pPr>
            <a:lvl9pPr lvl="8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ei Inhalte">
  <p:cSld name="Zwei Inhalte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0"/>
          <p:cNvSpPr txBox="1"/>
          <p:nvPr>
            <p:ph type="title"/>
          </p:nvPr>
        </p:nvSpPr>
        <p:spPr>
          <a:xfrm>
            <a:off x="526594" y="330502"/>
            <a:ext cx="68268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0"/>
          <p:cNvSpPr txBox="1"/>
          <p:nvPr>
            <p:ph idx="1" type="body"/>
          </p:nvPr>
        </p:nvSpPr>
        <p:spPr>
          <a:xfrm>
            <a:off x="521550" y="1420645"/>
            <a:ext cx="3941700" cy="3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24" name="Google Shape;124;p10"/>
          <p:cNvSpPr txBox="1"/>
          <p:nvPr>
            <p:ph idx="2" type="body"/>
          </p:nvPr>
        </p:nvSpPr>
        <p:spPr>
          <a:xfrm>
            <a:off x="4679950" y="1420646"/>
            <a:ext cx="3943200" cy="3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25" name="Google Shape;125;p10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26000" wrap="square" tIns="54000">
            <a:noAutofit/>
          </a:bodyPr>
          <a:lstStyle>
            <a:lvl1pPr lvl="0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1pPr>
            <a:lvl2pPr lvl="1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2pPr>
            <a:lvl3pPr lvl="2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3pPr>
            <a:lvl4pPr lvl="3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4pPr>
            <a:lvl5pPr lvl="4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5pPr>
            <a:lvl6pPr lvl="5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6pPr>
            <a:lvl7pPr lvl="6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7pPr>
            <a:lvl8pPr lvl="7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8pPr>
            <a:lvl9pPr lvl="8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812">
          <p15:clr>
            <a:srgbClr val="FBAE40"/>
          </p15:clr>
        </p15:guide>
        <p15:guide id="2" pos="294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ei Inhalte + Untertitel">
  <p:cSld name="Zwei Inhalte + Untertitel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1"/>
          <p:cNvSpPr txBox="1"/>
          <p:nvPr>
            <p:ph type="title"/>
          </p:nvPr>
        </p:nvSpPr>
        <p:spPr>
          <a:xfrm>
            <a:off x="526594" y="330502"/>
            <a:ext cx="68268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1"/>
          <p:cNvSpPr txBox="1"/>
          <p:nvPr>
            <p:ph idx="1" type="body"/>
          </p:nvPr>
        </p:nvSpPr>
        <p:spPr>
          <a:xfrm>
            <a:off x="521550" y="1420645"/>
            <a:ext cx="3941700" cy="3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29" name="Google Shape;129;p11"/>
          <p:cNvSpPr txBox="1"/>
          <p:nvPr>
            <p:ph idx="2" type="body"/>
          </p:nvPr>
        </p:nvSpPr>
        <p:spPr>
          <a:xfrm>
            <a:off x="4679950" y="1420646"/>
            <a:ext cx="3936900" cy="3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30" name="Google Shape;130;p11"/>
          <p:cNvSpPr txBox="1"/>
          <p:nvPr>
            <p:ph idx="3" type="body"/>
          </p:nvPr>
        </p:nvSpPr>
        <p:spPr>
          <a:xfrm>
            <a:off x="521495" y="1087042"/>
            <a:ext cx="39426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0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31" name="Google Shape;131;p11"/>
          <p:cNvSpPr txBox="1"/>
          <p:nvPr>
            <p:ph idx="4" type="body"/>
          </p:nvPr>
        </p:nvSpPr>
        <p:spPr>
          <a:xfrm>
            <a:off x="4680744" y="1087042"/>
            <a:ext cx="39426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0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32" name="Google Shape;132;p11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26000" wrap="square" tIns="54000">
            <a:noAutofit/>
          </a:bodyPr>
          <a:lstStyle>
            <a:lvl1pPr lvl="0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1pPr>
            <a:lvl2pPr lvl="1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2pPr>
            <a:lvl3pPr lvl="2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3pPr>
            <a:lvl4pPr lvl="3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4pPr>
            <a:lvl5pPr lvl="4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5pPr>
            <a:lvl6pPr lvl="5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6pPr>
            <a:lvl7pPr lvl="6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7pPr>
            <a:lvl8pPr lvl="7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8pPr>
            <a:lvl9pPr lvl="8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812">
          <p15:clr>
            <a:srgbClr val="FBAE40"/>
          </p15:clr>
        </p15:guide>
        <p15:guide id="2" pos="294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gramnme">
  <p:cSld name="Diagramnme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2"/>
          <p:cNvSpPr txBox="1"/>
          <p:nvPr>
            <p:ph type="title"/>
          </p:nvPr>
        </p:nvSpPr>
        <p:spPr>
          <a:xfrm>
            <a:off x="526594" y="330502"/>
            <a:ext cx="68268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2"/>
          <p:cNvSpPr txBox="1"/>
          <p:nvPr>
            <p:ph idx="1" type="body"/>
          </p:nvPr>
        </p:nvSpPr>
        <p:spPr>
          <a:xfrm>
            <a:off x="522288" y="1420646"/>
            <a:ext cx="8100300" cy="348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5400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◼"/>
              <a:defRPr/>
            </a:lvl2pPr>
            <a:lvl3pPr indent="-3048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◼"/>
              <a:defRPr/>
            </a:lvl3pPr>
            <a:lvl4pPr indent="-3048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◼"/>
              <a:defRPr/>
            </a:lvl4pPr>
            <a:lvl5pPr indent="-3048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◼"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36" name="Google Shape;136;p12"/>
          <p:cNvSpPr txBox="1"/>
          <p:nvPr>
            <p:ph idx="2" type="body"/>
          </p:nvPr>
        </p:nvSpPr>
        <p:spPr>
          <a:xfrm>
            <a:off x="521494" y="1087042"/>
            <a:ext cx="81009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0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37" name="Google Shape;137;p12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26000" wrap="square" tIns="54000">
            <a:noAutofit/>
          </a:bodyPr>
          <a:lstStyle>
            <a:lvl1pPr lvl="0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1pPr>
            <a:lvl2pPr lvl="1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2pPr>
            <a:lvl3pPr lvl="2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3pPr>
            <a:lvl4pPr lvl="3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4pPr>
            <a:lvl5pPr lvl="4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5pPr>
            <a:lvl6pPr lvl="5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6pPr>
            <a:lvl7pPr lvl="6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7pPr>
            <a:lvl8pPr lvl="7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8pPr>
            <a:lvl9pPr lvl="8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74">
          <p15:clr>
            <a:srgbClr val="FBAE40"/>
          </p15:clr>
        </p15:guide>
        <p15:guide id="2" pos="3799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ellen 1">
  <p:cSld name="Tabellen 1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3"/>
          <p:cNvSpPr txBox="1"/>
          <p:nvPr>
            <p:ph type="title"/>
          </p:nvPr>
        </p:nvSpPr>
        <p:spPr>
          <a:xfrm>
            <a:off x="526594" y="330502"/>
            <a:ext cx="68268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13"/>
          <p:cNvSpPr txBox="1"/>
          <p:nvPr>
            <p:ph idx="1" type="body"/>
          </p:nvPr>
        </p:nvSpPr>
        <p:spPr>
          <a:xfrm>
            <a:off x="6030913" y="1420646"/>
            <a:ext cx="2590800" cy="3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41" name="Google Shape;141;p13"/>
          <p:cNvSpPr txBox="1"/>
          <p:nvPr>
            <p:ph idx="2" type="body"/>
          </p:nvPr>
        </p:nvSpPr>
        <p:spPr>
          <a:xfrm>
            <a:off x="522288" y="1420646"/>
            <a:ext cx="5310300" cy="348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5400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◼"/>
              <a:defRPr/>
            </a:lvl2pPr>
            <a:lvl3pPr indent="-3048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◼"/>
              <a:defRPr/>
            </a:lvl3pPr>
            <a:lvl4pPr indent="-3048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◼"/>
              <a:defRPr/>
            </a:lvl4pPr>
            <a:lvl5pPr indent="-3048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◼"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42" name="Google Shape;142;p13"/>
          <p:cNvSpPr txBox="1"/>
          <p:nvPr>
            <p:ph idx="3" type="body"/>
          </p:nvPr>
        </p:nvSpPr>
        <p:spPr>
          <a:xfrm>
            <a:off x="521494" y="1087042"/>
            <a:ext cx="81009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0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43" name="Google Shape;143;p13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26000" wrap="square" tIns="54000">
            <a:noAutofit/>
          </a:bodyPr>
          <a:lstStyle>
            <a:lvl1pPr lvl="0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1pPr>
            <a:lvl2pPr lvl="1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2pPr>
            <a:lvl3pPr lvl="2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3pPr>
            <a:lvl4pPr lvl="3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4pPr>
            <a:lvl5pPr lvl="4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5pPr>
            <a:lvl6pPr lvl="5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6pPr>
            <a:lvl7pPr lvl="6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7pPr>
            <a:lvl8pPr lvl="7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8pPr>
            <a:lvl9pPr lvl="8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74">
          <p15:clr>
            <a:srgbClr val="FBAE40"/>
          </p15:clr>
        </p15:guide>
        <p15:guide id="2" pos="379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ellen 2">
  <p:cSld name="Tabellen 2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4"/>
          <p:cNvSpPr txBox="1"/>
          <p:nvPr>
            <p:ph type="title"/>
          </p:nvPr>
        </p:nvSpPr>
        <p:spPr>
          <a:xfrm>
            <a:off x="526594" y="330502"/>
            <a:ext cx="68268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14"/>
          <p:cNvSpPr txBox="1"/>
          <p:nvPr>
            <p:ph idx="1" type="body"/>
          </p:nvPr>
        </p:nvSpPr>
        <p:spPr>
          <a:xfrm>
            <a:off x="521550" y="1420645"/>
            <a:ext cx="2590800" cy="3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47" name="Google Shape;147;p14"/>
          <p:cNvSpPr txBox="1"/>
          <p:nvPr>
            <p:ph idx="2" type="body"/>
          </p:nvPr>
        </p:nvSpPr>
        <p:spPr>
          <a:xfrm>
            <a:off x="3311525" y="1420646"/>
            <a:ext cx="5310300" cy="348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5400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◼"/>
              <a:defRPr/>
            </a:lvl2pPr>
            <a:lvl3pPr indent="-3048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◼"/>
              <a:defRPr/>
            </a:lvl3pPr>
            <a:lvl4pPr indent="-3048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◼"/>
              <a:defRPr/>
            </a:lvl4pPr>
            <a:lvl5pPr indent="-3048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◼"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48" name="Google Shape;148;p14"/>
          <p:cNvSpPr txBox="1"/>
          <p:nvPr>
            <p:ph idx="3" type="body"/>
          </p:nvPr>
        </p:nvSpPr>
        <p:spPr>
          <a:xfrm>
            <a:off x="521494" y="1087042"/>
            <a:ext cx="81009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0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49" name="Google Shape;149;p14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26000" wrap="square" tIns="54000">
            <a:noAutofit/>
          </a:bodyPr>
          <a:lstStyle>
            <a:lvl1pPr lvl="0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1pPr>
            <a:lvl2pPr lvl="1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2pPr>
            <a:lvl3pPr lvl="2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3pPr>
            <a:lvl4pPr lvl="3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4pPr>
            <a:lvl5pPr lvl="4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5pPr>
            <a:lvl6pPr lvl="5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6pPr>
            <a:lvl7pPr lvl="6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7pPr>
            <a:lvl8pPr lvl="7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8pPr>
            <a:lvl9pPr lvl="8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1961">
          <p15:clr>
            <a:srgbClr val="FBAE40"/>
          </p15:clr>
        </p15:guide>
        <p15:guide id="2" pos="208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er Inhalte">
  <p:cSld name="Vier Inhalte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"/>
          <p:cNvSpPr txBox="1"/>
          <p:nvPr>
            <p:ph type="title"/>
          </p:nvPr>
        </p:nvSpPr>
        <p:spPr>
          <a:xfrm>
            <a:off x="526594" y="330502"/>
            <a:ext cx="68268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15"/>
          <p:cNvSpPr txBox="1"/>
          <p:nvPr>
            <p:ph idx="1" type="body"/>
          </p:nvPr>
        </p:nvSpPr>
        <p:spPr>
          <a:xfrm>
            <a:off x="522288" y="1420646"/>
            <a:ext cx="3941700" cy="16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53" name="Google Shape;153;p15"/>
          <p:cNvSpPr txBox="1"/>
          <p:nvPr>
            <p:ph idx="2" type="body"/>
          </p:nvPr>
        </p:nvSpPr>
        <p:spPr>
          <a:xfrm>
            <a:off x="4679950" y="1420646"/>
            <a:ext cx="3941700" cy="16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54" name="Google Shape;154;p15"/>
          <p:cNvSpPr txBox="1"/>
          <p:nvPr>
            <p:ph idx="3" type="body"/>
          </p:nvPr>
        </p:nvSpPr>
        <p:spPr>
          <a:xfrm>
            <a:off x="522288" y="3183769"/>
            <a:ext cx="3941700" cy="16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55" name="Google Shape;155;p15"/>
          <p:cNvSpPr txBox="1"/>
          <p:nvPr>
            <p:ph idx="4" type="body"/>
          </p:nvPr>
        </p:nvSpPr>
        <p:spPr>
          <a:xfrm>
            <a:off x="4679950" y="3183770"/>
            <a:ext cx="3943200" cy="16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56" name="Google Shape;156;p15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26000" wrap="square" tIns="54000">
            <a:noAutofit/>
          </a:bodyPr>
          <a:lstStyle>
            <a:lvl1pPr lvl="0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1pPr>
            <a:lvl2pPr lvl="1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2pPr>
            <a:lvl3pPr lvl="2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3pPr>
            <a:lvl4pPr lvl="3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4pPr>
            <a:lvl5pPr lvl="4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5pPr>
            <a:lvl6pPr lvl="5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6pPr>
            <a:lvl7pPr lvl="6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7pPr>
            <a:lvl8pPr lvl="7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8pPr>
            <a:lvl9pPr lvl="8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812">
          <p15:clr>
            <a:srgbClr val="FBAE40"/>
          </p15:clr>
        </p15:guide>
        <p15:guide id="2" pos="2948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el Text">
  <p:cSld name="Viel Text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6"/>
          <p:cNvSpPr txBox="1"/>
          <p:nvPr>
            <p:ph type="title"/>
          </p:nvPr>
        </p:nvSpPr>
        <p:spPr>
          <a:xfrm>
            <a:off x="526594" y="330502"/>
            <a:ext cx="68268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16"/>
          <p:cNvSpPr txBox="1"/>
          <p:nvPr>
            <p:ph idx="1" type="body"/>
          </p:nvPr>
        </p:nvSpPr>
        <p:spPr>
          <a:xfrm>
            <a:off x="522288" y="1420646"/>
            <a:ext cx="3941700" cy="3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60" name="Google Shape;160;p16"/>
          <p:cNvSpPr txBox="1"/>
          <p:nvPr>
            <p:ph idx="2" type="body"/>
          </p:nvPr>
        </p:nvSpPr>
        <p:spPr>
          <a:xfrm>
            <a:off x="4679950" y="1420646"/>
            <a:ext cx="3943200" cy="3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61" name="Google Shape;161;p16"/>
          <p:cNvSpPr txBox="1"/>
          <p:nvPr>
            <p:ph idx="3" type="body"/>
          </p:nvPr>
        </p:nvSpPr>
        <p:spPr>
          <a:xfrm>
            <a:off x="521494" y="1087042"/>
            <a:ext cx="81009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0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62" name="Google Shape;162;p16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26000" wrap="square" tIns="54000">
            <a:noAutofit/>
          </a:bodyPr>
          <a:lstStyle>
            <a:lvl1pPr lvl="0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1pPr>
            <a:lvl2pPr lvl="1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2pPr>
            <a:lvl3pPr lvl="2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3pPr>
            <a:lvl4pPr lvl="3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4pPr>
            <a:lvl5pPr lvl="4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5pPr>
            <a:lvl6pPr lvl="5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6pPr>
            <a:lvl7pPr lvl="6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7pPr>
            <a:lvl8pPr lvl="7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8pPr>
            <a:lvl9pPr lvl="8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812">
          <p15:clr>
            <a:srgbClr val="FBAE40"/>
          </p15:clr>
        </p15:guide>
        <p15:guide id="2" pos="2948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halt + Kopf" showMasterSp="0">
  <p:cSld name="Inhalt + Kopf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17"/>
          <p:cNvGrpSpPr/>
          <p:nvPr/>
        </p:nvGrpSpPr>
        <p:grpSpPr>
          <a:xfrm>
            <a:off x="-4877" y="4944919"/>
            <a:ext cx="9145385" cy="197882"/>
            <a:chOff x="-4877" y="4950860"/>
            <a:chExt cx="9145385" cy="198120"/>
          </a:xfrm>
        </p:grpSpPr>
        <p:sp>
          <p:nvSpPr>
            <p:cNvPr id="165" name="Google Shape;165;p17"/>
            <p:cNvSpPr/>
            <p:nvPr/>
          </p:nvSpPr>
          <p:spPr>
            <a:xfrm>
              <a:off x="-4877" y="4950860"/>
              <a:ext cx="480060" cy="198120"/>
            </a:xfrm>
            <a:custGeom>
              <a:rect b="b" l="l" r="r" t="t"/>
              <a:pathLst>
                <a:path extrusionOk="0" h="198120" w="914400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17"/>
            <p:cNvSpPr/>
            <p:nvPr/>
          </p:nvSpPr>
          <p:spPr>
            <a:xfrm>
              <a:off x="522288" y="4950860"/>
              <a:ext cx="8618220" cy="198120"/>
            </a:xfrm>
            <a:custGeom>
              <a:rect b="b" l="l" r="r" t="t"/>
              <a:pathLst>
                <a:path extrusionOk="0" h="198120" w="914400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17"/>
            <p:cNvSpPr txBox="1"/>
            <p:nvPr/>
          </p:nvSpPr>
          <p:spPr>
            <a:xfrm>
              <a:off x="8194726" y="4966101"/>
              <a:ext cx="449700" cy="16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127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1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hhu.de</a:t>
              </a:r>
              <a:endParaRPr/>
            </a:p>
          </p:txBody>
        </p:sp>
      </p:grpSp>
      <p:grpSp>
        <p:nvGrpSpPr>
          <p:cNvPr id="168" name="Google Shape;168;p17"/>
          <p:cNvGrpSpPr/>
          <p:nvPr/>
        </p:nvGrpSpPr>
        <p:grpSpPr>
          <a:xfrm>
            <a:off x="7741433" y="393808"/>
            <a:ext cx="1050054" cy="620354"/>
            <a:chOff x="10321916" y="525077"/>
            <a:chExt cx="1400072" cy="827139"/>
          </a:xfrm>
        </p:grpSpPr>
        <p:grpSp>
          <p:nvGrpSpPr>
            <p:cNvPr id="169" name="Google Shape;169;p17"/>
            <p:cNvGrpSpPr/>
            <p:nvPr/>
          </p:nvGrpSpPr>
          <p:grpSpPr>
            <a:xfrm>
              <a:off x="10321916" y="525077"/>
              <a:ext cx="1179694" cy="575590"/>
              <a:chOff x="10321916" y="525077"/>
              <a:chExt cx="1179694" cy="575590"/>
            </a:xfrm>
          </p:grpSpPr>
          <p:sp>
            <p:nvSpPr>
              <p:cNvPr id="170" name="Google Shape;170;p17"/>
              <p:cNvSpPr/>
              <p:nvPr/>
            </p:nvSpPr>
            <p:spPr>
              <a:xfrm>
                <a:off x="11143981" y="639857"/>
                <a:ext cx="357629" cy="357629"/>
              </a:xfrm>
              <a:custGeom>
                <a:rect b="b" l="l" r="r" t="t"/>
                <a:pathLst>
                  <a:path extrusionOk="0" h="357629" w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17"/>
              <p:cNvSpPr/>
              <p:nvPr/>
            </p:nvSpPr>
            <p:spPr>
              <a:xfrm>
                <a:off x="10321916" y="525077"/>
                <a:ext cx="357629" cy="463952"/>
              </a:xfrm>
              <a:custGeom>
                <a:rect b="b" l="l" r="r" t="t"/>
                <a:pathLst>
                  <a:path extrusionOk="0" h="463952" w="357629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17"/>
              <p:cNvSpPr/>
              <p:nvPr/>
            </p:nvSpPr>
            <p:spPr>
              <a:xfrm>
                <a:off x="10734399" y="525077"/>
                <a:ext cx="357629" cy="463952"/>
              </a:xfrm>
              <a:custGeom>
                <a:rect b="b" l="l" r="r" t="t"/>
                <a:pathLst>
                  <a:path extrusionOk="0" h="463952" w="357629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17"/>
              <p:cNvSpPr/>
              <p:nvPr/>
            </p:nvSpPr>
            <p:spPr>
              <a:xfrm>
                <a:off x="10464001" y="1088585"/>
                <a:ext cx="12082" cy="12082"/>
              </a:xfrm>
              <a:custGeom>
                <a:rect b="b" l="l" r="r" t="t"/>
                <a:pathLst>
                  <a:path extrusionOk="0" h="12082" w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17"/>
              <p:cNvSpPr/>
              <p:nvPr/>
            </p:nvSpPr>
            <p:spPr>
              <a:xfrm>
                <a:off x="10610678" y="1088585"/>
                <a:ext cx="12082" cy="12082"/>
              </a:xfrm>
              <a:custGeom>
                <a:rect b="b" l="l" r="r" t="t"/>
                <a:pathLst>
                  <a:path extrusionOk="0" h="12082" w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17"/>
              <p:cNvSpPr/>
              <p:nvPr/>
            </p:nvSpPr>
            <p:spPr>
              <a:xfrm>
                <a:off x="10949701" y="1088585"/>
                <a:ext cx="12082" cy="12082"/>
              </a:xfrm>
              <a:custGeom>
                <a:rect b="b" l="l" r="r" t="t"/>
                <a:pathLst>
                  <a:path extrusionOk="0" h="12082" w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6" name="Google Shape;176;p17"/>
            <p:cNvSpPr/>
            <p:nvPr/>
          </p:nvSpPr>
          <p:spPr>
            <a:xfrm>
              <a:off x="10322158" y="1089069"/>
              <a:ext cx="57994" cy="77325"/>
            </a:xfrm>
            <a:custGeom>
              <a:rect b="b" l="l" r="r" t="t"/>
              <a:pathLst>
                <a:path extrusionOk="0" h="77325" w="57994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17"/>
            <p:cNvSpPr/>
            <p:nvPr/>
          </p:nvSpPr>
          <p:spPr>
            <a:xfrm>
              <a:off x="10399483" y="1110575"/>
              <a:ext cx="48328" cy="57994"/>
            </a:xfrm>
            <a:custGeom>
              <a:rect b="b" l="l" r="r" t="t"/>
              <a:pathLst>
                <a:path extrusionOk="0" h="57994" w="48328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7"/>
            <p:cNvSpPr/>
            <p:nvPr/>
          </p:nvSpPr>
          <p:spPr>
            <a:xfrm>
              <a:off x="10465451" y="1112266"/>
              <a:ext cx="9665" cy="53161"/>
            </a:xfrm>
            <a:custGeom>
              <a:rect b="b" l="l" r="r" t="t"/>
              <a:pathLst>
                <a:path extrusionOk="0" h="53161" w="9665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9" name="Google Shape;179;p17"/>
            <p:cNvGrpSpPr/>
            <p:nvPr/>
          </p:nvGrpSpPr>
          <p:grpSpPr>
            <a:xfrm>
              <a:off x="10496140" y="1110575"/>
              <a:ext cx="100522" cy="55818"/>
              <a:chOff x="10496140" y="1110575"/>
              <a:chExt cx="100522" cy="55818"/>
            </a:xfrm>
          </p:grpSpPr>
          <p:sp>
            <p:nvSpPr>
              <p:cNvPr id="180" name="Google Shape;180;p17"/>
              <p:cNvSpPr/>
              <p:nvPr/>
            </p:nvSpPr>
            <p:spPr>
              <a:xfrm>
                <a:off x="10496140" y="1110575"/>
                <a:ext cx="45911" cy="55577"/>
              </a:xfrm>
              <a:custGeom>
                <a:rect b="b" l="l" r="r" t="t"/>
                <a:pathLst>
                  <a:path extrusionOk="0" h="55577" w="45911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81;p17"/>
              <p:cNvSpPr/>
              <p:nvPr/>
            </p:nvSpPr>
            <p:spPr>
              <a:xfrm>
                <a:off x="10562833" y="1110816"/>
                <a:ext cx="33829" cy="55577"/>
              </a:xfrm>
              <a:custGeom>
                <a:rect b="b" l="l" r="r" t="t"/>
                <a:pathLst>
                  <a:path extrusionOk="0" h="55577" w="33829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2" name="Google Shape;182;p17"/>
            <p:cNvSpPr/>
            <p:nvPr/>
          </p:nvSpPr>
          <p:spPr>
            <a:xfrm>
              <a:off x="10612128" y="1112266"/>
              <a:ext cx="9665" cy="53161"/>
            </a:xfrm>
            <a:custGeom>
              <a:rect b="b" l="l" r="r" t="t"/>
              <a:pathLst>
                <a:path extrusionOk="0" h="53161" w="9665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3" name="Google Shape;183;p17"/>
            <p:cNvGrpSpPr/>
            <p:nvPr/>
          </p:nvGrpSpPr>
          <p:grpSpPr>
            <a:xfrm>
              <a:off x="10639675" y="1081336"/>
              <a:ext cx="105596" cy="87233"/>
              <a:chOff x="10639675" y="1081336"/>
              <a:chExt cx="105596" cy="87233"/>
            </a:xfrm>
          </p:grpSpPr>
          <p:sp>
            <p:nvSpPr>
              <p:cNvPr id="184" name="Google Shape;184;p17"/>
              <p:cNvSpPr/>
              <p:nvPr/>
            </p:nvSpPr>
            <p:spPr>
              <a:xfrm>
                <a:off x="10639675" y="1110575"/>
                <a:ext cx="45911" cy="57994"/>
              </a:xfrm>
              <a:custGeom>
                <a:rect b="b" l="l" r="r" t="t"/>
                <a:pathLst>
                  <a:path extrusionOk="0" h="57994" w="45911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17"/>
              <p:cNvSpPr/>
              <p:nvPr/>
            </p:nvSpPr>
            <p:spPr>
              <a:xfrm>
                <a:off x="10699360" y="1081336"/>
                <a:ext cx="45911" cy="84574"/>
              </a:xfrm>
              <a:custGeom>
                <a:rect b="b" l="l" r="r" t="t"/>
                <a:pathLst>
                  <a:path extrusionOk="0" h="84574" w="45911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6" name="Google Shape;186;p17"/>
            <p:cNvSpPr/>
            <p:nvPr/>
          </p:nvSpPr>
          <p:spPr>
            <a:xfrm>
              <a:off x="10808824" y="1089069"/>
              <a:ext cx="57994" cy="77325"/>
            </a:xfrm>
            <a:custGeom>
              <a:rect b="b" l="l" r="r" t="t"/>
              <a:pathLst>
                <a:path extrusionOk="0" h="77325" w="57994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17"/>
            <p:cNvSpPr/>
            <p:nvPr/>
          </p:nvSpPr>
          <p:spPr>
            <a:xfrm>
              <a:off x="10886391" y="1110575"/>
              <a:ext cx="48328" cy="57994"/>
            </a:xfrm>
            <a:custGeom>
              <a:rect b="b" l="l" r="r" t="t"/>
              <a:pathLst>
                <a:path extrusionOk="0" h="57994" w="48328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7"/>
            <p:cNvSpPr/>
            <p:nvPr/>
          </p:nvSpPr>
          <p:spPr>
            <a:xfrm>
              <a:off x="10951151" y="1112266"/>
              <a:ext cx="9665" cy="53161"/>
            </a:xfrm>
            <a:custGeom>
              <a:rect b="b" l="l" r="r" t="t"/>
              <a:pathLst>
                <a:path extrusionOk="0" h="53161" w="9665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9" name="Google Shape;189;p17"/>
            <p:cNvGrpSpPr/>
            <p:nvPr/>
          </p:nvGrpSpPr>
          <p:grpSpPr>
            <a:xfrm>
              <a:off x="10321916" y="1110575"/>
              <a:ext cx="1400072" cy="241641"/>
              <a:chOff x="10321916" y="1110575"/>
              <a:chExt cx="1400072" cy="241641"/>
            </a:xfrm>
          </p:grpSpPr>
          <p:sp>
            <p:nvSpPr>
              <p:cNvPr id="190" name="Google Shape;190;p17"/>
              <p:cNvSpPr/>
              <p:nvPr/>
            </p:nvSpPr>
            <p:spPr>
              <a:xfrm>
                <a:off x="10981840" y="1110575"/>
                <a:ext cx="45911" cy="55577"/>
              </a:xfrm>
              <a:custGeom>
                <a:rect b="b" l="l" r="r" t="t"/>
                <a:pathLst>
                  <a:path extrusionOk="0" h="55577" w="45911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p17"/>
              <p:cNvSpPr/>
              <p:nvPr/>
            </p:nvSpPr>
            <p:spPr>
              <a:xfrm>
                <a:off x="11046358" y="1110575"/>
                <a:ext cx="48328" cy="57994"/>
              </a:xfrm>
              <a:custGeom>
                <a:rect b="b" l="l" r="r" t="t"/>
                <a:pathLst>
                  <a:path extrusionOk="0" h="57994" w="48328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17"/>
              <p:cNvSpPr/>
              <p:nvPr/>
            </p:nvSpPr>
            <p:spPr>
              <a:xfrm>
                <a:off x="10321916" y="1217139"/>
                <a:ext cx="1179211" cy="84574"/>
              </a:xfrm>
              <a:custGeom>
                <a:rect b="b" l="l" r="r" t="t"/>
                <a:pathLst>
                  <a:path extrusionOk="0" h="84574" w="1179211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17"/>
              <p:cNvSpPr/>
              <p:nvPr/>
            </p:nvSpPr>
            <p:spPr>
              <a:xfrm>
                <a:off x="11569754" y="1219314"/>
                <a:ext cx="152234" cy="132902"/>
              </a:xfrm>
              <a:custGeom>
                <a:rect b="b" l="l" r="r" t="t"/>
                <a:pathLst>
                  <a:path extrusionOk="0" h="132902" w="152234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94" name="Google Shape;194;p17"/>
          <p:cNvPicPr preferRelativeResize="0"/>
          <p:nvPr/>
        </p:nvPicPr>
        <p:blipFill rotWithShape="1">
          <a:blip r:embed="rId2">
            <a:alphaModFix/>
          </a:blip>
          <a:srcRect b="17591" l="28921" r="0" t="8747"/>
          <a:stretch/>
        </p:blipFill>
        <p:spPr>
          <a:xfrm>
            <a:off x="0" y="0"/>
            <a:ext cx="3724291" cy="4915249"/>
          </a:xfrm>
          <a:custGeom>
            <a:rect b="b" l="l" r="r" t="t"/>
            <a:pathLst>
              <a:path extrusionOk="0" h="6597650" w="5015880">
                <a:moveTo>
                  <a:pt x="0" y="0"/>
                </a:moveTo>
                <a:lnTo>
                  <a:pt x="5015880" y="0"/>
                </a:lnTo>
                <a:lnTo>
                  <a:pt x="5015880" y="6597650"/>
                </a:lnTo>
                <a:lnTo>
                  <a:pt x="0" y="659765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95" name="Google Shape;195;p17"/>
          <p:cNvSpPr txBox="1"/>
          <p:nvPr>
            <p:ph type="title"/>
          </p:nvPr>
        </p:nvSpPr>
        <p:spPr>
          <a:xfrm>
            <a:off x="4464051" y="330502"/>
            <a:ext cx="28893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96" name="Google Shape;196;p17"/>
          <p:cNvCxnSpPr/>
          <p:nvPr/>
        </p:nvCxnSpPr>
        <p:spPr>
          <a:xfrm>
            <a:off x="4464051" y="973530"/>
            <a:ext cx="2889300" cy="0"/>
          </a:xfrm>
          <a:prstGeom prst="straightConnector1">
            <a:avLst/>
          </a:prstGeom>
          <a:noFill/>
          <a:ln cap="flat" cmpd="sng" w="19050">
            <a:solidFill>
              <a:srgbClr val="CCDDE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7" name="Google Shape;197;p17"/>
          <p:cNvSpPr txBox="1"/>
          <p:nvPr>
            <p:ph idx="1" type="body"/>
          </p:nvPr>
        </p:nvSpPr>
        <p:spPr>
          <a:xfrm>
            <a:off x="4464050" y="1420646"/>
            <a:ext cx="4368900" cy="3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98" name="Google Shape;198;p17"/>
          <p:cNvSpPr txBox="1"/>
          <p:nvPr>
            <p:ph idx="2" type="body"/>
          </p:nvPr>
        </p:nvSpPr>
        <p:spPr>
          <a:xfrm>
            <a:off x="4464050" y="1087042"/>
            <a:ext cx="41586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0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99" name="Google Shape;199;p17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26000" wrap="square" tIns="54000">
            <a:noAutofit/>
          </a:bodyPr>
          <a:lstStyle>
            <a:lvl1pPr lvl="0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1pPr>
            <a:lvl2pPr lvl="1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2pPr>
            <a:lvl3pPr lvl="2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3pPr>
            <a:lvl4pPr lvl="3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4pPr>
            <a:lvl5pPr lvl="4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5pPr>
            <a:lvl6pPr lvl="5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6pPr>
            <a:lvl7pPr lvl="6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7pPr>
            <a:lvl8pPr lvl="7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8pPr>
            <a:lvl9pPr lvl="8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0" name="Google Shape;200;p17"/>
          <p:cNvSpPr txBox="1"/>
          <p:nvPr/>
        </p:nvSpPr>
        <p:spPr>
          <a:xfrm>
            <a:off x="521550" y="4880675"/>
            <a:ext cx="3978600" cy="5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000">
                <a:solidFill>
                  <a:schemeClr val="lt1"/>
                </a:solidFill>
              </a:rPr>
              <a:t>Data Science, Sommersemester 2026, vldatascience</a:t>
            </a:r>
            <a:r>
              <a:rPr b="1" lang="en-GB" sz="1000">
                <a:solidFill>
                  <a:srgbClr val="F3F3F3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@hhu.de</a:t>
            </a:r>
            <a:endParaRPr b="1"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2812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halt + Bild rechts">
  <p:cSld name="Inhalt + Bild rechts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8"/>
          <p:cNvSpPr txBox="1"/>
          <p:nvPr>
            <p:ph type="title"/>
          </p:nvPr>
        </p:nvSpPr>
        <p:spPr>
          <a:xfrm>
            <a:off x="526594" y="330502"/>
            <a:ext cx="68268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18"/>
          <p:cNvSpPr txBox="1"/>
          <p:nvPr>
            <p:ph idx="1" type="body"/>
          </p:nvPr>
        </p:nvSpPr>
        <p:spPr>
          <a:xfrm>
            <a:off x="521550" y="1420645"/>
            <a:ext cx="3754500" cy="3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04" name="Google Shape;204;p18"/>
          <p:cNvSpPr txBox="1"/>
          <p:nvPr>
            <p:ph idx="2" type="body"/>
          </p:nvPr>
        </p:nvSpPr>
        <p:spPr>
          <a:xfrm>
            <a:off x="521494" y="1087042"/>
            <a:ext cx="37545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0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05" name="Google Shape;205;p18"/>
          <p:cNvSpPr/>
          <p:nvPr>
            <p:ph idx="3" type="pic"/>
          </p:nvPr>
        </p:nvSpPr>
        <p:spPr>
          <a:xfrm>
            <a:off x="4625700" y="1420650"/>
            <a:ext cx="4518300" cy="3488100"/>
          </a:xfrm>
          <a:prstGeom prst="rect">
            <a:avLst/>
          </a:prstGeom>
          <a:noFill/>
          <a:ln>
            <a:noFill/>
          </a:ln>
        </p:spPr>
      </p:sp>
      <p:sp>
        <p:nvSpPr>
          <p:cNvPr id="206" name="Google Shape;206;p18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26000" wrap="square" tIns="54000">
            <a:noAutofit/>
          </a:bodyPr>
          <a:lstStyle>
            <a:lvl1pPr lvl="0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1pPr>
            <a:lvl2pPr lvl="1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2pPr>
            <a:lvl3pPr lvl="2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3pPr>
            <a:lvl4pPr lvl="3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4pPr>
            <a:lvl5pPr lvl="4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5pPr>
            <a:lvl6pPr lvl="5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6pPr>
            <a:lvl7pPr lvl="6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7pPr>
            <a:lvl8pPr lvl="7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8pPr>
            <a:lvl9pPr lvl="8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halt + zwei Bilder rechts">
  <p:cSld name="Inhalt + zwei Bilder rechts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9"/>
          <p:cNvSpPr txBox="1"/>
          <p:nvPr>
            <p:ph type="title"/>
          </p:nvPr>
        </p:nvSpPr>
        <p:spPr>
          <a:xfrm>
            <a:off x="526594" y="330502"/>
            <a:ext cx="68268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19"/>
          <p:cNvSpPr txBox="1"/>
          <p:nvPr>
            <p:ph idx="1" type="body"/>
          </p:nvPr>
        </p:nvSpPr>
        <p:spPr>
          <a:xfrm>
            <a:off x="4625578" y="1420646"/>
            <a:ext cx="2241900" cy="348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5400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10" name="Google Shape;210;p19"/>
          <p:cNvSpPr txBox="1"/>
          <p:nvPr>
            <p:ph idx="2" type="body"/>
          </p:nvPr>
        </p:nvSpPr>
        <p:spPr>
          <a:xfrm>
            <a:off x="6921103" y="1420645"/>
            <a:ext cx="2223000" cy="348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5400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11" name="Google Shape;211;p19"/>
          <p:cNvSpPr txBox="1"/>
          <p:nvPr>
            <p:ph idx="3" type="body"/>
          </p:nvPr>
        </p:nvSpPr>
        <p:spPr>
          <a:xfrm>
            <a:off x="522288" y="1420646"/>
            <a:ext cx="3754500" cy="3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12" name="Google Shape;212;p19"/>
          <p:cNvSpPr txBox="1"/>
          <p:nvPr>
            <p:ph idx="4" type="body"/>
          </p:nvPr>
        </p:nvSpPr>
        <p:spPr>
          <a:xfrm>
            <a:off x="521495" y="1087042"/>
            <a:ext cx="37545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0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13" name="Google Shape;213;p19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26000" wrap="square" tIns="54000">
            <a:noAutofit/>
          </a:bodyPr>
          <a:lstStyle>
            <a:lvl1pPr lvl="0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1pPr>
            <a:lvl2pPr lvl="1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2pPr>
            <a:lvl3pPr lvl="2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3pPr>
            <a:lvl4pPr lvl="3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4pPr>
            <a:lvl5pPr lvl="4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5pPr>
            <a:lvl6pPr lvl="5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6pPr>
            <a:lvl7pPr lvl="6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7pPr>
            <a:lvl8pPr lvl="7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8pPr>
            <a:lvl9pPr lvl="8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360">
          <p15:clr>
            <a:srgbClr val="FBAE40"/>
          </p15:clr>
        </p15:guide>
        <p15:guide id="2" pos="432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halt + Bild links" showMasterSp="0">
  <p:cSld name="Inhalt + Bild links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" name="Google Shape;215;p20"/>
          <p:cNvGrpSpPr/>
          <p:nvPr/>
        </p:nvGrpSpPr>
        <p:grpSpPr>
          <a:xfrm>
            <a:off x="-4877" y="4944919"/>
            <a:ext cx="9145385" cy="197882"/>
            <a:chOff x="-4877" y="4950860"/>
            <a:chExt cx="9145385" cy="198120"/>
          </a:xfrm>
        </p:grpSpPr>
        <p:sp>
          <p:nvSpPr>
            <p:cNvPr id="216" name="Google Shape;216;p20"/>
            <p:cNvSpPr/>
            <p:nvPr/>
          </p:nvSpPr>
          <p:spPr>
            <a:xfrm>
              <a:off x="-4877" y="4950860"/>
              <a:ext cx="480060" cy="198120"/>
            </a:xfrm>
            <a:custGeom>
              <a:rect b="b" l="l" r="r" t="t"/>
              <a:pathLst>
                <a:path extrusionOk="0" h="198120" w="914400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20"/>
            <p:cNvSpPr/>
            <p:nvPr/>
          </p:nvSpPr>
          <p:spPr>
            <a:xfrm>
              <a:off x="522288" y="4950860"/>
              <a:ext cx="8618220" cy="198120"/>
            </a:xfrm>
            <a:custGeom>
              <a:rect b="b" l="l" r="r" t="t"/>
              <a:pathLst>
                <a:path extrusionOk="0" h="198120" w="914400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20"/>
            <p:cNvSpPr txBox="1"/>
            <p:nvPr/>
          </p:nvSpPr>
          <p:spPr>
            <a:xfrm>
              <a:off x="8194726" y="4966101"/>
              <a:ext cx="449700" cy="1677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127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1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hhu.de</a:t>
              </a:r>
              <a:endParaRPr/>
            </a:p>
          </p:txBody>
        </p:sp>
      </p:grpSp>
      <p:sp>
        <p:nvSpPr>
          <p:cNvPr id="219" name="Google Shape;219;p20"/>
          <p:cNvSpPr txBox="1"/>
          <p:nvPr>
            <p:ph type="title"/>
          </p:nvPr>
        </p:nvSpPr>
        <p:spPr>
          <a:xfrm>
            <a:off x="4625579" y="330502"/>
            <a:ext cx="27279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20" name="Google Shape;220;p20"/>
          <p:cNvCxnSpPr/>
          <p:nvPr/>
        </p:nvCxnSpPr>
        <p:spPr>
          <a:xfrm>
            <a:off x="4625975" y="973530"/>
            <a:ext cx="2727300" cy="0"/>
          </a:xfrm>
          <a:prstGeom prst="straightConnector1">
            <a:avLst/>
          </a:prstGeom>
          <a:noFill/>
          <a:ln cap="flat" cmpd="sng" w="19050">
            <a:solidFill>
              <a:srgbClr val="CCDDE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1" name="Google Shape;221;p20"/>
          <p:cNvSpPr txBox="1"/>
          <p:nvPr>
            <p:ph idx="1" type="body"/>
          </p:nvPr>
        </p:nvSpPr>
        <p:spPr>
          <a:xfrm>
            <a:off x="4625578" y="1420646"/>
            <a:ext cx="3997800" cy="34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22" name="Google Shape;222;p20"/>
          <p:cNvSpPr txBox="1"/>
          <p:nvPr>
            <p:ph idx="2" type="body"/>
          </p:nvPr>
        </p:nvSpPr>
        <p:spPr>
          <a:xfrm>
            <a:off x="4625578" y="1087042"/>
            <a:ext cx="39969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0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grpSp>
        <p:nvGrpSpPr>
          <p:cNvPr id="223" name="Google Shape;223;p20"/>
          <p:cNvGrpSpPr/>
          <p:nvPr/>
        </p:nvGrpSpPr>
        <p:grpSpPr>
          <a:xfrm>
            <a:off x="7741433" y="393808"/>
            <a:ext cx="1050054" cy="620354"/>
            <a:chOff x="10321916" y="525077"/>
            <a:chExt cx="1400072" cy="827139"/>
          </a:xfrm>
        </p:grpSpPr>
        <p:grpSp>
          <p:nvGrpSpPr>
            <p:cNvPr id="224" name="Google Shape;224;p20"/>
            <p:cNvGrpSpPr/>
            <p:nvPr/>
          </p:nvGrpSpPr>
          <p:grpSpPr>
            <a:xfrm>
              <a:off x="10321916" y="525077"/>
              <a:ext cx="1179694" cy="575590"/>
              <a:chOff x="10321916" y="525077"/>
              <a:chExt cx="1179694" cy="575590"/>
            </a:xfrm>
          </p:grpSpPr>
          <p:sp>
            <p:nvSpPr>
              <p:cNvPr id="225" name="Google Shape;225;p20"/>
              <p:cNvSpPr/>
              <p:nvPr/>
            </p:nvSpPr>
            <p:spPr>
              <a:xfrm>
                <a:off x="11143981" y="639857"/>
                <a:ext cx="357629" cy="357629"/>
              </a:xfrm>
              <a:custGeom>
                <a:rect b="b" l="l" r="r" t="t"/>
                <a:pathLst>
                  <a:path extrusionOk="0" h="357629" w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20"/>
              <p:cNvSpPr/>
              <p:nvPr/>
            </p:nvSpPr>
            <p:spPr>
              <a:xfrm>
                <a:off x="10321916" y="525077"/>
                <a:ext cx="357629" cy="463952"/>
              </a:xfrm>
              <a:custGeom>
                <a:rect b="b" l="l" r="r" t="t"/>
                <a:pathLst>
                  <a:path extrusionOk="0" h="463952" w="357629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p20"/>
              <p:cNvSpPr/>
              <p:nvPr/>
            </p:nvSpPr>
            <p:spPr>
              <a:xfrm>
                <a:off x="10734399" y="525077"/>
                <a:ext cx="357629" cy="463952"/>
              </a:xfrm>
              <a:custGeom>
                <a:rect b="b" l="l" r="r" t="t"/>
                <a:pathLst>
                  <a:path extrusionOk="0" h="463952" w="357629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" name="Google Shape;228;p20"/>
              <p:cNvSpPr/>
              <p:nvPr/>
            </p:nvSpPr>
            <p:spPr>
              <a:xfrm>
                <a:off x="10464001" y="1088585"/>
                <a:ext cx="12082" cy="12082"/>
              </a:xfrm>
              <a:custGeom>
                <a:rect b="b" l="l" r="r" t="t"/>
                <a:pathLst>
                  <a:path extrusionOk="0" h="12082" w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" name="Google Shape;229;p20"/>
              <p:cNvSpPr/>
              <p:nvPr/>
            </p:nvSpPr>
            <p:spPr>
              <a:xfrm>
                <a:off x="10610678" y="1088585"/>
                <a:ext cx="12082" cy="12082"/>
              </a:xfrm>
              <a:custGeom>
                <a:rect b="b" l="l" r="r" t="t"/>
                <a:pathLst>
                  <a:path extrusionOk="0" h="12082" w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20"/>
              <p:cNvSpPr/>
              <p:nvPr/>
            </p:nvSpPr>
            <p:spPr>
              <a:xfrm>
                <a:off x="10949701" y="1088585"/>
                <a:ext cx="12082" cy="12082"/>
              </a:xfrm>
              <a:custGeom>
                <a:rect b="b" l="l" r="r" t="t"/>
                <a:pathLst>
                  <a:path extrusionOk="0" h="12082" w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31" name="Google Shape;231;p20"/>
            <p:cNvSpPr/>
            <p:nvPr/>
          </p:nvSpPr>
          <p:spPr>
            <a:xfrm>
              <a:off x="10322158" y="1089069"/>
              <a:ext cx="57994" cy="77325"/>
            </a:xfrm>
            <a:custGeom>
              <a:rect b="b" l="l" r="r" t="t"/>
              <a:pathLst>
                <a:path extrusionOk="0" h="77325" w="57994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20"/>
            <p:cNvSpPr/>
            <p:nvPr/>
          </p:nvSpPr>
          <p:spPr>
            <a:xfrm>
              <a:off x="10399483" y="1110575"/>
              <a:ext cx="48328" cy="57994"/>
            </a:xfrm>
            <a:custGeom>
              <a:rect b="b" l="l" r="r" t="t"/>
              <a:pathLst>
                <a:path extrusionOk="0" h="57994" w="48328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20"/>
            <p:cNvSpPr/>
            <p:nvPr/>
          </p:nvSpPr>
          <p:spPr>
            <a:xfrm>
              <a:off x="10465451" y="1112266"/>
              <a:ext cx="9665" cy="53161"/>
            </a:xfrm>
            <a:custGeom>
              <a:rect b="b" l="l" r="r" t="t"/>
              <a:pathLst>
                <a:path extrusionOk="0" h="53161" w="9665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4" name="Google Shape;234;p20"/>
            <p:cNvGrpSpPr/>
            <p:nvPr/>
          </p:nvGrpSpPr>
          <p:grpSpPr>
            <a:xfrm>
              <a:off x="10496140" y="1110575"/>
              <a:ext cx="100522" cy="55818"/>
              <a:chOff x="10496140" y="1110575"/>
              <a:chExt cx="100522" cy="55818"/>
            </a:xfrm>
          </p:grpSpPr>
          <p:sp>
            <p:nvSpPr>
              <p:cNvPr id="235" name="Google Shape;235;p20"/>
              <p:cNvSpPr/>
              <p:nvPr/>
            </p:nvSpPr>
            <p:spPr>
              <a:xfrm>
                <a:off x="10496140" y="1110575"/>
                <a:ext cx="45911" cy="55577"/>
              </a:xfrm>
              <a:custGeom>
                <a:rect b="b" l="l" r="r" t="t"/>
                <a:pathLst>
                  <a:path extrusionOk="0" h="55577" w="45911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236;p20"/>
              <p:cNvSpPr/>
              <p:nvPr/>
            </p:nvSpPr>
            <p:spPr>
              <a:xfrm>
                <a:off x="10562833" y="1110816"/>
                <a:ext cx="33829" cy="55577"/>
              </a:xfrm>
              <a:custGeom>
                <a:rect b="b" l="l" r="r" t="t"/>
                <a:pathLst>
                  <a:path extrusionOk="0" h="55577" w="33829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37" name="Google Shape;237;p20"/>
            <p:cNvSpPr/>
            <p:nvPr/>
          </p:nvSpPr>
          <p:spPr>
            <a:xfrm>
              <a:off x="10612128" y="1112266"/>
              <a:ext cx="9665" cy="53161"/>
            </a:xfrm>
            <a:custGeom>
              <a:rect b="b" l="l" r="r" t="t"/>
              <a:pathLst>
                <a:path extrusionOk="0" h="53161" w="9665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8" name="Google Shape;238;p20"/>
            <p:cNvGrpSpPr/>
            <p:nvPr/>
          </p:nvGrpSpPr>
          <p:grpSpPr>
            <a:xfrm>
              <a:off x="10639675" y="1081336"/>
              <a:ext cx="105596" cy="87233"/>
              <a:chOff x="10639675" y="1081336"/>
              <a:chExt cx="105596" cy="87233"/>
            </a:xfrm>
          </p:grpSpPr>
          <p:sp>
            <p:nvSpPr>
              <p:cNvPr id="239" name="Google Shape;239;p20"/>
              <p:cNvSpPr/>
              <p:nvPr/>
            </p:nvSpPr>
            <p:spPr>
              <a:xfrm>
                <a:off x="10639675" y="1110575"/>
                <a:ext cx="45911" cy="57994"/>
              </a:xfrm>
              <a:custGeom>
                <a:rect b="b" l="l" r="r" t="t"/>
                <a:pathLst>
                  <a:path extrusionOk="0" h="57994" w="45911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20"/>
              <p:cNvSpPr/>
              <p:nvPr/>
            </p:nvSpPr>
            <p:spPr>
              <a:xfrm>
                <a:off x="10699360" y="1081336"/>
                <a:ext cx="45911" cy="84574"/>
              </a:xfrm>
              <a:custGeom>
                <a:rect b="b" l="l" r="r" t="t"/>
                <a:pathLst>
                  <a:path extrusionOk="0" h="84574" w="45911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1" name="Google Shape;241;p20"/>
            <p:cNvSpPr/>
            <p:nvPr/>
          </p:nvSpPr>
          <p:spPr>
            <a:xfrm>
              <a:off x="10808824" y="1089069"/>
              <a:ext cx="57994" cy="77325"/>
            </a:xfrm>
            <a:custGeom>
              <a:rect b="b" l="l" r="r" t="t"/>
              <a:pathLst>
                <a:path extrusionOk="0" h="77325" w="57994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20"/>
            <p:cNvSpPr/>
            <p:nvPr/>
          </p:nvSpPr>
          <p:spPr>
            <a:xfrm>
              <a:off x="10886391" y="1110575"/>
              <a:ext cx="48328" cy="57994"/>
            </a:xfrm>
            <a:custGeom>
              <a:rect b="b" l="l" r="r" t="t"/>
              <a:pathLst>
                <a:path extrusionOk="0" h="57994" w="48328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20"/>
            <p:cNvSpPr/>
            <p:nvPr/>
          </p:nvSpPr>
          <p:spPr>
            <a:xfrm>
              <a:off x="10951151" y="1112266"/>
              <a:ext cx="9665" cy="53161"/>
            </a:xfrm>
            <a:custGeom>
              <a:rect b="b" l="l" r="r" t="t"/>
              <a:pathLst>
                <a:path extrusionOk="0" h="53161" w="9665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4" name="Google Shape;244;p20"/>
            <p:cNvGrpSpPr/>
            <p:nvPr/>
          </p:nvGrpSpPr>
          <p:grpSpPr>
            <a:xfrm>
              <a:off x="10321916" y="1110575"/>
              <a:ext cx="1400072" cy="241641"/>
              <a:chOff x="10321916" y="1110575"/>
              <a:chExt cx="1400072" cy="241641"/>
            </a:xfrm>
          </p:grpSpPr>
          <p:sp>
            <p:nvSpPr>
              <p:cNvPr id="245" name="Google Shape;245;p20"/>
              <p:cNvSpPr/>
              <p:nvPr/>
            </p:nvSpPr>
            <p:spPr>
              <a:xfrm>
                <a:off x="10981840" y="1110575"/>
                <a:ext cx="45911" cy="55577"/>
              </a:xfrm>
              <a:custGeom>
                <a:rect b="b" l="l" r="r" t="t"/>
                <a:pathLst>
                  <a:path extrusionOk="0" h="55577" w="45911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20"/>
              <p:cNvSpPr/>
              <p:nvPr/>
            </p:nvSpPr>
            <p:spPr>
              <a:xfrm>
                <a:off x="11046358" y="1110575"/>
                <a:ext cx="48328" cy="57994"/>
              </a:xfrm>
              <a:custGeom>
                <a:rect b="b" l="l" r="r" t="t"/>
                <a:pathLst>
                  <a:path extrusionOk="0" h="57994" w="48328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20"/>
              <p:cNvSpPr/>
              <p:nvPr/>
            </p:nvSpPr>
            <p:spPr>
              <a:xfrm>
                <a:off x="10321916" y="1217139"/>
                <a:ext cx="1179211" cy="84574"/>
              </a:xfrm>
              <a:custGeom>
                <a:rect b="b" l="l" r="r" t="t"/>
                <a:pathLst>
                  <a:path extrusionOk="0" h="84574" w="1179211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p20"/>
              <p:cNvSpPr/>
              <p:nvPr/>
            </p:nvSpPr>
            <p:spPr>
              <a:xfrm>
                <a:off x="11569754" y="1219314"/>
                <a:ext cx="152234" cy="132902"/>
              </a:xfrm>
              <a:custGeom>
                <a:rect b="b" l="l" r="r" t="t"/>
                <a:pathLst>
                  <a:path extrusionOk="0" h="132902" w="152234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49" name="Google Shape;249;p20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26000" wrap="square" tIns="54000">
            <a:noAutofit/>
          </a:bodyPr>
          <a:lstStyle>
            <a:lvl1pPr lvl="0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1pPr>
            <a:lvl2pPr lvl="1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2pPr>
            <a:lvl3pPr lvl="2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3pPr>
            <a:lvl4pPr lvl="3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4pPr>
            <a:lvl5pPr lvl="4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5pPr>
            <a:lvl6pPr lvl="5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6pPr>
            <a:lvl7pPr lvl="6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7pPr>
            <a:lvl8pPr lvl="7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8pPr>
            <a:lvl9pPr lvl="8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50" name="Google Shape;250;p20"/>
          <p:cNvSpPr/>
          <p:nvPr>
            <p:ph idx="3" type="pic"/>
          </p:nvPr>
        </p:nvSpPr>
        <p:spPr>
          <a:xfrm>
            <a:off x="0" y="0"/>
            <a:ext cx="4299900" cy="4908900"/>
          </a:xfrm>
          <a:prstGeom prst="rect">
            <a:avLst/>
          </a:prstGeom>
          <a:noFill/>
          <a:ln>
            <a:noFill/>
          </a:ln>
        </p:spPr>
      </p:sp>
      <p:sp>
        <p:nvSpPr>
          <p:cNvPr id="251" name="Google Shape;251;p20"/>
          <p:cNvSpPr txBox="1"/>
          <p:nvPr/>
        </p:nvSpPr>
        <p:spPr>
          <a:xfrm>
            <a:off x="521550" y="4880675"/>
            <a:ext cx="3978600" cy="5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000">
                <a:solidFill>
                  <a:schemeClr val="lt1"/>
                </a:solidFill>
              </a:rPr>
              <a:t>Data Science, Sommersemester 2026, vldatascience</a:t>
            </a:r>
            <a:r>
              <a:rPr b="1" lang="en-GB" sz="1000">
                <a:solidFill>
                  <a:srgbClr val="F3F3F3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@hhu.de</a:t>
            </a:r>
            <a:endParaRPr b="1"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halt + zwei Bilder links" showMasterSp="0">
  <p:cSld name="Inhalt + zwei Bilder links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" name="Google Shape;253;p21"/>
          <p:cNvGrpSpPr/>
          <p:nvPr/>
        </p:nvGrpSpPr>
        <p:grpSpPr>
          <a:xfrm>
            <a:off x="-4877" y="4944919"/>
            <a:ext cx="9145385" cy="197882"/>
            <a:chOff x="-4877" y="4950860"/>
            <a:chExt cx="9145385" cy="198120"/>
          </a:xfrm>
        </p:grpSpPr>
        <p:sp>
          <p:nvSpPr>
            <p:cNvPr id="254" name="Google Shape;254;p21"/>
            <p:cNvSpPr/>
            <p:nvPr/>
          </p:nvSpPr>
          <p:spPr>
            <a:xfrm>
              <a:off x="-4877" y="4950860"/>
              <a:ext cx="480060" cy="198120"/>
            </a:xfrm>
            <a:custGeom>
              <a:rect b="b" l="l" r="r" t="t"/>
              <a:pathLst>
                <a:path extrusionOk="0" h="198120" w="914400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21"/>
            <p:cNvSpPr/>
            <p:nvPr/>
          </p:nvSpPr>
          <p:spPr>
            <a:xfrm>
              <a:off x="522288" y="4950860"/>
              <a:ext cx="8618220" cy="198120"/>
            </a:xfrm>
            <a:custGeom>
              <a:rect b="b" l="l" r="r" t="t"/>
              <a:pathLst>
                <a:path extrusionOk="0" h="198120" w="914400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21"/>
            <p:cNvSpPr txBox="1"/>
            <p:nvPr/>
          </p:nvSpPr>
          <p:spPr>
            <a:xfrm>
              <a:off x="8194726" y="4966101"/>
              <a:ext cx="449700" cy="1677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127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1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hhu.de</a:t>
              </a:r>
              <a:endParaRPr/>
            </a:p>
          </p:txBody>
        </p:sp>
      </p:grpSp>
      <p:sp>
        <p:nvSpPr>
          <p:cNvPr id="257" name="Google Shape;257;p21"/>
          <p:cNvSpPr txBox="1"/>
          <p:nvPr>
            <p:ph type="title"/>
          </p:nvPr>
        </p:nvSpPr>
        <p:spPr>
          <a:xfrm>
            <a:off x="4625579" y="330502"/>
            <a:ext cx="27279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58" name="Google Shape;258;p21"/>
          <p:cNvCxnSpPr/>
          <p:nvPr/>
        </p:nvCxnSpPr>
        <p:spPr>
          <a:xfrm>
            <a:off x="4625975" y="973530"/>
            <a:ext cx="2727300" cy="0"/>
          </a:xfrm>
          <a:prstGeom prst="straightConnector1">
            <a:avLst/>
          </a:prstGeom>
          <a:noFill/>
          <a:ln cap="flat" cmpd="sng" w="19050">
            <a:solidFill>
              <a:srgbClr val="CCDDE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9" name="Google Shape;259;p21"/>
          <p:cNvSpPr txBox="1"/>
          <p:nvPr>
            <p:ph idx="1" type="body"/>
          </p:nvPr>
        </p:nvSpPr>
        <p:spPr>
          <a:xfrm>
            <a:off x="0" y="0"/>
            <a:ext cx="4276200" cy="2428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5400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60" name="Google Shape;260;p21"/>
          <p:cNvSpPr txBox="1"/>
          <p:nvPr>
            <p:ph idx="2" type="body"/>
          </p:nvPr>
        </p:nvSpPr>
        <p:spPr>
          <a:xfrm>
            <a:off x="0" y="2490788"/>
            <a:ext cx="4276200" cy="241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5400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61" name="Google Shape;261;p21"/>
          <p:cNvSpPr txBox="1"/>
          <p:nvPr>
            <p:ph idx="3" type="body"/>
          </p:nvPr>
        </p:nvSpPr>
        <p:spPr>
          <a:xfrm>
            <a:off x="4625578" y="1420646"/>
            <a:ext cx="4000200" cy="34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62" name="Google Shape;262;p21"/>
          <p:cNvSpPr txBox="1"/>
          <p:nvPr>
            <p:ph idx="4" type="body"/>
          </p:nvPr>
        </p:nvSpPr>
        <p:spPr>
          <a:xfrm>
            <a:off x="4622239" y="1087042"/>
            <a:ext cx="4000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0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grpSp>
        <p:nvGrpSpPr>
          <p:cNvPr id="263" name="Google Shape;263;p21"/>
          <p:cNvGrpSpPr/>
          <p:nvPr/>
        </p:nvGrpSpPr>
        <p:grpSpPr>
          <a:xfrm>
            <a:off x="7741433" y="393808"/>
            <a:ext cx="1050054" cy="620354"/>
            <a:chOff x="10321916" y="525077"/>
            <a:chExt cx="1400072" cy="827139"/>
          </a:xfrm>
        </p:grpSpPr>
        <p:grpSp>
          <p:nvGrpSpPr>
            <p:cNvPr id="264" name="Google Shape;264;p21"/>
            <p:cNvGrpSpPr/>
            <p:nvPr/>
          </p:nvGrpSpPr>
          <p:grpSpPr>
            <a:xfrm>
              <a:off x="10321916" y="525077"/>
              <a:ext cx="1179694" cy="575590"/>
              <a:chOff x="10321916" y="525077"/>
              <a:chExt cx="1179694" cy="575590"/>
            </a:xfrm>
          </p:grpSpPr>
          <p:sp>
            <p:nvSpPr>
              <p:cNvPr id="265" name="Google Shape;265;p21"/>
              <p:cNvSpPr/>
              <p:nvPr/>
            </p:nvSpPr>
            <p:spPr>
              <a:xfrm>
                <a:off x="11143981" y="639857"/>
                <a:ext cx="357629" cy="357629"/>
              </a:xfrm>
              <a:custGeom>
                <a:rect b="b" l="l" r="r" t="t"/>
                <a:pathLst>
                  <a:path extrusionOk="0" h="357629" w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" name="Google Shape;266;p21"/>
              <p:cNvSpPr/>
              <p:nvPr/>
            </p:nvSpPr>
            <p:spPr>
              <a:xfrm>
                <a:off x="10321916" y="525077"/>
                <a:ext cx="357629" cy="463952"/>
              </a:xfrm>
              <a:custGeom>
                <a:rect b="b" l="l" r="r" t="t"/>
                <a:pathLst>
                  <a:path extrusionOk="0" h="463952" w="357629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" name="Google Shape;267;p21"/>
              <p:cNvSpPr/>
              <p:nvPr/>
            </p:nvSpPr>
            <p:spPr>
              <a:xfrm>
                <a:off x="10734399" y="525077"/>
                <a:ext cx="357629" cy="463952"/>
              </a:xfrm>
              <a:custGeom>
                <a:rect b="b" l="l" r="r" t="t"/>
                <a:pathLst>
                  <a:path extrusionOk="0" h="463952" w="357629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" name="Google Shape;268;p21"/>
              <p:cNvSpPr/>
              <p:nvPr/>
            </p:nvSpPr>
            <p:spPr>
              <a:xfrm>
                <a:off x="10464001" y="1088585"/>
                <a:ext cx="12082" cy="12082"/>
              </a:xfrm>
              <a:custGeom>
                <a:rect b="b" l="l" r="r" t="t"/>
                <a:pathLst>
                  <a:path extrusionOk="0" h="12082" w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" name="Google Shape;269;p21"/>
              <p:cNvSpPr/>
              <p:nvPr/>
            </p:nvSpPr>
            <p:spPr>
              <a:xfrm>
                <a:off x="10610678" y="1088585"/>
                <a:ext cx="12082" cy="12082"/>
              </a:xfrm>
              <a:custGeom>
                <a:rect b="b" l="l" r="r" t="t"/>
                <a:pathLst>
                  <a:path extrusionOk="0" h="12082" w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" name="Google Shape;270;p21"/>
              <p:cNvSpPr/>
              <p:nvPr/>
            </p:nvSpPr>
            <p:spPr>
              <a:xfrm>
                <a:off x="10949701" y="1088585"/>
                <a:ext cx="12082" cy="12082"/>
              </a:xfrm>
              <a:custGeom>
                <a:rect b="b" l="l" r="r" t="t"/>
                <a:pathLst>
                  <a:path extrusionOk="0" h="12082" w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1" name="Google Shape;271;p21"/>
            <p:cNvSpPr/>
            <p:nvPr/>
          </p:nvSpPr>
          <p:spPr>
            <a:xfrm>
              <a:off x="10322158" y="1089069"/>
              <a:ext cx="57994" cy="77325"/>
            </a:xfrm>
            <a:custGeom>
              <a:rect b="b" l="l" r="r" t="t"/>
              <a:pathLst>
                <a:path extrusionOk="0" h="77325" w="57994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21"/>
            <p:cNvSpPr/>
            <p:nvPr/>
          </p:nvSpPr>
          <p:spPr>
            <a:xfrm>
              <a:off x="10399483" y="1110575"/>
              <a:ext cx="48328" cy="57994"/>
            </a:xfrm>
            <a:custGeom>
              <a:rect b="b" l="l" r="r" t="t"/>
              <a:pathLst>
                <a:path extrusionOk="0" h="57994" w="48328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21"/>
            <p:cNvSpPr/>
            <p:nvPr/>
          </p:nvSpPr>
          <p:spPr>
            <a:xfrm>
              <a:off x="10465451" y="1112266"/>
              <a:ext cx="9665" cy="53161"/>
            </a:xfrm>
            <a:custGeom>
              <a:rect b="b" l="l" r="r" t="t"/>
              <a:pathLst>
                <a:path extrusionOk="0" h="53161" w="9665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4" name="Google Shape;274;p21"/>
            <p:cNvGrpSpPr/>
            <p:nvPr/>
          </p:nvGrpSpPr>
          <p:grpSpPr>
            <a:xfrm>
              <a:off x="10496140" y="1110575"/>
              <a:ext cx="100522" cy="55818"/>
              <a:chOff x="10496140" y="1110575"/>
              <a:chExt cx="100522" cy="55818"/>
            </a:xfrm>
          </p:grpSpPr>
          <p:sp>
            <p:nvSpPr>
              <p:cNvPr id="275" name="Google Shape;275;p21"/>
              <p:cNvSpPr/>
              <p:nvPr/>
            </p:nvSpPr>
            <p:spPr>
              <a:xfrm>
                <a:off x="10496140" y="1110575"/>
                <a:ext cx="45911" cy="55577"/>
              </a:xfrm>
              <a:custGeom>
                <a:rect b="b" l="l" r="r" t="t"/>
                <a:pathLst>
                  <a:path extrusionOk="0" h="55577" w="45911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" name="Google Shape;276;p21"/>
              <p:cNvSpPr/>
              <p:nvPr/>
            </p:nvSpPr>
            <p:spPr>
              <a:xfrm>
                <a:off x="10562833" y="1110816"/>
                <a:ext cx="33829" cy="55577"/>
              </a:xfrm>
              <a:custGeom>
                <a:rect b="b" l="l" r="r" t="t"/>
                <a:pathLst>
                  <a:path extrusionOk="0" h="55577" w="33829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7" name="Google Shape;277;p21"/>
            <p:cNvSpPr/>
            <p:nvPr/>
          </p:nvSpPr>
          <p:spPr>
            <a:xfrm>
              <a:off x="10612128" y="1112266"/>
              <a:ext cx="9665" cy="53161"/>
            </a:xfrm>
            <a:custGeom>
              <a:rect b="b" l="l" r="r" t="t"/>
              <a:pathLst>
                <a:path extrusionOk="0" h="53161" w="9665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8" name="Google Shape;278;p21"/>
            <p:cNvGrpSpPr/>
            <p:nvPr/>
          </p:nvGrpSpPr>
          <p:grpSpPr>
            <a:xfrm>
              <a:off x="10639675" y="1081336"/>
              <a:ext cx="105596" cy="87233"/>
              <a:chOff x="10639675" y="1081336"/>
              <a:chExt cx="105596" cy="87233"/>
            </a:xfrm>
          </p:grpSpPr>
          <p:sp>
            <p:nvSpPr>
              <p:cNvPr id="279" name="Google Shape;279;p21"/>
              <p:cNvSpPr/>
              <p:nvPr/>
            </p:nvSpPr>
            <p:spPr>
              <a:xfrm>
                <a:off x="10639675" y="1110575"/>
                <a:ext cx="45911" cy="57994"/>
              </a:xfrm>
              <a:custGeom>
                <a:rect b="b" l="l" r="r" t="t"/>
                <a:pathLst>
                  <a:path extrusionOk="0" h="57994" w="45911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" name="Google Shape;280;p21"/>
              <p:cNvSpPr/>
              <p:nvPr/>
            </p:nvSpPr>
            <p:spPr>
              <a:xfrm>
                <a:off x="10699360" y="1081336"/>
                <a:ext cx="45911" cy="84574"/>
              </a:xfrm>
              <a:custGeom>
                <a:rect b="b" l="l" r="r" t="t"/>
                <a:pathLst>
                  <a:path extrusionOk="0" h="84574" w="45911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1" name="Google Shape;281;p21"/>
            <p:cNvSpPr/>
            <p:nvPr/>
          </p:nvSpPr>
          <p:spPr>
            <a:xfrm>
              <a:off x="10808824" y="1089069"/>
              <a:ext cx="57994" cy="77325"/>
            </a:xfrm>
            <a:custGeom>
              <a:rect b="b" l="l" r="r" t="t"/>
              <a:pathLst>
                <a:path extrusionOk="0" h="77325" w="57994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21"/>
            <p:cNvSpPr/>
            <p:nvPr/>
          </p:nvSpPr>
          <p:spPr>
            <a:xfrm>
              <a:off x="10886391" y="1110575"/>
              <a:ext cx="48328" cy="57994"/>
            </a:xfrm>
            <a:custGeom>
              <a:rect b="b" l="l" r="r" t="t"/>
              <a:pathLst>
                <a:path extrusionOk="0" h="57994" w="48328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21"/>
            <p:cNvSpPr/>
            <p:nvPr/>
          </p:nvSpPr>
          <p:spPr>
            <a:xfrm>
              <a:off x="10951151" y="1112266"/>
              <a:ext cx="9665" cy="53161"/>
            </a:xfrm>
            <a:custGeom>
              <a:rect b="b" l="l" r="r" t="t"/>
              <a:pathLst>
                <a:path extrusionOk="0" h="53161" w="9665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4" name="Google Shape;284;p21"/>
            <p:cNvGrpSpPr/>
            <p:nvPr/>
          </p:nvGrpSpPr>
          <p:grpSpPr>
            <a:xfrm>
              <a:off x="10321916" y="1110575"/>
              <a:ext cx="1400072" cy="241641"/>
              <a:chOff x="10321916" y="1110575"/>
              <a:chExt cx="1400072" cy="241641"/>
            </a:xfrm>
          </p:grpSpPr>
          <p:sp>
            <p:nvSpPr>
              <p:cNvPr id="285" name="Google Shape;285;p21"/>
              <p:cNvSpPr/>
              <p:nvPr/>
            </p:nvSpPr>
            <p:spPr>
              <a:xfrm>
                <a:off x="10981840" y="1110575"/>
                <a:ext cx="45911" cy="55577"/>
              </a:xfrm>
              <a:custGeom>
                <a:rect b="b" l="l" r="r" t="t"/>
                <a:pathLst>
                  <a:path extrusionOk="0" h="55577" w="45911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" name="Google Shape;286;p21"/>
              <p:cNvSpPr/>
              <p:nvPr/>
            </p:nvSpPr>
            <p:spPr>
              <a:xfrm>
                <a:off x="11046358" y="1110575"/>
                <a:ext cx="48328" cy="57994"/>
              </a:xfrm>
              <a:custGeom>
                <a:rect b="b" l="l" r="r" t="t"/>
                <a:pathLst>
                  <a:path extrusionOk="0" h="57994" w="48328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21"/>
              <p:cNvSpPr/>
              <p:nvPr/>
            </p:nvSpPr>
            <p:spPr>
              <a:xfrm>
                <a:off x="10321916" y="1217139"/>
                <a:ext cx="1179211" cy="84574"/>
              </a:xfrm>
              <a:custGeom>
                <a:rect b="b" l="l" r="r" t="t"/>
                <a:pathLst>
                  <a:path extrusionOk="0" h="84574" w="1179211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" name="Google Shape;288;p21"/>
              <p:cNvSpPr/>
              <p:nvPr/>
            </p:nvSpPr>
            <p:spPr>
              <a:xfrm>
                <a:off x="11569754" y="1219314"/>
                <a:ext cx="152234" cy="132902"/>
              </a:xfrm>
              <a:custGeom>
                <a:rect b="b" l="l" r="r" t="t"/>
                <a:pathLst>
                  <a:path extrusionOk="0" h="132902" w="152234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89" name="Google Shape;289;p21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26000" wrap="square" tIns="54000">
            <a:noAutofit/>
          </a:bodyPr>
          <a:lstStyle>
            <a:lvl1pPr lvl="0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1pPr>
            <a:lvl2pPr lvl="1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2pPr>
            <a:lvl3pPr lvl="2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3pPr>
            <a:lvl4pPr lvl="3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4pPr>
            <a:lvl5pPr lvl="4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5pPr>
            <a:lvl6pPr lvl="5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6pPr>
            <a:lvl7pPr lvl="6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7pPr>
            <a:lvl8pPr lvl="7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8pPr>
            <a:lvl9pPr lvl="8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90" name="Google Shape;290;p21"/>
          <p:cNvSpPr txBox="1"/>
          <p:nvPr/>
        </p:nvSpPr>
        <p:spPr>
          <a:xfrm>
            <a:off x="521550" y="4880675"/>
            <a:ext cx="3978600" cy="5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000">
                <a:solidFill>
                  <a:schemeClr val="lt1"/>
                </a:solidFill>
              </a:rPr>
              <a:t>Data Science, Sommersemester 2026, vldatascience</a:t>
            </a:r>
            <a:r>
              <a:rPr b="1" lang="en-GB" sz="1000">
                <a:solidFill>
                  <a:srgbClr val="F3F3F3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@hhu.de</a:t>
            </a:r>
            <a:endParaRPr b="1"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569">
          <p15:clr>
            <a:srgbClr val="FBAE40"/>
          </p15:clr>
        </p15:guide>
        <p15:guide id="2" orient="horz" pos="1535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+ zwei Bilder">
  <p:cSld name="Titel + zwei Bilder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2"/>
          <p:cNvSpPr txBox="1"/>
          <p:nvPr>
            <p:ph type="title"/>
          </p:nvPr>
        </p:nvSpPr>
        <p:spPr>
          <a:xfrm>
            <a:off x="526594" y="330502"/>
            <a:ext cx="68268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22"/>
          <p:cNvSpPr txBox="1"/>
          <p:nvPr>
            <p:ph idx="1" type="body"/>
          </p:nvPr>
        </p:nvSpPr>
        <p:spPr>
          <a:xfrm>
            <a:off x="0" y="1420646"/>
            <a:ext cx="4544700" cy="348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5400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94" name="Google Shape;294;p22"/>
          <p:cNvSpPr txBox="1"/>
          <p:nvPr>
            <p:ph idx="2" type="body"/>
          </p:nvPr>
        </p:nvSpPr>
        <p:spPr>
          <a:xfrm>
            <a:off x="4599384" y="1420646"/>
            <a:ext cx="4544700" cy="348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5400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95" name="Google Shape;295;p22"/>
          <p:cNvSpPr txBox="1"/>
          <p:nvPr>
            <p:ph idx="3" type="body"/>
          </p:nvPr>
        </p:nvSpPr>
        <p:spPr>
          <a:xfrm>
            <a:off x="521494" y="1087042"/>
            <a:ext cx="81009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0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96" name="Google Shape;296;p22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26000" wrap="square" tIns="54000">
            <a:noAutofit/>
          </a:bodyPr>
          <a:lstStyle>
            <a:lvl1pPr lvl="0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1pPr>
            <a:lvl2pPr lvl="1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2pPr>
            <a:lvl3pPr lvl="2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3pPr>
            <a:lvl4pPr lvl="3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4pPr>
            <a:lvl5pPr lvl="4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5pPr>
            <a:lvl6pPr lvl="5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6pPr>
            <a:lvl7pPr lvl="6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7pPr>
            <a:lvl8pPr lvl="7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8pPr>
            <a:lvl9pPr lvl="8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863">
          <p15:clr>
            <a:srgbClr val="FBAE40"/>
          </p15:clr>
        </p15:guide>
        <p15:guide id="2" pos="2897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Überschrift + Bild groß">
  <p:cSld name="Überschrift + Bild groß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3"/>
          <p:cNvSpPr txBox="1"/>
          <p:nvPr>
            <p:ph type="title"/>
          </p:nvPr>
        </p:nvSpPr>
        <p:spPr>
          <a:xfrm>
            <a:off x="526594" y="330502"/>
            <a:ext cx="68268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23"/>
          <p:cNvSpPr txBox="1"/>
          <p:nvPr>
            <p:ph idx="1" type="body"/>
          </p:nvPr>
        </p:nvSpPr>
        <p:spPr>
          <a:xfrm>
            <a:off x="521494" y="1087042"/>
            <a:ext cx="81009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0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300" name="Google Shape;300;p23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26000" wrap="square" tIns="54000">
            <a:noAutofit/>
          </a:bodyPr>
          <a:lstStyle>
            <a:lvl1pPr lvl="0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1pPr>
            <a:lvl2pPr lvl="1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2pPr>
            <a:lvl3pPr lvl="2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3pPr>
            <a:lvl4pPr lvl="3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4pPr>
            <a:lvl5pPr lvl="4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5pPr>
            <a:lvl6pPr lvl="5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6pPr>
            <a:lvl7pPr lvl="6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7pPr>
            <a:lvl8pPr lvl="7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8pPr>
            <a:lvl9pPr lvl="8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1" name="Google Shape;301;p23"/>
          <p:cNvSpPr/>
          <p:nvPr>
            <p:ph idx="2" type="pic"/>
          </p:nvPr>
        </p:nvSpPr>
        <p:spPr>
          <a:xfrm>
            <a:off x="0" y="1434013"/>
            <a:ext cx="9144000" cy="3488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977">
          <p15:clr>
            <a:srgbClr val="FBAE40"/>
          </p15:clr>
        </p15:guide>
        <p15:guide id="2" orient="horz" pos="2012">
          <p15:clr>
            <a:srgbClr val="FBAE40"/>
          </p15:clr>
        </p15:guide>
        <p15:guide id="3" pos="2863">
          <p15:clr>
            <a:srgbClr val="FBAE40"/>
          </p15:clr>
        </p15:guide>
        <p15:guide id="4" pos="2897">
          <p15:clr>
            <a:srgbClr val="FBAE40"/>
          </p15:clr>
        </p15:guide>
        <p15:guide id="5" pos="1928">
          <p15:clr>
            <a:srgbClr val="FBAE40"/>
          </p15:clr>
        </p15:guide>
        <p15:guide id="6" pos="1894">
          <p15:clr>
            <a:srgbClr val="FBAE40"/>
          </p15:clr>
        </p15:guide>
        <p15:guide id="7" pos="958">
          <p15:clr>
            <a:srgbClr val="FBAE40"/>
          </p15:clr>
        </p15:guide>
        <p15:guide id="8" pos="924">
          <p15:clr>
            <a:srgbClr val="FBAE40"/>
          </p15:clr>
        </p15:guide>
        <p15:guide id="9" pos="4309">
          <p15:clr>
            <a:srgbClr val="FBAE40"/>
          </p15:clr>
        </p15:guide>
        <p15:guide id="10" pos="4343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apiteltrenner 1" showMasterSp="0">
  <p:cSld name="Kapiteltrenner 1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" name="Google Shape;303;p24"/>
          <p:cNvGrpSpPr/>
          <p:nvPr/>
        </p:nvGrpSpPr>
        <p:grpSpPr>
          <a:xfrm>
            <a:off x="-4877" y="4944919"/>
            <a:ext cx="9145385" cy="197882"/>
            <a:chOff x="-4877" y="4950860"/>
            <a:chExt cx="9145385" cy="198120"/>
          </a:xfrm>
        </p:grpSpPr>
        <p:sp>
          <p:nvSpPr>
            <p:cNvPr id="304" name="Google Shape;304;p24"/>
            <p:cNvSpPr/>
            <p:nvPr/>
          </p:nvSpPr>
          <p:spPr>
            <a:xfrm>
              <a:off x="-4877" y="4950860"/>
              <a:ext cx="480060" cy="198120"/>
            </a:xfrm>
            <a:custGeom>
              <a:rect b="b" l="l" r="r" t="t"/>
              <a:pathLst>
                <a:path extrusionOk="0" h="198120" w="914400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24"/>
            <p:cNvSpPr/>
            <p:nvPr/>
          </p:nvSpPr>
          <p:spPr>
            <a:xfrm>
              <a:off x="522288" y="4950860"/>
              <a:ext cx="8618220" cy="198120"/>
            </a:xfrm>
            <a:custGeom>
              <a:rect b="b" l="l" r="r" t="t"/>
              <a:pathLst>
                <a:path extrusionOk="0" h="198120" w="914400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24"/>
            <p:cNvSpPr txBox="1"/>
            <p:nvPr/>
          </p:nvSpPr>
          <p:spPr>
            <a:xfrm>
              <a:off x="8194726" y="4966101"/>
              <a:ext cx="449700" cy="1677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127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1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hhu.de</a:t>
              </a:r>
              <a:endParaRPr/>
            </a:p>
          </p:txBody>
        </p:sp>
      </p:grpSp>
      <p:sp>
        <p:nvSpPr>
          <p:cNvPr id="307" name="Google Shape;307;p24"/>
          <p:cNvSpPr txBox="1"/>
          <p:nvPr>
            <p:ph type="title"/>
          </p:nvPr>
        </p:nvSpPr>
        <p:spPr>
          <a:xfrm>
            <a:off x="3842920" y="3030801"/>
            <a:ext cx="4779600" cy="9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08" name="Google Shape;308;p24"/>
          <p:cNvPicPr preferRelativeResize="0"/>
          <p:nvPr/>
        </p:nvPicPr>
        <p:blipFill rotWithShape="1">
          <a:blip r:embed="rId2">
            <a:alphaModFix/>
          </a:blip>
          <a:srcRect b="17591" l="28921" r="0" t="8747"/>
          <a:stretch/>
        </p:blipFill>
        <p:spPr>
          <a:xfrm>
            <a:off x="0" y="0"/>
            <a:ext cx="3724291" cy="4915249"/>
          </a:xfrm>
          <a:custGeom>
            <a:rect b="b" l="l" r="r" t="t"/>
            <a:pathLst>
              <a:path extrusionOk="0" h="6597650" w="5015880">
                <a:moveTo>
                  <a:pt x="0" y="0"/>
                </a:moveTo>
                <a:lnTo>
                  <a:pt x="5015880" y="0"/>
                </a:lnTo>
                <a:lnTo>
                  <a:pt x="5015880" y="6597650"/>
                </a:lnTo>
                <a:lnTo>
                  <a:pt x="0" y="6597650"/>
                </a:lnTo>
                <a:close/>
              </a:path>
            </a:pathLst>
          </a:custGeom>
          <a:noFill/>
          <a:ln>
            <a:noFill/>
          </a:ln>
        </p:spPr>
      </p:pic>
      <p:grpSp>
        <p:nvGrpSpPr>
          <p:cNvPr id="309" name="Google Shape;309;p24"/>
          <p:cNvGrpSpPr/>
          <p:nvPr/>
        </p:nvGrpSpPr>
        <p:grpSpPr>
          <a:xfrm>
            <a:off x="7741433" y="393808"/>
            <a:ext cx="1050054" cy="620354"/>
            <a:chOff x="10321916" y="525077"/>
            <a:chExt cx="1400072" cy="827139"/>
          </a:xfrm>
        </p:grpSpPr>
        <p:grpSp>
          <p:nvGrpSpPr>
            <p:cNvPr id="310" name="Google Shape;310;p24"/>
            <p:cNvGrpSpPr/>
            <p:nvPr/>
          </p:nvGrpSpPr>
          <p:grpSpPr>
            <a:xfrm>
              <a:off x="10321916" y="525077"/>
              <a:ext cx="1179694" cy="575590"/>
              <a:chOff x="10321916" y="525077"/>
              <a:chExt cx="1179694" cy="575590"/>
            </a:xfrm>
          </p:grpSpPr>
          <p:sp>
            <p:nvSpPr>
              <p:cNvPr id="311" name="Google Shape;311;p24"/>
              <p:cNvSpPr/>
              <p:nvPr/>
            </p:nvSpPr>
            <p:spPr>
              <a:xfrm>
                <a:off x="11143981" y="639857"/>
                <a:ext cx="357629" cy="357629"/>
              </a:xfrm>
              <a:custGeom>
                <a:rect b="b" l="l" r="r" t="t"/>
                <a:pathLst>
                  <a:path extrusionOk="0" h="357629" w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" name="Google Shape;312;p24"/>
              <p:cNvSpPr/>
              <p:nvPr/>
            </p:nvSpPr>
            <p:spPr>
              <a:xfrm>
                <a:off x="10321916" y="525077"/>
                <a:ext cx="357629" cy="463952"/>
              </a:xfrm>
              <a:custGeom>
                <a:rect b="b" l="l" r="r" t="t"/>
                <a:pathLst>
                  <a:path extrusionOk="0" h="463952" w="357629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" name="Google Shape;313;p24"/>
              <p:cNvSpPr/>
              <p:nvPr/>
            </p:nvSpPr>
            <p:spPr>
              <a:xfrm>
                <a:off x="10734399" y="525077"/>
                <a:ext cx="357629" cy="463952"/>
              </a:xfrm>
              <a:custGeom>
                <a:rect b="b" l="l" r="r" t="t"/>
                <a:pathLst>
                  <a:path extrusionOk="0" h="463952" w="357629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" name="Google Shape;314;p24"/>
              <p:cNvSpPr/>
              <p:nvPr/>
            </p:nvSpPr>
            <p:spPr>
              <a:xfrm>
                <a:off x="10464001" y="1088585"/>
                <a:ext cx="12082" cy="12082"/>
              </a:xfrm>
              <a:custGeom>
                <a:rect b="b" l="l" r="r" t="t"/>
                <a:pathLst>
                  <a:path extrusionOk="0" h="12082" w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24"/>
              <p:cNvSpPr/>
              <p:nvPr/>
            </p:nvSpPr>
            <p:spPr>
              <a:xfrm>
                <a:off x="10610678" y="1088585"/>
                <a:ext cx="12082" cy="12082"/>
              </a:xfrm>
              <a:custGeom>
                <a:rect b="b" l="l" r="r" t="t"/>
                <a:pathLst>
                  <a:path extrusionOk="0" h="12082" w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24"/>
              <p:cNvSpPr/>
              <p:nvPr/>
            </p:nvSpPr>
            <p:spPr>
              <a:xfrm>
                <a:off x="10949701" y="1088585"/>
                <a:ext cx="12082" cy="12082"/>
              </a:xfrm>
              <a:custGeom>
                <a:rect b="b" l="l" r="r" t="t"/>
                <a:pathLst>
                  <a:path extrusionOk="0" h="12082" w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7" name="Google Shape;317;p24"/>
            <p:cNvSpPr/>
            <p:nvPr/>
          </p:nvSpPr>
          <p:spPr>
            <a:xfrm>
              <a:off x="10322158" y="1089069"/>
              <a:ext cx="57994" cy="77325"/>
            </a:xfrm>
            <a:custGeom>
              <a:rect b="b" l="l" r="r" t="t"/>
              <a:pathLst>
                <a:path extrusionOk="0" h="77325" w="57994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24"/>
            <p:cNvSpPr/>
            <p:nvPr/>
          </p:nvSpPr>
          <p:spPr>
            <a:xfrm>
              <a:off x="10399483" y="1110575"/>
              <a:ext cx="48328" cy="57994"/>
            </a:xfrm>
            <a:custGeom>
              <a:rect b="b" l="l" r="r" t="t"/>
              <a:pathLst>
                <a:path extrusionOk="0" h="57994" w="48328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24"/>
            <p:cNvSpPr/>
            <p:nvPr/>
          </p:nvSpPr>
          <p:spPr>
            <a:xfrm>
              <a:off x="10465451" y="1112266"/>
              <a:ext cx="9665" cy="53161"/>
            </a:xfrm>
            <a:custGeom>
              <a:rect b="b" l="l" r="r" t="t"/>
              <a:pathLst>
                <a:path extrusionOk="0" h="53161" w="9665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0" name="Google Shape;320;p24"/>
            <p:cNvGrpSpPr/>
            <p:nvPr/>
          </p:nvGrpSpPr>
          <p:grpSpPr>
            <a:xfrm>
              <a:off x="10496140" y="1110575"/>
              <a:ext cx="100522" cy="55818"/>
              <a:chOff x="10496140" y="1110575"/>
              <a:chExt cx="100522" cy="55818"/>
            </a:xfrm>
          </p:grpSpPr>
          <p:sp>
            <p:nvSpPr>
              <p:cNvPr id="321" name="Google Shape;321;p24"/>
              <p:cNvSpPr/>
              <p:nvPr/>
            </p:nvSpPr>
            <p:spPr>
              <a:xfrm>
                <a:off x="10496140" y="1110575"/>
                <a:ext cx="45911" cy="55577"/>
              </a:xfrm>
              <a:custGeom>
                <a:rect b="b" l="l" r="r" t="t"/>
                <a:pathLst>
                  <a:path extrusionOk="0" h="55577" w="45911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2" name="Google Shape;322;p24"/>
              <p:cNvSpPr/>
              <p:nvPr/>
            </p:nvSpPr>
            <p:spPr>
              <a:xfrm>
                <a:off x="10562833" y="1110816"/>
                <a:ext cx="33829" cy="55577"/>
              </a:xfrm>
              <a:custGeom>
                <a:rect b="b" l="l" r="r" t="t"/>
                <a:pathLst>
                  <a:path extrusionOk="0" h="55577" w="33829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23" name="Google Shape;323;p24"/>
            <p:cNvSpPr/>
            <p:nvPr/>
          </p:nvSpPr>
          <p:spPr>
            <a:xfrm>
              <a:off x="10612128" y="1112266"/>
              <a:ext cx="9665" cy="53161"/>
            </a:xfrm>
            <a:custGeom>
              <a:rect b="b" l="l" r="r" t="t"/>
              <a:pathLst>
                <a:path extrusionOk="0" h="53161" w="9665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4" name="Google Shape;324;p24"/>
            <p:cNvGrpSpPr/>
            <p:nvPr/>
          </p:nvGrpSpPr>
          <p:grpSpPr>
            <a:xfrm>
              <a:off x="10639675" y="1081336"/>
              <a:ext cx="105596" cy="87233"/>
              <a:chOff x="10639675" y="1081336"/>
              <a:chExt cx="105596" cy="87233"/>
            </a:xfrm>
          </p:grpSpPr>
          <p:sp>
            <p:nvSpPr>
              <p:cNvPr id="325" name="Google Shape;325;p24"/>
              <p:cNvSpPr/>
              <p:nvPr/>
            </p:nvSpPr>
            <p:spPr>
              <a:xfrm>
                <a:off x="10639675" y="1110575"/>
                <a:ext cx="45911" cy="57994"/>
              </a:xfrm>
              <a:custGeom>
                <a:rect b="b" l="l" r="r" t="t"/>
                <a:pathLst>
                  <a:path extrusionOk="0" h="57994" w="45911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" name="Google Shape;326;p24"/>
              <p:cNvSpPr/>
              <p:nvPr/>
            </p:nvSpPr>
            <p:spPr>
              <a:xfrm>
                <a:off x="10699360" y="1081336"/>
                <a:ext cx="45911" cy="84574"/>
              </a:xfrm>
              <a:custGeom>
                <a:rect b="b" l="l" r="r" t="t"/>
                <a:pathLst>
                  <a:path extrusionOk="0" h="84574" w="45911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27" name="Google Shape;327;p24"/>
            <p:cNvSpPr/>
            <p:nvPr/>
          </p:nvSpPr>
          <p:spPr>
            <a:xfrm>
              <a:off x="10808824" y="1089069"/>
              <a:ext cx="57994" cy="77325"/>
            </a:xfrm>
            <a:custGeom>
              <a:rect b="b" l="l" r="r" t="t"/>
              <a:pathLst>
                <a:path extrusionOk="0" h="77325" w="57994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24"/>
            <p:cNvSpPr/>
            <p:nvPr/>
          </p:nvSpPr>
          <p:spPr>
            <a:xfrm>
              <a:off x="10886391" y="1110575"/>
              <a:ext cx="48328" cy="57994"/>
            </a:xfrm>
            <a:custGeom>
              <a:rect b="b" l="l" r="r" t="t"/>
              <a:pathLst>
                <a:path extrusionOk="0" h="57994" w="48328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24"/>
            <p:cNvSpPr/>
            <p:nvPr/>
          </p:nvSpPr>
          <p:spPr>
            <a:xfrm>
              <a:off x="10951151" y="1112266"/>
              <a:ext cx="9665" cy="53161"/>
            </a:xfrm>
            <a:custGeom>
              <a:rect b="b" l="l" r="r" t="t"/>
              <a:pathLst>
                <a:path extrusionOk="0" h="53161" w="9665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0" name="Google Shape;330;p24"/>
            <p:cNvGrpSpPr/>
            <p:nvPr/>
          </p:nvGrpSpPr>
          <p:grpSpPr>
            <a:xfrm>
              <a:off x="10321916" y="1110575"/>
              <a:ext cx="1400072" cy="241641"/>
              <a:chOff x="10321916" y="1110575"/>
              <a:chExt cx="1400072" cy="241641"/>
            </a:xfrm>
          </p:grpSpPr>
          <p:sp>
            <p:nvSpPr>
              <p:cNvPr id="331" name="Google Shape;331;p24"/>
              <p:cNvSpPr/>
              <p:nvPr/>
            </p:nvSpPr>
            <p:spPr>
              <a:xfrm>
                <a:off x="10981840" y="1110575"/>
                <a:ext cx="45911" cy="55577"/>
              </a:xfrm>
              <a:custGeom>
                <a:rect b="b" l="l" r="r" t="t"/>
                <a:pathLst>
                  <a:path extrusionOk="0" h="55577" w="45911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" name="Google Shape;332;p24"/>
              <p:cNvSpPr/>
              <p:nvPr/>
            </p:nvSpPr>
            <p:spPr>
              <a:xfrm>
                <a:off x="11046358" y="1110575"/>
                <a:ext cx="48328" cy="57994"/>
              </a:xfrm>
              <a:custGeom>
                <a:rect b="b" l="l" r="r" t="t"/>
                <a:pathLst>
                  <a:path extrusionOk="0" h="57994" w="48328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33;p24"/>
              <p:cNvSpPr/>
              <p:nvPr/>
            </p:nvSpPr>
            <p:spPr>
              <a:xfrm>
                <a:off x="10321916" y="1217139"/>
                <a:ext cx="1179211" cy="84574"/>
              </a:xfrm>
              <a:custGeom>
                <a:rect b="b" l="l" r="r" t="t"/>
                <a:pathLst>
                  <a:path extrusionOk="0" h="84574" w="1179211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" name="Google Shape;334;p24"/>
              <p:cNvSpPr/>
              <p:nvPr/>
            </p:nvSpPr>
            <p:spPr>
              <a:xfrm>
                <a:off x="11569754" y="1219314"/>
                <a:ext cx="152234" cy="132902"/>
              </a:xfrm>
              <a:custGeom>
                <a:rect b="b" l="l" r="r" t="t"/>
                <a:pathLst>
                  <a:path extrusionOk="0" h="132902" w="152234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35" name="Google Shape;335;p24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26000" wrap="square" tIns="54000">
            <a:noAutofit/>
          </a:bodyPr>
          <a:lstStyle>
            <a:lvl1pPr lvl="0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1pPr>
            <a:lvl2pPr lvl="1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2pPr>
            <a:lvl3pPr lvl="2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3pPr>
            <a:lvl4pPr lvl="3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4pPr>
            <a:lvl5pPr lvl="4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5pPr>
            <a:lvl6pPr lvl="5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6pPr>
            <a:lvl7pPr lvl="6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7pPr>
            <a:lvl8pPr lvl="7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8pPr>
            <a:lvl9pPr lvl="8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36" name="Google Shape;336;p24"/>
          <p:cNvSpPr txBox="1"/>
          <p:nvPr/>
        </p:nvSpPr>
        <p:spPr>
          <a:xfrm>
            <a:off x="521550" y="4880675"/>
            <a:ext cx="3978600" cy="5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000">
                <a:solidFill>
                  <a:schemeClr val="lt1"/>
                </a:solidFill>
              </a:rPr>
              <a:t>Data Science, Sommersemester 2026, vldatascience</a:t>
            </a:r>
            <a:r>
              <a:rPr b="1" lang="en-GB" sz="1000">
                <a:solidFill>
                  <a:srgbClr val="F3F3F3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@hhu.de</a:t>
            </a:r>
            <a:endParaRPr b="1"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apiteltrenner 2" showMasterSp="0">
  <p:cSld name="Kapiteltrenner 2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8" name="Google Shape;338;p25"/>
          <p:cNvGrpSpPr/>
          <p:nvPr/>
        </p:nvGrpSpPr>
        <p:grpSpPr>
          <a:xfrm>
            <a:off x="-4877" y="4944919"/>
            <a:ext cx="9145385" cy="197882"/>
            <a:chOff x="-4877" y="4950860"/>
            <a:chExt cx="9145385" cy="198120"/>
          </a:xfrm>
        </p:grpSpPr>
        <p:sp>
          <p:nvSpPr>
            <p:cNvPr id="339" name="Google Shape;339;p25"/>
            <p:cNvSpPr/>
            <p:nvPr/>
          </p:nvSpPr>
          <p:spPr>
            <a:xfrm>
              <a:off x="-4877" y="4950860"/>
              <a:ext cx="480060" cy="198120"/>
            </a:xfrm>
            <a:custGeom>
              <a:rect b="b" l="l" r="r" t="t"/>
              <a:pathLst>
                <a:path extrusionOk="0" h="198120" w="914400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25"/>
            <p:cNvSpPr/>
            <p:nvPr/>
          </p:nvSpPr>
          <p:spPr>
            <a:xfrm>
              <a:off x="522288" y="4950860"/>
              <a:ext cx="8618220" cy="198120"/>
            </a:xfrm>
            <a:custGeom>
              <a:rect b="b" l="l" r="r" t="t"/>
              <a:pathLst>
                <a:path extrusionOk="0" h="198120" w="914400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25"/>
            <p:cNvSpPr txBox="1"/>
            <p:nvPr/>
          </p:nvSpPr>
          <p:spPr>
            <a:xfrm>
              <a:off x="8194726" y="4966101"/>
              <a:ext cx="449700" cy="1677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127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1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hhu.de</a:t>
              </a:r>
              <a:endParaRPr/>
            </a:p>
          </p:txBody>
        </p:sp>
      </p:grpSp>
      <p:sp>
        <p:nvSpPr>
          <p:cNvPr id="342" name="Google Shape;342;p25"/>
          <p:cNvSpPr txBox="1"/>
          <p:nvPr>
            <p:ph type="title"/>
          </p:nvPr>
        </p:nvSpPr>
        <p:spPr>
          <a:xfrm>
            <a:off x="3842920" y="3030801"/>
            <a:ext cx="4779600" cy="9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43" name="Google Shape;343;p25"/>
          <p:cNvGrpSpPr/>
          <p:nvPr/>
        </p:nvGrpSpPr>
        <p:grpSpPr>
          <a:xfrm>
            <a:off x="7741433" y="393808"/>
            <a:ext cx="1050054" cy="620354"/>
            <a:chOff x="10321916" y="525077"/>
            <a:chExt cx="1400072" cy="827139"/>
          </a:xfrm>
        </p:grpSpPr>
        <p:grpSp>
          <p:nvGrpSpPr>
            <p:cNvPr id="344" name="Google Shape;344;p25"/>
            <p:cNvGrpSpPr/>
            <p:nvPr/>
          </p:nvGrpSpPr>
          <p:grpSpPr>
            <a:xfrm>
              <a:off x="10321916" y="525077"/>
              <a:ext cx="1179694" cy="575590"/>
              <a:chOff x="10321916" y="525077"/>
              <a:chExt cx="1179694" cy="575590"/>
            </a:xfrm>
          </p:grpSpPr>
          <p:sp>
            <p:nvSpPr>
              <p:cNvPr id="345" name="Google Shape;345;p25"/>
              <p:cNvSpPr/>
              <p:nvPr/>
            </p:nvSpPr>
            <p:spPr>
              <a:xfrm>
                <a:off x="11143981" y="639857"/>
                <a:ext cx="357629" cy="357629"/>
              </a:xfrm>
              <a:custGeom>
                <a:rect b="b" l="l" r="r" t="t"/>
                <a:pathLst>
                  <a:path extrusionOk="0" h="357629" w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" name="Google Shape;346;p25"/>
              <p:cNvSpPr/>
              <p:nvPr/>
            </p:nvSpPr>
            <p:spPr>
              <a:xfrm>
                <a:off x="10321916" y="525077"/>
                <a:ext cx="357629" cy="463952"/>
              </a:xfrm>
              <a:custGeom>
                <a:rect b="b" l="l" r="r" t="t"/>
                <a:pathLst>
                  <a:path extrusionOk="0" h="463952" w="357629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7" name="Google Shape;347;p25"/>
              <p:cNvSpPr/>
              <p:nvPr/>
            </p:nvSpPr>
            <p:spPr>
              <a:xfrm>
                <a:off x="10734399" y="525077"/>
                <a:ext cx="357629" cy="463952"/>
              </a:xfrm>
              <a:custGeom>
                <a:rect b="b" l="l" r="r" t="t"/>
                <a:pathLst>
                  <a:path extrusionOk="0" h="463952" w="357629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8" name="Google Shape;348;p25"/>
              <p:cNvSpPr/>
              <p:nvPr/>
            </p:nvSpPr>
            <p:spPr>
              <a:xfrm>
                <a:off x="10464001" y="1088585"/>
                <a:ext cx="12082" cy="12082"/>
              </a:xfrm>
              <a:custGeom>
                <a:rect b="b" l="l" r="r" t="t"/>
                <a:pathLst>
                  <a:path extrusionOk="0" h="12082" w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" name="Google Shape;349;p25"/>
              <p:cNvSpPr/>
              <p:nvPr/>
            </p:nvSpPr>
            <p:spPr>
              <a:xfrm>
                <a:off x="10610678" y="1088585"/>
                <a:ext cx="12082" cy="12082"/>
              </a:xfrm>
              <a:custGeom>
                <a:rect b="b" l="l" r="r" t="t"/>
                <a:pathLst>
                  <a:path extrusionOk="0" h="12082" w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" name="Google Shape;350;p25"/>
              <p:cNvSpPr/>
              <p:nvPr/>
            </p:nvSpPr>
            <p:spPr>
              <a:xfrm>
                <a:off x="10949701" y="1088585"/>
                <a:ext cx="12082" cy="12082"/>
              </a:xfrm>
              <a:custGeom>
                <a:rect b="b" l="l" r="r" t="t"/>
                <a:pathLst>
                  <a:path extrusionOk="0" h="12082" w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51" name="Google Shape;351;p25"/>
            <p:cNvSpPr/>
            <p:nvPr/>
          </p:nvSpPr>
          <p:spPr>
            <a:xfrm>
              <a:off x="10322158" y="1089069"/>
              <a:ext cx="57994" cy="77325"/>
            </a:xfrm>
            <a:custGeom>
              <a:rect b="b" l="l" r="r" t="t"/>
              <a:pathLst>
                <a:path extrusionOk="0" h="77325" w="57994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25"/>
            <p:cNvSpPr/>
            <p:nvPr/>
          </p:nvSpPr>
          <p:spPr>
            <a:xfrm>
              <a:off x="10399483" y="1110575"/>
              <a:ext cx="48328" cy="57994"/>
            </a:xfrm>
            <a:custGeom>
              <a:rect b="b" l="l" r="r" t="t"/>
              <a:pathLst>
                <a:path extrusionOk="0" h="57994" w="48328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25"/>
            <p:cNvSpPr/>
            <p:nvPr/>
          </p:nvSpPr>
          <p:spPr>
            <a:xfrm>
              <a:off x="10465451" y="1112266"/>
              <a:ext cx="9665" cy="53161"/>
            </a:xfrm>
            <a:custGeom>
              <a:rect b="b" l="l" r="r" t="t"/>
              <a:pathLst>
                <a:path extrusionOk="0" h="53161" w="9665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4" name="Google Shape;354;p25"/>
            <p:cNvGrpSpPr/>
            <p:nvPr/>
          </p:nvGrpSpPr>
          <p:grpSpPr>
            <a:xfrm>
              <a:off x="10496140" y="1110575"/>
              <a:ext cx="100522" cy="55818"/>
              <a:chOff x="10496140" y="1110575"/>
              <a:chExt cx="100522" cy="55818"/>
            </a:xfrm>
          </p:grpSpPr>
          <p:sp>
            <p:nvSpPr>
              <p:cNvPr id="355" name="Google Shape;355;p25"/>
              <p:cNvSpPr/>
              <p:nvPr/>
            </p:nvSpPr>
            <p:spPr>
              <a:xfrm>
                <a:off x="10496140" y="1110575"/>
                <a:ext cx="45911" cy="55577"/>
              </a:xfrm>
              <a:custGeom>
                <a:rect b="b" l="l" r="r" t="t"/>
                <a:pathLst>
                  <a:path extrusionOk="0" h="55577" w="45911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25"/>
              <p:cNvSpPr/>
              <p:nvPr/>
            </p:nvSpPr>
            <p:spPr>
              <a:xfrm>
                <a:off x="10562833" y="1110816"/>
                <a:ext cx="33829" cy="55577"/>
              </a:xfrm>
              <a:custGeom>
                <a:rect b="b" l="l" r="r" t="t"/>
                <a:pathLst>
                  <a:path extrusionOk="0" h="55577" w="33829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57" name="Google Shape;357;p25"/>
            <p:cNvSpPr/>
            <p:nvPr/>
          </p:nvSpPr>
          <p:spPr>
            <a:xfrm>
              <a:off x="10612128" y="1112266"/>
              <a:ext cx="9665" cy="53161"/>
            </a:xfrm>
            <a:custGeom>
              <a:rect b="b" l="l" r="r" t="t"/>
              <a:pathLst>
                <a:path extrusionOk="0" h="53161" w="9665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8" name="Google Shape;358;p25"/>
            <p:cNvGrpSpPr/>
            <p:nvPr/>
          </p:nvGrpSpPr>
          <p:grpSpPr>
            <a:xfrm>
              <a:off x="10639675" y="1081336"/>
              <a:ext cx="105596" cy="87233"/>
              <a:chOff x="10639675" y="1081336"/>
              <a:chExt cx="105596" cy="87233"/>
            </a:xfrm>
          </p:grpSpPr>
          <p:sp>
            <p:nvSpPr>
              <p:cNvPr id="359" name="Google Shape;359;p25"/>
              <p:cNvSpPr/>
              <p:nvPr/>
            </p:nvSpPr>
            <p:spPr>
              <a:xfrm>
                <a:off x="10639675" y="1110575"/>
                <a:ext cx="45911" cy="57994"/>
              </a:xfrm>
              <a:custGeom>
                <a:rect b="b" l="l" r="r" t="t"/>
                <a:pathLst>
                  <a:path extrusionOk="0" h="57994" w="45911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" name="Google Shape;360;p25"/>
              <p:cNvSpPr/>
              <p:nvPr/>
            </p:nvSpPr>
            <p:spPr>
              <a:xfrm>
                <a:off x="10699360" y="1081336"/>
                <a:ext cx="45911" cy="84574"/>
              </a:xfrm>
              <a:custGeom>
                <a:rect b="b" l="l" r="r" t="t"/>
                <a:pathLst>
                  <a:path extrusionOk="0" h="84574" w="45911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61" name="Google Shape;361;p25"/>
            <p:cNvSpPr/>
            <p:nvPr/>
          </p:nvSpPr>
          <p:spPr>
            <a:xfrm>
              <a:off x="10808824" y="1089069"/>
              <a:ext cx="57994" cy="77325"/>
            </a:xfrm>
            <a:custGeom>
              <a:rect b="b" l="l" r="r" t="t"/>
              <a:pathLst>
                <a:path extrusionOk="0" h="77325" w="57994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25"/>
            <p:cNvSpPr/>
            <p:nvPr/>
          </p:nvSpPr>
          <p:spPr>
            <a:xfrm>
              <a:off x="10886391" y="1110575"/>
              <a:ext cx="48328" cy="57994"/>
            </a:xfrm>
            <a:custGeom>
              <a:rect b="b" l="l" r="r" t="t"/>
              <a:pathLst>
                <a:path extrusionOk="0" h="57994" w="48328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25"/>
            <p:cNvSpPr/>
            <p:nvPr/>
          </p:nvSpPr>
          <p:spPr>
            <a:xfrm>
              <a:off x="10951151" y="1112266"/>
              <a:ext cx="9665" cy="53161"/>
            </a:xfrm>
            <a:custGeom>
              <a:rect b="b" l="l" r="r" t="t"/>
              <a:pathLst>
                <a:path extrusionOk="0" h="53161" w="9665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4" name="Google Shape;364;p25"/>
            <p:cNvGrpSpPr/>
            <p:nvPr/>
          </p:nvGrpSpPr>
          <p:grpSpPr>
            <a:xfrm>
              <a:off x="10321916" y="1110575"/>
              <a:ext cx="1400072" cy="241641"/>
              <a:chOff x="10321916" y="1110575"/>
              <a:chExt cx="1400072" cy="241641"/>
            </a:xfrm>
          </p:grpSpPr>
          <p:sp>
            <p:nvSpPr>
              <p:cNvPr id="365" name="Google Shape;365;p25"/>
              <p:cNvSpPr/>
              <p:nvPr/>
            </p:nvSpPr>
            <p:spPr>
              <a:xfrm>
                <a:off x="10981840" y="1110575"/>
                <a:ext cx="45911" cy="55577"/>
              </a:xfrm>
              <a:custGeom>
                <a:rect b="b" l="l" r="r" t="t"/>
                <a:pathLst>
                  <a:path extrusionOk="0" h="55577" w="45911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" name="Google Shape;366;p25"/>
              <p:cNvSpPr/>
              <p:nvPr/>
            </p:nvSpPr>
            <p:spPr>
              <a:xfrm>
                <a:off x="11046358" y="1110575"/>
                <a:ext cx="48328" cy="57994"/>
              </a:xfrm>
              <a:custGeom>
                <a:rect b="b" l="l" r="r" t="t"/>
                <a:pathLst>
                  <a:path extrusionOk="0" h="57994" w="48328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7" name="Google Shape;367;p25"/>
              <p:cNvSpPr/>
              <p:nvPr/>
            </p:nvSpPr>
            <p:spPr>
              <a:xfrm>
                <a:off x="10321916" y="1217139"/>
                <a:ext cx="1179211" cy="84574"/>
              </a:xfrm>
              <a:custGeom>
                <a:rect b="b" l="l" r="r" t="t"/>
                <a:pathLst>
                  <a:path extrusionOk="0" h="84574" w="1179211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25"/>
              <p:cNvSpPr/>
              <p:nvPr/>
            </p:nvSpPr>
            <p:spPr>
              <a:xfrm>
                <a:off x="11569754" y="1219314"/>
                <a:ext cx="152234" cy="132902"/>
              </a:xfrm>
              <a:custGeom>
                <a:rect b="b" l="l" r="r" t="t"/>
                <a:pathLst>
                  <a:path extrusionOk="0" h="132902" w="152234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69" name="Google Shape;369;p25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26000" wrap="square" tIns="54000">
            <a:noAutofit/>
          </a:bodyPr>
          <a:lstStyle>
            <a:lvl1pPr lvl="0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1pPr>
            <a:lvl2pPr lvl="1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2pPr>
            <a:lvl3pPr lvl="2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3pPr>
            <a:lvl4pPr lvl="3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4pPr>
            <a:lvl5pPr lvl="4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5pPr>
            <a:lvl6pPr lvl="5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6pPr>
            <a:lvl7pPr lvl="6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7pPr>
            <a:lvl8pPr lvl="7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8pPr>
            <a:lvl9pPr lvl="8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0" name="Google Shape;370;p25"/>
          <p:cNvSpPr txBox="1"/>
          <p:nvPr/>
        </p:nvSpPr>
        <p:spPr>
          <a:xfrm>
            <a:off x="521550" y="4880675"/>
            <a:ext cx="3978600" cy="5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000">
                <a:solidFill>
                  <a:schemeClr val="lt1"/>
                </a:solidFill>
              </a:rPr>
              <a:t>Data Science, Sommersemester 2026, vldatascience</a:t>
            </a:r>
            <a:r>
              <a:rPr b="1" lang="en-GB" sz="1000">
                <a:solidFill>
                  <a:srgbClr val="F3F3F3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@hhu.de</a:t>
            </a:r>
            <a:endParaRPr b="1"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folie 2" showMasterSp="0">
  <p:cSld name="Titelfolie 2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" name="Google Shape;372;p26"/>
          <p:cNvGrpSpPr/>
          <p:nvPr/>
        </p:nvGrpSpPr>
        <p:grpSpPr>
          <a:xfrm>
            <a:off x="-4877" y="4944919"/>
            <a:ext cx="9145385" cy="197882"/>
            <a:chOff x="-4877" y="4950860"/>
            <a:chExt cx="9145385" cy="198120"/>
          </a:xfrm>
        </p:grpSpPr>
        <p:sp>
          <p:nvSpPr>
            <p:cNvPr id="373" name="Google Shape;373;p26"/>
            <p:cNvSpPr/>
            <p:nvPr/>
          </p:nvSpPr>
          <p:spPr>
            <a:xfrm>
              <a:off x="-4877" y="4950860"/>
              <a:ext cx="480060" cy="198120"/>
            </a:xfrm>
            <a:custGeom>
              <a:rect b="b" l="l" r="r" t="t"/>
              <a:pathLst>
                <a:path extrusionOk="0" h="198120" w="914400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26"/>
            <p:cNvSpPr/>
            <p:nvPr/>
          </p:nvSpPr>
          <p:spPr>
            <a:xfrm>
              <a:off x="522288" y="4950860"/>
              <a:ext cx="8618220" cy="198120"/>
            </a:xfrm>
            <a:custGeom>
              <a:rect b="b" l="l" r="r" t="t"/>
              <a:pathLst>
                <a:path extrusionOk="0" h="198120" w="914400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26"/>
            <p:cNvSpPr txBox="1"/>
            <p:nvPr/>
          </p:nvSpPr>
          <p:spPr>
            <a:xfrm>
              <a:off x="8194726" y="4966101"/>
              <a:ext cx="449700" cy="16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127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1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hhu.de</a:t>
              </a:r>
              <a:endParaRPr/>
            </a:p>
          </p:txBody>
        </p:sp>
      </p:grpSp>
      <p:sp>
        <p:nvSpPr>
          <p:cNvPr id="376" name="Google Shape;376;p26"/>
          <p:cNvSpPr/>
          <p:nvPr/>
        </p:nvSpPr>
        <p:spPr>
          <a:xfrm>
            <a:off x="1" y="1420646"/>
            <a:ext cx="3171307" cy="3491843"/>
          </a:xfrm>
          <a:custGeom>
            <a:rect b="b" l="l" r="r" t="t"/>
            <a:pathLst>
              <a:path extrusionOk="0" h="4702819" w="4271120">
                <a:moveTo>
                  <a:pt x="3773588" y="3280579"/>
                </a:moveTo>
                <a:cubicBezTo>
                  <a:pt x="3773588" y="3280579"/>
                  <a:pt x="3730105" y="3343276"/>
                  <a:pt x="3717970" y="3393838"/>
                </a:cubicBezTo>
                <a:cubicBezTo>
                  <a:pt x="3745273" y="3430243"/>
                  <a:pt x="3753363" y="3442378"/>
                  <a:pt x="3755385" y="3541480"/>
                </a:cubicBezTo>
                <a:cubicBezTo>
                  <a:pt x="3755385" y="3549570"/>
                  <a:pt x="3745273" y="3551593"/>
                  <a:pt x="3742240" y="3544514"/>
                </a:cubicBezTo>
                <a:cubicBezTo>
                  <a:pt x="3714936" y="3479795"/>
                  <a:pt x="3663363" y="3420131"/>
                  <a:pt x="3594598" y="3403951"/>
                </a:cubicBezTo>
                <a:cubicBezTo>
                  <a:pt x="3610778" y="3321029"/>
                  <a:pt x="3667408" y="3281590"/>
                  <a:pt x="3773588" y="3280579"/>
                </a:cubicBezTo>
                <a:close/>
                <a:moveTo>
                  <a:pt x="3937409" y="2981250"/>
                </a:moveTo>
                <a:cubicBezTo>
                  <a:pt x="3924264" y="3035858"/>
                  <a:pt x="3891904" y="3080352"/>
                  <a:pt x="3833252" y="3118780"/>
                </a:cubicBezTo>
                <a:cubicBezTo>
                  <a:pt x="3598643" y="3075297"/>
                  <a:pt x="3669430" y="3152151"/>
                  <a:pt x="3480327" y="3142039"/>
                </a:cubicBezTo>
                <a:cubicBezTo>
                  <a:pt x="3479316" y="3127881"/>
                  <a:pt x="3479316" y="3081364"/>
                  <a:pt x="3488417" y="3070240"/>
                </a:cubicBezTo>
                <a:cubicBezTo>
                  <a:pt x="3640104" y="3123836"/>
                  <a:pt x="3659318" y="3035858"/>
                  <a:pt x="3802914" y="3008554"/>
                </a:cubicBezTo>
                <a:cubicBezTo>
                  <a:pt x="3851454" y="2999453"/>
                  <a:pt x="3909095" y="2995408"/>
                  <a:pt x="3937409" y="2981250"/>
                </a:cubicBezTo>
                <a:close/>
                <a:moveTo>
                  <a:pt x="1530647" y="2816671"/>
                </a:moveTo>
                <a:cubicBezTo>
                  <a:pt x="1533681" y="2815912"/>
                  <a:pt x="1537220" y="2816924"/>
                  <a:pt x="1538737" y="2820463"/>
                </a:cubicBezTo>
                <a:cubicBezTo>
                  <a:pt x="1704581" y="3184511"/>
                  <a:pt x="1838065" y="3351366"/>
                  <a:pt x="1944246" y="3409008"/>
                </a:cubicBezTo>
                <a:cubicBezTo>
                  <a:pt x="2164698" y="3528335"/>
                  <a:pt x="3031334" y="3856989"/>
                  <a:pt x="3606733" y="3913618"/>
                </a:cubicBezTo>
                <a:cubicBezTo>
                  <a:pt x="3614823" y="3913618"/>
                  <a:pt x="3615834" y="3924742"/>
                  <a:pt x="3607744" y="3926765"/>
                </a:cubicBezTo>
                <a:cubicBezTo>
                  <a:pt x="3352910" y="3984405"/>
                  <a:pt x="2663241" y="3916653"/>
                  <a:pt x="2423576" y="3894405"/>
                </a:cubicBezTo>
                <a:cubicBezTo>
                  <a:pt x="2159641" y="3869123"/>
                  <a:pt x="2078741" y="3805416"/>
                  <a:pt x="2077731" y="3806426"/>
                </a:cubicBezTo>
                <a:cubicBezTo>
                  <a:pt x="1903797" y="3672942"/>
                  <a:pt x="1564018" y="3144061"/>
                  <a:pt x="1525591" y="2823496"/>
                </a:cubicBezTo>
                <a:cubicBezTo>
                  <a:pt x="1525085" y="2819957"/>
                  <a:pt x="1527613" y="2817429"/>
                  <a:pt x="1530647" y="2816671"/>
                </a:cubicBezTo>
                <a:close/>
                <a:moveTo>
                  <a:pt x="3996062" y="2605067"/>
                </a:moveTo>
                <a:cubicBezTo>
                  <a:pt x="4069883" y="2597989"/>
                  <a:pt x="4190221" y="2621247"/>
                  <a:pt x="4271120" y="2676866"/>
                </a:cubicBezTo>
                <a:cubicBezTo>
                  <a:pt x="4252918" y="2737541"/>
                  <a:pt x="4086063" y="2706192"/>
                  <a:pt x="4008197" y="2693046"/>
                </a:cubicBezTo>
                <a:cubicBezTo>
                  <a:pt x="3953589" y="2684955"/>
                  <a:pt x="3889881" y="2681922"/>
                  <a:pt x="3829207" y="2680911"/>
                </a:cubicBezTo>
                <a:cubicBezTo>
                  <a:pt x="3777633" y="2679899"/>
                  <a:pt x="3693700" y="2671810"/>
                  <a:pt x="3670441" y="2642484"/>
                </a:cubicBezTo>
                <a:cubicBezTo>
                  <a:pt x="3719992" y="2647540"/>
                  <a:pt x="3843364" y="2620237"/>
                  <a:pt x="3996062" y="2605067"/>
                </a:cubicBezTo>
                <a:close/>
                <a:moveTo>
                  <a:pt x="3443991" y="1373753"/>
                </a:moveTo>
                <a:cubicBezTo>
                  <a:pt x="3569601" y="1369611"/>
                  <a:pt x="3697113" y="1404594"/>
                  <a:pt x="3808982" y="1505845"/>
                </a:cubicBezTo>
                <a:cubicBezTo>
                  <a:pt x="3760442" y="1576632"/>
                  <a:pt x="3761453" y="1685847"/>
                  <a:pt x="3766510" y="1714160"/>
                </a:cubicBezTo>
                <a:cubicBezTo>
                  <a:pt x="3739205" y="1705060"/>
                  <a:pt x="3695722" y="1653485"/>
                  <a:pt x="3673475" y="1626182"/>
                </a:cubicBezTo>
                <a:cubicBezTo>
                  <a:pt x="3582463" y="1677757"/>
                  <a:pt x="3486394" y="1844611"/>
                  <a:pt x="3503586" y="1940680"/>
                </a:cubicBezTo>
                <a:cubicBezTo>
                  <a:pt x="3512687" y="2019557"/>
                  <a:pt x="3455046" y="2031692"/>
                  <a:pt x="3349877" y="1900230"/>
                </a:cubicBezTo>
                <a:cubicBezTo>
                  <a:pt x="3299315" y="1936634"/>
                  <a:pt x="3250775" y="1870904"/>
                  <a:pt x="3263920" y="1778881"/>
                </a:cubicBezTo>
                <a:cubicBezTo>
                  <a:pt x="3182010" y="1864836"/>
                  <a:pt x="2961559" y="1908320"/>
                  <a:pt x="2886727" y="1881016"/>
                </a:cubicBezTo>
                <a:cubicBezTo>
                  <a:pt x="3034368" y="1838544"/>
                  <a:pt x="3254820" y="1604947"/>
                  <a:pt x="3400439" y="1585733"/>
                </a:cubicBezTo>
                <a:cubicBezTo>
                  <a:pt x="3282123" y="1528092"/>
                  <a:pt x="3076841" y="1513935"/>
                  <a:pt x="2921109" y="1605957"/>
                </a:cubicBezTo>
                <a:cubicBezTo>
                  <a:pt x="2914030" y="1610002"/>
                  <a:pt x="2906951" y="1599890"/>
                  <a:pt x="2913019" y="1594835"/>
                </a:cubicBezTo>
                <a:cubicBezTo>
                  <a:pt x="3030576" y="1496238"/>
                  <a:pt x="3234642" y="1380656"/>
                  <a:pt x="3443991" y="1373753"/>
                </a:cubicBezTo>
                <a:close/>
                <a:moveTo>
                  <a:pt x="0" y="0"/>
                </a:moveTo>
                <a:lnTo>
                  <a:pt x="115292" y="0"/>
                </a:lnTo>
                <a:lnTo>
                  <a:pt x="274676" y="0"/>
                </a:lnTo>
                <a:lnTo>
                  <a:pt x="3942724" y="0"/>
                </a:lnTo>
                <a:lnTo>
                  <a:pt x="3939432" y="53696"/>
                </a:lnTo>
                <a:cubicBezTo>
                  <a:pt x="3926286" y="139653"/>
                  <a:pt x="3890892" y="219541"/>
                  <a:pt x="3684598" y="334822"/>
                </a:cubicBezTo>
                <a:cubicBezTo>
                  <a:pt x="3918196" y="331789"/>
                  <a:pt x="3971792" y="185158"/>
                  <a:pt x="3981904" y="155833"/>
                </a:cubicBezTo>
                <a:cubicBezTo>
                  <a:pt x="4027411" y="317632"/>
                  <a:pt x="3993028" y="404599"/>
                  <a:pt x="3993028" y="404599"/>
                </a:cubicBezTo>
                <a:cubicBezTo>
                  <a:pt x="3940444" y="578533"/>
                  <a:pt x="3623924" y="771681"/>
                  <a:pt x="3433810" y="635163"/>
                </a:cubicBezTo>
                <a:cubicBezTo>
                  <a:pt x="2893805" y="156844"/>
                  <a:pt x="3099088" y="642242"/>
                  <a:pt x="2283013" y="464262"/>
                </a:cubicBezTo>
                <a:cubicBezTo>
                  <a:pt x="2277957" y="463251"/>
                  <a:pt x="2278968" y="455161"/>
                  <a:pt x="2284025" y="455161"/>
                </a:cubicBezTo>
                <a:cubicBezTo>
                  <a:pt x="2601556" y="444037"/>
                  <a:pt x="2854367" y="256957"/>
                  <a:pt x="2959536" y="115383"/>
                </a:cubicBezTo>
                <a:cubicBezTo>
                  <a:pt x="2963581" y="109315"/>
                  <a:pt x="2955491" y="101225"/>
                  <a:pt x="2949424" y="107293"/>
                </a:cubicBezTo>
                <a:cubicBezTo>
                  <a:pt x="2789647" y="273137"/>
                  <a:pt x="2362902" y="477408"/>
                  <a:pt x="1789525" y="314598"/>
                </a:cubicBezTo>
                <a:cubicBezTo>
                  <a:pt x="1719750" y="288306"/>
                  <a:pt x="1577164" y="254935"/>
                  <a:pt x="1564018" y="251900"/>
                </a:cubicBezTo>
                <a:cubicBezTo>
                  <a:pt x="1542782" y="245833"/>
                  <a:pt x="1554917" y="262013"/>
                  <a:pt x="1554917" y="262013"/>
                </a:cubicBezTo>
                <a:cubicBezTo>
                  <a:pt x="2567173" y="576510"/>
                  <a:pt x="2389194" y="907188"/>
                  <a:pt x="2389194" y="907188"/>
                </a:cubicBezTo>
                <a:cubicBezTo>
                  <a:pt x="2370992" y="796962"/>
                  <a:pt x="2292115" y="689770"/>
                  <a:pt x="2159641" y="613927"/>
                </a:cubicBezTo>
                <a:cubicBezTo>
                  <a:pt x="2258743" y="732242"/>
                  <a:pt x="2255710" y="818197"/>
                  <a:pt x="2255710" y="818197"/>
                </a:cubicBezTo>
                <a:cubicBezTo>
                  <a:pt x="2256721" y="837412"/>
                  <a:pt x="2256721" y="904154"/>
                  <a:pt x="2248631" y="897075"/>
                </a:cubicBezTo>
                <a:cubicBezTo>
                  <a:pt x="2238518" y="886963"/>
                  <a:pt x="2210203" y="755501"/>
                  <a:pt x="2071663" y="706960"/>
                </a:cubicBezTo>
                <a:cubicBezTo>
                  <a:pt x="2049416" y="701905"/>
                  <a:pt x="2063573" y="718085"/>
                  <a:pt x="2063573" y="718085"/>
                </a:cubicBezTo>
                <a:cubicBezTo>
                  <a:pt x="2150540" y="841456"/>
                  <a:pt x="2086831" y="984043"/>
                  <a:pt x="1981662" y="1090223"/>
                </a:cubicBezTo>
                <a:cubicBezTo>
                  <a:pt x="1992786" y="1084155"/>
                  <a:pt x="2003909" y="1077077"/>
                  <a:pt x="2015034" y="1068987"/>
                </a:cubicBezTo>
                <a:cubicBezTo>
                  <a:pt x="2088854" y="1009323"/>
                  <a:pt x="2150540" y="961794"/>
                  <a:pt x="2152563" y="876851"/>
                </a:cubicBezTo>
                <a:cubicBezTo>
                  <a:pt x="2152563" y="848535"/>
                  <a:pt x="2189978" y="899097"/>
                  <a:pt x="2193013" y="935503"/>
                </a:cubicBezTo>
                <a:cubicBezTo>
                  <a:pt x="2190990" y="1046740"/>
                  <a:pt x="2126271" y="1094268"/>
                  <a:pt x="2042337" y="1153931"/>
                </a:cubicBezTo>
                <a:cubicBezTo>
                  <a:pt x="1941212" y="1225730"/>
                  <a:pt x="1609524" y="1394608"/>
                  <a:pt x="1195925" y="1315731"/>
                </a:cubicBezTo>
                <a:cubicBezTo>
                  <a:pt x="1484130" y="1399664"/>
                  <a:pt x="1645929" y="1362248"/>
                  <a:pt x="1759188" y="1329888"/>
                </a:cubicBezTo>
                <a:cubicBezTo>
                  <a:pt x="1763233" y="1328876"/>
                  <a:pt x="1766267" y="1334944"/>
                  <a:pt x="1762222" y="1336967"/>
                </a:cubicBezTo>
                <a:cubicBezTo>
                  <a:pt x="1691435" y="1385506"/>
                  <a:pt x="1611546" y="1409776"/>
                  <a:pt x="1303117" y="1458316"/>
                </a:cubicBezTo>
                <a:cubicBezTo>
                  <a:pt x="1585254" y="1480563"/>
                  <a:pt x="1740986" y="1459328"/>
                  <a:pt x="1879527" y="1385506"/>
                </a:cubicBezTo>
                <a:cubicBezTo>
                  <a:pt x="1882560" y="1383484"/>
                  <a:pt x="1885594" y="1387529"/>
                  <a:pt x="1882560" y="1389551"/>
                </a:cubicBezTo>
                <a:cubicBezTo>
                  <a:pt x="1799638" y="1452248"/>
                  <a:pt x="1517501" y="1619104"/>
                  <a:pt x="1158509" y="1608992"/>
                </a:cubicBezTo>
                <a:cubicBezTo>
                  <a:pt x="1213116" y="1658542"/>
                  <a:pt x="1464916" y="1649442"/>
                  <a:pt x="1500309" y="1648430"/>
                </a:cubicBezTo>
                <a:cubicBezTo>
                  <a:pt x="1502332" y="1648430"/>
                  <a:pt x="1503344" y="1650453"/>
                  <a:pt x="1502332" y="1651464"/>
                </a:cubicBezTo>
                <a:cubicBezTo>
                  <a:pt x="1450759" y="1717194"/>
                  <a:pt x="1323342" y="1726296"/>
                  <a:pt x="1323342" y="1726296"/>
                </a:cubicBezTo>
                <a:cubicBezTo>
                  <a:pt x="1347612" y="1731352"/>
                  <a:pt x="1368848" y="1736409"/>
                  <a:pt x="1387050" y="1741465"/>
                </a:cubicBezTo>
                <a:cubicBezTo>
                  <a:pt x="1405252" y="1745509"/>
                  <a:pt x="1424467" y="1748544"/>
                  <a:pt x="1442669" y="1750566"/>
                </a:cubicBezTo>
                <a:cubicBezTo>
                  <a:pt x="1624693" y="1761689"/>
                  <a:pt x="1816830" y="1717194"/>
                  <a:pt x="1983684" y="1635284"/>
                </a:cubicBezTo>
                <a:cubicBezTo>
                  <a:pt x="1989752" y="1632250"/>
                  <a:pt x="2041326" y="1604947"/>
                  <a:pt x="2041326" y="1604947"/>
                </a:cubicBezTo>
                <a:cubicBezTo>
                  <a:pt x="2046382" y="1641352"/>
                  <a:pt x="2021101" y="1692925"/>
                  <a:pt x="1993797" y="1723262"/>
                </a:cubicBezTo>
                <a:cubicBezTo>
                  <a:pt x="1962449" y="1757644"/>
                  <a:pt x="1921999" y="1780903"/>
                  <a:pt x="1881549" y="1801128"/>
                </a:cubicBezTo>
                <a:cubicBezTo>
                  <a:pt x="1892672" y="1818319"/>
                  <a:pt x="1875482" y="1856746"/>
                  <a:pt x="1868403" y="1865847"/>
                </a:cubicBezTo>
                <a:cubicBezTo>
                  <a:pt x="1612558" y="2185401"/>
                  <a:pt x="1001766" y="1993265"/>
                  <a:pt x="1001766" y="1993265"/>
                </a:cubicBezTo>
                <a:cubicBezTo>
                  <a:pt x="1001766" y="1993265"/>
                  <a:pt x="1000754" y="1993265"/>
                  <a:pt x="999744" y="1993265"/>
                </a:cubicBezTo>
                <a:cubicBezTo>
                  <a:pt x="1145363" y="2093377"/>
                  <a:pt x="1362780" y="2123715"/>
                  <a:pt x="1477051" y="2115625"/>
                </a:cubicBezTo>
                <a:cubicBezTo>
                  <a:pt x="1479074" y="2115625"/>
                  <a:pt x="1480085" y="2117648"/>
                  <a:pt x="1478062" y="2118658"/>
                </a:cubicBezTo>
                <a:cubicBezTo>
                  <a:pt x="1447725" y="2137873"/>
                  <a:pt x="1347612" y="2158097"/>
                  <a:pt x="1337500" y="2160120"/>
                </a:cubicBezTo>
                <a:cubicBezTo>
                  <a:pt x="1571097" y="2180345"/>
                  <a:pt x="1753121" y="2096412"/>
                  <a:pt x="1830987" y="2044838"/>
                </a:cubicBezTo>
                <a:cubicBezTo>
                  <a:pt x="1837055" y="2040793"/>
                  <a:pt x="1845144" y="2048883"/>
                  <a:pt x="1840088" y="2054950"/>
                </a:cubicBezTo>
                <a:cubicBezTo>
                  <a:pt x="1765256" y="2154052"/>
                  <a:pt x="1717728" y="2182367"/>
                  <a:pt x="1610536" y="2209670"/>
                </a:cubicBezTo>
                <a:cubicBezTo>
                  <a:pt x="1399185" y="2261244"/>
                  <a:pt x="1159521" y="2246076"/>
                  <a:pt x="970417" y="2143940"/>
                </a:cubicBezTo>
                <a:cubicBezTo>
                  <a:pt x="1170644" y="2526190"/>
                  <a:pt x="1447725" y="2465516"/>
                  <a:pt x="1531659" y="2446302"/>
                </a:cubicBezTo>
                <a:cubicBezTo>
                  <a:pt x="1427500" y="2605067"/>
                  <a:pt x="1220195" y="2650574"/>
                  <a:pt x="1040194" y="2520123"/>
                </a:cubicBezTo>
                <a:cubicBezTo>
                  <a:pt x="1030081" y="2513044"/>
                  <a:pt x="1021991" y="2504955"/>
                  <a:pt x="1012890" y="2497875"/>
                </a:cubicBezTo>
                <a:cubicBezTo>
                  <a:pt x="890529" y="2709226"/>
                  <a:pt x="464795" y="2786080"/>
                  <a:pt x="585134" y="2905408"/>
                </a:cubicBezTo>
                <a:cubicBezTo>
                  <a:pt x="1526602" y="3840809"/>
                  <a:pt x="2443801" y="4164407"/>
                  <a:pt x="2443801" y="4164407"/>
                </a:cubicBezTo>
                <a:cubicBezTo>
                  <a:pt x="2521667" y="4282217"/>
                  <a:pt x="2602820" y="4452359"/>
                  <a:pt x="2680749" y="4641304"/>
                </a:cubicBezTo>
                <a:lnTo>
                  <a:pt x="2704586" y="4702819"/>
                </a:lnTo>
                <a:lnTo>
                  <a:pt x="274676" y="4702819"/>
                </a:lnTo>
                <a:lnTo>
                  <a:pt x="115292" y="4702819"/>
                </a:lnTo>
                <a:lnTo>
                  <a:pt x="0" y="4702819"/>
                </a:lnTo>
                <a:close/>
              </a:path>
            </a:pathLst>
          </a:custGeom>
          <a:solidFill>
            <a:srgbClr val="DAE5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26"/>
          <p:cNvSpPr txBox="1"/>
          <p:nvPr>
            <p:ph type="ctrTitle"/>
          </p:nvPr>
        </p:nvSpPr>
        <p:spPr>
          <a:xfrm>
            <a:off x="526536" y="2895786"/>
            <a:ext cx="63999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b="0" sz="3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8" name="Google Shape;378;p26"/>
          <p:cNvSpPr txBox="1"/>
          <p:nvPr>
            <p:ph idx="1" type="subTitle"/>
          </p:nvPr>
        </p:nvSpPr>
        <p:spPr>
          <a:xfrm>
            <a:off x="526536" y="3508164"/>
            <a:ext cx="63999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grpSp>
        <p:nvGrpSpPr>
          <p:cNvPr id="379" name="Google Shape;379;p26"/>
          <p:cNvGrpSpPr/>
          <p:nvPr/>
        </p:nvGrpSpPr>
        <p:grpSpPr>
          <a:xfrm>
            <a:off x="522809" y="384879"/>
            <a:ext cx="1528148" cy="582679"/>
            <a:chOff x="695325" y="516229"/>
            <a:chExt cx="2555004" cy="974217"/>
          </a:xfrm>
        </p:grpSpPr>
        <p:sp>
          <p:nvSpPr>
            <p:cNvPr id="380" name="Google Shape;380;p26"/>
            <p:cNvSpPr/>
            <p:nvPr/>
          </p:nvSpPr>
          <p:spPr>
            <a:xfrm>
              <a:off x="2979337" y="1251070"/>
              <a:ext cx="270992" cy="239376"/>
            </a:xfrm>
            <a:custGeom>
              <a:rect b="b" l="l" r="r" t="t"/>
              <a:pathLst>
                <a:path extrusionOk="0" h="239376" w="270992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26"/>
            <p:cNvSpPr/>
            <p:nvPr/>
          </p:nvSpPr>
          <p:spPr>
            <a:xfrm>
              <a:off x="2216494" y="728506"/>
              <a:ext cx="659414" cy="663930"/>
            </a:xfrm>
            <a:custGeom>
              <a:rect b="b" l="l" r="r" t="t"/>
              <a:pathLst>
                <a:path extrusionOk="0" h="663930" w="659414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26"/>
            <p:cNvSpPr/>
            <p:nvPr/>
          </p:nvSpPr>
          <p:spPr>
            <a:xfrm>
              <a:off x="695325" y="516229"/>
              <a:ext cx="659414" cy="858142"/>
            </a:xfrm>
            <a:custGeom>
              <a:rect b="b" l="l" r="r" t="t"/>
              <a:pathLst>
                <a:path extrusionOk="0" h="858142" w="659414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26"/>
            <p:cNvSpPr/>
            <p:nvPr/>
          </p:nvSpPr>
          <p:spPr>
            <a:xfrm>
              <a:off x="1458619" y="516229"/>
              <a:ext cx="659414" cy="858142"/>
            </a:xfrm>
            <a:custGeom>
              <a:rect b="b" l="l" r="r" t="t"/>
              <a:pathLst>
                <a:path extrusionOk="0" h="858142" w="659414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4" name="Google Shape;384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dk1"/>
                </a:solidFill>
              </a:defRPr>
            </a:lvl1pPr>
            <a:lvl2pPr lvl="1">
              <a:buNone/>
              <a:defRPr sz="1300">
                <a:solidFill>
                  <a:schemeClr val="dk1"/>
                </a:solidFill>
              </a:defRPr>
            </a:lvl2pPr>
            <a:lvl3pPr lvl="2">
              <a:buNone/>
              <a:defRPr sz="1300">
                <a:solidFill>
                  <a:schemeClr val="dk1"/>
                </a:solidFill>
              </a:defRPr>
            </a:lvl3pPr>
            <a:lvl4pPr lvl="3">
              <a:buNone/>
              <a:defRPr sz="1300">
                <a:solidFill>
                  <a:schemeClr val="dk1"/>
                </a:solidFill>
              </a:defRPr>
            </a:lvl4pPr>
            <a:lvl5pPr lvl="4">
              <a:buNone/>
              <a:defRPr sz="1300">
                <a:solidFill>
                  <a:schemeClr val="dk1"/>
                </a:solidFill>
              </a:defRPr>
            </a:lvl5pPr>
            <a:lvl6pPr lvl="5">
              <a:buNone/>
              <a:defRPr sz="1300">
                <a:solidFill>
                  <a:schemeClr val="dk1"/>
                </a:solidFill>
              </a:defRPr>
            </a:lvl6pPr>
            <a:lvl7pPr lvl="6">
              <a:buNone/>
              <a:defRPr sz="1300">
                <a:solidFill>
                  <a:schemeClr val="dk1"/>
                </a:solidFill>
              </a:defRPr>
            </a:lvl7pPr>
            <a:lvl8pPr lvl="7">
              <a:buNone/>
              <a:defRPr sz="1300">
                <a:solidFill>
                  <a:schemeClr val="dk1"/>
                </a:solidFill>
              </a:defRPr>
            </a:lvl8pPr>
            <a:lvl9pPr lvl="8">
              <a:buNone/>
              <a:defRPr sz="1300">
                <a:solidFill>
                  <a:schemeClr val="dk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85" name="Google Shape;385;p26"/>
          <p:cNvSpPr txBox="1"/>
          <p:nvPr>
            <p:ph idx="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26000" wrap="square" tIns="54000">
            <a:noAutofit/>
          </a:bodyPr>
          <a:lstStyle>
            <a:lvl1pPr lvl="0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1pPr>
            <a:lvl2pPr lvl="1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2pPr>
            <a:lvl3pPr lvl="2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3pPr>
            <a:lvl4pPr lvl="3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4pPr>
            <a:lvl5pPr lvl="4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5pPr>
            <a:lvl6pPr lvl="5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6pPr>
            <a:lvl7pPr lvl="6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7pPr>
            <a:lvl8pPr lvl="7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8pPr>
            <a:lvl9pPr lvl="8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86" name="Google Shape;386;p26"/>
          <p:cNvSpPr txBox="1"/>
          <p:nvPr/>
        </p:nvSpPr>
        <p:spPr>
          <a:xfrm>
            <a:off x="521550" y="4880675"/>
            <a:ext cx="3978600" cy="5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000">
                <a:solidFill>
                  <a:schemeClr val="lt1"/>
                </a:solidFill>
              </a:rPr>
              <a:t>Data Science, Sommersemester 2026, vldatascience</a:t>
            </a:r>
            <a:r>
              <a:rPr b="1" lang="en-GB" sz="1000">
                <a:solidFill>
                  <a:srgbClr val="F3F3F3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@hhu.de</a:t>
            </a:r>
            <a:endParaRPr b="1"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folie 3" showMasterSp="0">
  <p:cSld name="Titelfolie 3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8" name="Google Shape;388;p27"/>
          <p:cNvGrpSpPr/>
          <p:nvPr/>
        </p:nvGrpSpPr>
        <p:grpSpPr>
          <a:xfrm>
            <a:off x="-4877" y="4944919"/>
            <a:ext cx="9145385" cy="197882"/>
            <a:chOff x="-4877" y="4950860"/>
            <a:chExt cx="9145385" cy="198120"/>
          </a:xfrm>
        </p:grpSpPr>
        <p:sp>
          <p:nvSpPr>
            <p:cNvPr id="389" name="Google Shape;389;p27"/>
            <p:cNvSpPr/>
            <p:nvPr/>
          </p:nvSpPr>
          <p:spPr>
            <a:xfrm>
              <a:off x="-4877" y="4950860"/>
              <a:ext cx="480060" cy="198120"/>
            </a:xfrm>
            <a:custGeom>
              <a:rect b="b" l="l" r="r" t="t"/>
              <a:pathLst>
                <a:path extrusionOk="0" h="198120" w="914400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27"/>
            <p:cNvSpPr/>
            <p:nvPr/>
          </p:nvSpPr>
          <p:spPr>
            <a:xfrm>
              <a:off x="522288" y="4950860"/>
              <a:ext cx="8618220" cy="198120"/>
            </a:xfrm>
            <a:custGeom>
              <a:rect b="b" l="l" r="r" t="t"/>
              <a:pathLst>
                <a:path extrusionOk="0" h="198120" w="914400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27"/>
            <p:cNvSpPr txBox="1"/>
            <p:nvPr/>
          </p:nvSpPr>
          <p:spPr>
            <a:xfrm>
              <a:off x="8194726" y="4966101"/>
              <a:ext cx="449700" cy="1677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127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1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hhu.de</a:t>
              </a:r>
              <a:endParaRPr/>
            </a:p>
          </p:txBody>
        </p:sp>
      </p:grpSp>
      <p:sp>
        <p:nvSpPr>
          <p:cNvPr id="392" name="Google Shape;392;p27"/>
          <p:cNvSpPr txBox="1"/>
          <p:nvPr>
            <p:ph type="ctrTitle"/>
          </p:nvPr>
        </p:nvSpPr>
        <p:spPr>
          <a:xfrm>
            <a:off x="526536" y="2328723"/>
            <a:ext cx="6399900" cy="1107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b="0" sz="3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3" name="Google Shape;393;p27"/>
          <p:cNvSpPr txBox="1"/>
          <p:nvPr>
            <p:ph idx="1" type="subTitle"/>
          </p:nvPr>
        </p:nvSpPr>
        <p:spPr>
          <a:xfrm>
            <a:off x="526536" y="3508164"/>
            <a:ext cx="63999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grpSp>
        <p:nvGrpSpPr>
          <p:cNvPr id="394" name="Google Shape;394;p27"/>
          <p:cNvGrpSpPr/>
          <p:nvPr/>
        </p:nvGrpSpPr>
        <p:grpSpPr>
          <a:xfrm>
            <a:off x="522809" y="384879"/>
            <a:ext cx="1528148" cy="582679"/>
            <a:chOff x="695325" y="516229"/>
            <a:chExt cx="2555004" cy="974217"/>
          </a:xfrm>
        </p:grpSpPr>
        <p:sp>
          <p:nvSpPr>
            <p:cNvPr id="395" name="Google Shape;395;p27"/>
            <p:cNvSpPr/>
            <p:nvPr/>
          </p:nvSpPr>
          <p:spPr>
            <a:xfrm>
              <a:off x="2979337" y="1251070"/>
              <a:ext cx="270992" cy="239376"/>
            </a:xfrm>
            <a:custGeom>
              <a:rect b="b" l="l" r="r" t="t"/>
              <a:pathLst>
                <a:path extrusionOk="0" h="239376" w="270992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27"/>
            <p:cNvSpPr/>
            <p:nvPr/>
          </p:nvSpPr>
          <p:spPr>
            <a:xfrm>
              <a:off x="2216494" y="728506"/>
              <a:ext cx="659414" cy="663930"/>
            </a:xfrm>
            <a:custGeom>
              <a:rect b="b" l="l" r="r" t="t"/>
              <a:pathLst>
                <a:path extrusionOk="0" h="663930" w="659414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27"/>
            <p:cNvSpPr/>
            <p:nvPr/>
          </p:nvSpPr>
          <p:spPr>
            <a:xfrm>
              <a:off x="695325" y="516229"/>
              <a:ext cx="659414" cy="858142"/>
            </a:xfrm>
            <a:custGeom>
              <a:rect b="b" l="l" r="r" t="t"/>
              <a:pathLst>
                <a:path extrusionOk="0" h="858142" w="659414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27"/>
            <p:cNvSpPr/>
            <p:nvPr/>
          </p:nvSpPr>
          <p:spPr>
            <a:xfrm>
              <a:off x="1458619" y="516229"/>
              <a:ext cx="659414" cy="858142"/>
            </a:xfrm>
            <a:custGeom>
              <a:rect b="b" l="l" r="r" t="t"/>
              <a:pathLst>
                <a:path extrusionOk="0" h="858142" w="659414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9" name="Google Shape;399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dk1"/>
                </a:solidFill>
              </a:defRPr>
            </a:lvl1pPr>
            <a:lvl2pPr lvl="1">
              <a:buNone/>
              <a:defRPr sz="1300">
                <a:solidFill>
                  <a:schemeClr val="dk1"/>
                </a:solidFill>
              </a:defRPr>
            </a:lvl2pPr>
            <a:lvl3pPr lvl="2">
              <a:buNone/>
              <a:defRPr sz="1300">
                <a:solidFill>
                  <a:schemeClr val="dk1"/>
                </a:solidFill>
              </a:defRPr>
            </a:lvl3pPr>
            <a:lvl4pPr lvl="3">
              <a:buNone/>
              <a:defRPr sz="1300">
                <a:solidFill>
                  <a:schemeClr val="dk1"/>
                </a:solidFill>
              </a:defRPr>
            </a:lvl4pPr>
            <a:lvl5pPr lvl="4">
              <a:buNone/>
              <a:defRPr sz="1300">
                <a:solidFill>
                  <a:schemeClr val="dk1"/>
                </a:solidFill>
              </a:defRPr>
            </a:lvl5pPr>
            <a:lvl6pPr lvl="5">
              <a:buNone/>
              <a:defRPr sz="1300">
                <a:solidFill>
                  <a:schemeClr val="dk1"/>
                </a:solidFill>
              </a:defRPr>
            </a:lvl6pPr>
            <a:lvl7pPr lvl="6">
              <a:buNone/>
              <a:defRPr sz="1300">
                <a:solidFill>
                  <a:schemeClr val="dk1"/>
                </a:solidFill>
              </a:defRPr>
            </a:lvl7pPr>
            <a:lvl8pPr lvl="7">
              <a:buNone/>
              <a:defRPr sz="1300">
                <a:solidFill>
                  <a:schemeClr val="dk1"/>
                </a:solidFill>
              </a:defRPr>
            </a:lvl8pPr>
            <a:lvl9pPr lvl="8">
              <a:buNone/>
              <a:defRPr sz="1300">
                <a:solidFill>
                  <a:schemeClr val="dk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00" name="Google Shape;400;p27"/>
          <p:cNvSpPr txBox="1"/>
          <p:nvPr>
            <p:ph idx="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26000" wrap="square" tIns="54000">
            <a:noAutofit/>
          </a:bodyPr>
          <a:lstStyle>
            <a:lvl1pPr lvl="0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1pPr>
            <a:lvl2pPr lvl="1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2pPr>
            <a:lvl3pPr lvl="2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3pPr>
            <a:lvl4pPr lvl="3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4pPr>
            <a:lvl5pPr lvl="4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5pPr>
            <a:lvl6pPr lvl="5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6pPr>
            <a:lvl7pPr lvl="6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7pPr>
            <a:lvl8pPr lvl="7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8pPr>
            <a:lvl9pPr lvl="8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01" name="Google Shape;401;p27"/>
          <p:cNvSpPr txBox="1"/>
          <p:nvPr/>
        </p:nvSpPr>
        <p:spPr>
          <a:xfrm>
            <a:off x="521550" y="4880675"/>
            <a:ext cx="3978600" cy="5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000">
                <a:solidFill>
                  <a:schemeClr val="lt1"/>
                </a:solidFill>
              </a:rPr>
              <a:t>Data Science, Sommersemester 2026, vldatascience</a:t>
            </a:r>
            <a:r>
              <a:rPr b="1" lang="en-GB" sz="1000">
                <a:solidFill>
                  <a:srgbClr val="F3F3F3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@hhu.de</a:t>
            </a:r>
            <a:endParaRPr b="1"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+ drei Bilder">
  <p:cSld name="Titel + drei Bilder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8"/>
          <p:cNvSpPr txBox="1"/>
          <p:nvPr>
            <p:ph type="title"/>
          </p:nvPr>
        </p:nvSpPr>
        <p:spPr>
          <a:xfrm>
            <a:off x="526594" y="330502"/>
            <a:ext cx="68268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4" name="Google Shape;404;p28"/>
          <p:cNvSpPr txBox="1"/>
          <p:nvPr>
            <p:ph idx="1" type="body"/>
          </p:nvPr>
        </p:nvSpPr>
        <p:spPr>
          <a:xfrm>
            <a:off x="0" y="1420645"/>
            <a:ext cx="2979000" cy="348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5400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405" name="Google Shape;405;p28"/>
          <p:cNvSpPr txBox="1"/>
          <p:nvPr>
            <p:ph idx="2" type="body"/>
          </p:nvPr>
        </p:nvSpPr>
        <p:spPr>
          <a:xfrm>
            <a:off x="3032522" y="1420646"/>
            <a:ext cx="3078900" cy="348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5400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406" name="Google Shape;406;p28"/>
          <p:cNvSpPr txBox="1"/>
          <p:nvPr>
            <p:ph idx="3" type="body"/>
          </p:nvPr>
        </p:nvSpPr>
        <p:spPr>
          <a:xfrm>
            <a:off x="6165058" y="1420646"/>
            <a:ext cx="2979000" cy="348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5400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407" name="Google Shape;407;p28"/>
          <p:cNvSpPr txBox="1"/>
          <p:nvPr>
            <p:ph idx="4" type="body"/>
          </p:nvPr>
        </p:nvSpPr>
        <p:spPr>
          <a:xfrm>
            <a:off x="521494" y="1087042"/>
            <a:ext cx="81009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0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408" name="Google Shape;408;p28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26000" wrap="square" tIns="54000">
            <a:noAutofit/>
          </a:bodyPr>
          <a:lstStyle>
            <a:lvl1pPr lvl="0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1pPr>
            <a:lvl2pPr lvl="1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2pPr>
            <a:lvl3pPr lvl="2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3pPr>
            <a:lvl4pPr lvl="3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4pPr>
            <a:lvl5pPr lvl="4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5pPr>
            <a:lvl6pPr lvl="5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6pPr>
            <a:lvl7pPr lvl="6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7pPr>
            <a:lvl8pPr lvl="7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8pPr>
            <a:lvl9pPr lvl="8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1910">
          <p15:clr>
            <a:srgbClr val="FBAE40"/>
          </p15:clr>
        </p15:guide>
        <p15:guide id="2" pos="3850">
          <p15:clr>
            <a:srgbClr val="FBAE40"/>
          </p15:clr>
        </p15:guide>
        <p15:guide id="3" pos="3884">
          <p15:clr>
            <a:srgbClr val="FBAE40"/>
          </p15:clr>
        </p15:guide>
        <p15:guide id="4" pos="1877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+ Untertitel">
  <p:cSld name="Titel + Untertitel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9"/>
          <p:cNvSpPr txBox="1"/>
          <p:nvPr>
            <p:ph type="title"/>
          </p:nvPr>
        </p:nvSpPr>
        <p:spPr>
          <a:xfrm>
            <a:off x="526594" y="330502"/>
            <a:ext cx="68268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1" name="Google Shape;411;p29"/>
          <p:cNvSpPr txBox="1"/>
          <p:nvPr>
            <p:ph idx="1" type="body"/>
          </p:nvPr>
        </p:nvSpPr>
        <p:spPr>
          <a:xfrm>
            <a:off x="521494" y="1087042"/>
            <a:ext cx="81009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0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412" name="Google Shape;412;p29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26000" wrap="square" tIns="54000">
            <a:noAutofit/>
          </a:bodyPr>
          <a:lstStyle>
            <a:lvl1pPr lvl="0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1pPr>
            <a:lvl2pPr lvl="1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2pPr>
            <a:lvl3pPr lvl="2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3pPr>
            <a:lvl4pPr lvl="3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4pPr>
            <a:lvl5pPr lvl="4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5pPr>
            <a:lvl6pPr lvl="5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6pPr>
            <a:lvl7pPr lvl="6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7pPr>
            <a:lvl8pPr lvl="7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8pPr>
            <a:lvl9pPr lvl="8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r Titel">
  <p:cSld name="Nur Titel"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0"/>
          <p:cNvSpPr txBox="1"/>
          <p:nvPr>
            <p:ph type="title"/>
          </p:nvPr>
        </p:nvSpPr>
        <p:spPr>
          <a:xfrm>
            <a:off x="526594" y="330502"/>
            <a:ext cx="68268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5" name="Google Shape;415;p30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26000" wrap="square" tIns="54000">
            <a:noAutofit/>
          </a:bodyPr>
          <a:lstStyle>
            <a:lvl1pPr lvl="0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1pPr>
            <a:lvl2pPr lvl="1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2pPr>
            <a:lvl3pPr lvl="2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3pPr>
            <a:lvl4pPr lvl="3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4pPr>
            <a:lvl5pPr lvl="4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5pPr>
            <a:lvl6pPr lvl="5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6pPr>
            <a:lvl7pPr lvl="6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7pPr>
            <a:lvl8pPr lvl="7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8pPr>
            <a:lvl9pPr lvl="8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er" type="blank">
  <p:cSld name="BLANK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1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26000" wrap="square" tIns="54000">
            <a:noAutofit/>
          </a:bodyPr>
          <a:lstStyle>
            <a:lvl1pPr lvl="0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1pPr>
            <a:lvl2pPr lvl="1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2pPr>
            <a:lvl3pPr lvl="2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3pPr>
            <a:lvl4pPr lvl="3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4pPr>
            <a:lvl5pPr lvl="4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5pPr>
            <a:lvl6pPr lvl="5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6pPr>
            <a:lvl7pPr lvl="6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7pPr>
            <a:lvl8pPr lvl="7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8pPr>
            <a:lvl9pPr lvl="8" rtl="0" algn="r">
              <a:lnSpc>
                <a:spcPct val="80000"/>
              </a:lnSpc>
              <a:buSzPts val="275"/>
              <a:buNone/>
              <a:defRPr b="1" sz="10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hyperlink" Target="mailto:konrad.voelkel@hhu.de" TargetMode="Externa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29" Type="http://schemas.openxmlformats.org/officeDocument/2006/relationships/slideLayout" Target="../slideLayouts/slideLayout28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3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-4877" y="4944919"/>
            <a:ext cx="9145385" cy="197882"/>
            <a:chOff x="-4877" y="4950860"/>
            <a:chExt cx="9145385" cy="198120"/>
          </a:xfrm>
        </p:grpSpPr>
        <p:sp>
          <p:nvSpPr>
            <p:cNvPr id="7" name="Google Shape;7;p1"/>
            <p:cNvSpPr/>
            <p:nvPr/>
          </p:nvSpPr>
          <p:spPr>
            <a:xfrm>
              <a:off x="-4877" y="4950860"/>
              <a:ext cx="480060" cy="198120"/>
            </a:xfrm>
            <a:custGeom>
              <a:rect b="b" l="l" r="r" t="t"/>
              <a:pathLst>
                <a:path extrusionOk="0" h="198120" w="914400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8;p1"/>
            <p:cNvSpPr/>
            <p:nvPr/>
          </p:nvSpPr>
          <p:spPr>
            <a:xfrm>
              <a:off x="522288" y="4950860"/>
              <a:ext cx="8618220" cy="198120"/>
            </a:xfrm>
            <a:custGeom>
              <a:rect b="b" l="l" r="r" t="t"/>
              <a:pathLst>
                <a:path extrusionOk="0" h="198120" w="914400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9;p1"/>
            <p:cNvSpPr txBox="1"/>
            <p:nvPr/>
          </p:nvSpPr>
          <p:spPr>
            <a:xfrm>
              <a:off x="8194726" y="4966101"/>
              <a:ext cx="449700" cy="16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127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1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hhu.de</a:t>
              </a:r>
              <a:endParaRPr/>
            </a:p>
          </p:txBody>
        </p:sp>
      </p:grpSp>
      <p:sp>
        <p:nvSpPr>
          <p:cNvPr id="10" name="Google Shape;10;p1"/>
          <p:cNvSpPr txBox="1"/>
          <p:nvPr>
            <p:ph type="title"/>
          </p:nvPr>
        </p:nvSpPr>
        <p:spPr>
          <a:xfrm>
            <a:off x="526594" y="330502"/>
            <a:ext cx="68268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521550" y="1420645"/>
            <a:ext cx="8100900" cy="3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Autofit/>
          </a:bodyPr>
          <a:lstStyle>
            <a:lvl1pPr indent="-330200" lvl="0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◼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Noto Sans Symbols"/>
              <a:buChar char="◼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Noto Sans Symbols"/>
              <a:buChar char="◼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oto Sans Symbols"/>
              <a:buChar char="◼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oto Sans Symbols"/>
              <a:buChar char="◼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2" name="Google Shape;12;p1"/>
          <p:cNvCxnSpPr/>
          <p:nvPr/>
        </p:nvCxnSpPr>
        <p:spPr>
          <a:xfrm>
            <a:off x="521551" y="973530"/>
            <a:ext cx="6831900" cy="0"/>
          </a:xfrm>
          <a:prstGeom prst="straightConnector1">
            <a:avLst/>
          </a:prstGeom>
          <a:noFill/>
          <a:ln cap="flat" cmpd="sng" w="19050">
            <a:solidFill>
              <a:srgbClr val="CCDDE7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3" name="Google Shape;13;p1"/>
          <p:cNvGrpSpPr/>
          <p:nvPr/>
        </p:nvGrpSpPr>
        <p:grpSpPr>
          <a:xfrm>
            <a:off x="7741433" y="393808"/>
            <a:ext cx="1050054" cy="620354"/>
            <a:chOff x="10321916" y="525077"/>
            <a:chExt cx="1400072" cy="827139"/>
          </a:xfrm>
        </p:grpSpPr>
        <p:grpSp>
          <p:nvGrpSpPr>
            <p:cNvPr id="14" name="Google Shape;14;p1"/>
            <p:cNvGrpSpPr/>
            <p:nvPr/>
          </p:nvGrpSpPr>
          <p:grpSpPr>
            <a:xfrm>
              <a:off x="10321916" y="525077"/>
              <a:ext cx="1179694" cy="575590"/>
              <a:chOff x="10321916" y="525077"/>
              <a:chExt cx="1179694" cy="575590"/>
            </a:xfrm>
          </p:grpSpPr>
          <p:sp>
            <p:nvSpPr>
              <p:cNvPr id="15" name="Google Shape;15;p1"/>
              <p:cNvSpPr/>
              <p:nvPr/>
            </p:nvSpPr>
            <p:spPr>
              <a:xfrm>
                <a:off x="11143981" y="639857"/>
                <a:ext cx="357629" cy="357629"/>
              </a:xfrm>
              <a:custGeom>
                <a:rect b="b" l="l" r="r" t="t"/>
                <a:pathLst>
                  <a:path extrusionOk="0" h="357629" w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16;p1"/>
              <p:cNvSpPr/>
              <p:nvPr/>
            </p:nvSpPr>
            <p:spPr>
              <a:xfrm>
                <a:off x="10321916" y="525077"/>
                <a:ext cx="357629" cy="463952"/>
              </a:xfrm>
              <a:custGeom>
                <a:rect b="b" l="l" r="r" t="t"/>
                <a:pathLst>
                  <a:path extrusionOk="0" h="463952" w="357629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17;p1"/>
              <p:cNvSpPr/>
              <p:nvPr/>
            </p:nvSpPr>
            <p:spPr>
              <a:xfrm>
                <a:off x="10734399" y="525077"/>
                <a:ext cx="357629" cy="463952"/>
              </a:xfrm>
              <a:custGeom>
                <a:rect b="b" l="l" r="r" t="t"/>
                <a:pathLst>
                  <a:path extrusionOk="0" h="463952" w="357629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18;p1"/>
              <p:cNvSpPr/>
              <p:nvPr/>
            </p:nvSpPr>
            <p:spPr>
              <a:xfrm>
                <a:off x="10464001" y="1088585"/>
                <a:ext cx="12082" cy="12082"/>
              </a:xfrm>
              <a:custGeom>
                <a:rect b="b" l="l" r="r" t="t"/>
                <a:pathLst>
                  <a:path extrusionOk="0" h="12082" w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19;p1"/>
              <p:cNvSpPr/>
              <p:nvPr/>
            </p:nvSpPr>
            <p:spPr>
              <a:xfrm>
                <a:off x="10610678" y="1088585"/>
                <a:ext cx="12082" cy="12082"/>
              </a:xfrm>
              <a:custGeom>
                <a:rect b="b" l="l" r="r" t="t"/>
                <a:pathLst>
                  <a:path extrusionOk="0" h="12082" w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0;p1"/>
              <p:cNvSpPr/>
              <p:nvPr/>
            </p:nvSpPr>
            <p:spPr>
              <a:xfrm>
                <a:off x="10949701" y="1088585"/>
                <a:ext cx="12082" cy="12082"/>
              </a:xfrm>
              <a:custGeom>
                <a:rect b="b" l="l" r="r" t="t"/>
                <a:pathLst>
                  <a:path extrusionOk="0" h="12082" w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1" name="Google Shape;21;p1"/>
            <p:cNvSpPr/>
            <p:nvPr/>
          </p:nvSpPr>
          <p:spPr>
            <a:xfrm>
              <a:off x="10322158" y="1089069"/>
              <a:ext cx="57994" cy="77325"/>
            </a:xfrm>
            <a:custGeom>
              <a:rect b="b" l="l" r="r" t="t"/>
              <a:pathLst>
                <a:path extrusionOk="0" h="77325" w="57994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10399483" y="1110575"/>
              <a:ext cx="48328" cy="57994"/>
            </a:xfrm>
            <a:custGeom>
              <a:rect b="b" l="l" r="r" t="t"/>
              <a:pathLst>
                <a:path extrusionOk="0" h="57994" w="48328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1"/>
            <p:cNvSpPr/>
            <p:nvPr/>
          </p:nvSpPr>
          <p:spPr>
            <a:xfrm>
              <a:off x="10465451" y="1112266"/>
              <a:ext cx="9665" cy="53161"/>
            </a:xfrm>
            <a:custGeom>
              <a:rect b="b" l="l" r="r" t="t"/>
              <a:pathLst>
                <a:path extrusionOk="0" h="53161" w="9665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" name="Google Shape;24;p1"/>
            <p:cNvGrpSpPr/>
            <p:nvPr/>
          </p:nvGrpSpPr>
          <p:grpSpPr>
            <a:xfrm>
              <a:off x="10496140" y="1110575"/>
              <a:ext cx="100522" cy="55818"/>
              <a:chOff x="10496140" y="1110575"/>
              <a:chExt cx="100522" cy="55818"/>
            </a:xfrm>
          </p:grpSpPr>
          <p:sp>
            <p:nvSpPr>
              <p:cNvPr id="25" name="Google Shape;25;p1"/>
              <p:cNvSpPr/>
              <p:nvPr/>
            </p:nvSpPr>
            <p:spPr>
              <a:xfrm>
                <a:off x="10496140" y="1110575"/>
                <a:ext cx="45911" cy="55577"/>
              </a:xfrm>
              <a:custGeom>
                <a:rect b="b" l="l" r="r" t="t"/>
                <a:pathLst>
                  <a:path extrusionOk="0" h="55577" w="45911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26;p1"/>
              <p:cNvSpPr/>
              <p:nvPr/>
            </p:nvSpPr>
            <p:spPr>
              <a:xfrm>
                <a:off x="10562833" y="1110816"/>
                <a:ext cx="33829" cy="55577"/>
              </a:xfrm>
              <a:custGeom>
                <a:rect b="b" l="l" r="r" t="t"/>
                <a:pathLst>
                  <a:path extrusionOk="0" h="55577" w="33829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" name="Google Shape;27;p1"/>
            <p:cNvSpPr/>
            <p:nvPr/>
          </p:nvSpPr>
          <p:spPr>
            <a:xfrm>
              <a:off x="10612128" y="1112266"/>
              <a:ext cx="9665" cy="53161"/>
            </a:xfrm>
            <a:custGeom>
              <a:rect b="b" l="l" r="r" t="t"/>
              <a:pathLst>
                <a:path extrusionOk="0" h="53161" w="9665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" name="Google Shape;28;p1"/>
            <p:cNvGrpSpPr/>
            <p:nvPr/>
          </p:nvGrpSpPr>
          <p:grpSpPr>
            <a:xfrm>
              <a:off x="10639675" y="1081336"/>
              <a:ext cx="105596" cy="87233"/>
              <a:chOff x="10639675" y="1081336"/>
              <a:chExt cx="105596" cy="87233"/>
            </a:xfrm>
          </p:grpSpPr>
          <p:sp>
            <p:nvSpPr>
              <p:cNvPr id="29" name="Google Shape;29;p1"/>
              <p:cNvSpPr/>
              <p:nvPr/>
            </p:nvSpPr>
            <p:spPr>
              <a:xfrm>
                <a:off x="10639675" y="1110575"/>
                <a:ext cx="45911" cy="57994"/>
              </a:xfrm>
              <a:custGeom>
                <a:rect b="b" l="l" r="r" t="t"/>
                <a:pathLst>
                  <a:path extrusionOk="0" h="57994" w="45911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" name="Google Shape;30;p1"/>
              <p:cNvSpPr/>
              <p:nvPr/>
            </p:nvSpPr>
            <p:spPr>
              <a:xfrm>
                <a:off x="10699360" y="1081336"/>
                <a:ext cx="45911" cy="84574"/>
              </a:xfrm>
              <a:custGeom>
                <a:rect b="b" l="l" r="r" t="t"/>
                <a:pathLst>
                  <a:path extrusionOk="0" h="84574" w="45911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" name="Google Shape;31;p1"/>
            <p:cNvSpPr/>
            <p:nvPr/>
          </p:nvSpPr>
          <p:spPr>
            <a:xfrm>
              <a:off x="10808824" y="1089069"/>
              <a:ext cx="57994" cy="77325"/>
            </a:xfrm>
            <a:custGeom>
              <a:rect b="b" l="l" r="r" t="t"/>
              <a:pathLst>
                <a:path extrusionOk="0" h="77325" w="57994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1"/>
            <p:cNvSpPr/>
            <p:nvPr/>
          </p:nvSpPr>
          <p:spPr>
            <a:xfrm>
              <a:off x="10886391" y="1110575"/>
              <a:ext cx="48328" cy="57994"/>
            </a:xfrm>
            <a:custGeom>
              <a:rect b="b" l="l" r="r" t="t"/>
              <a:pathLst>
                <a:path extrusionOk="0" h="57994" w="48328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1"/>
            <p:cNvSpPr/>
            <p:nvPr/>
          </p:nvSpPr>
          <p:spPr>
            <a:xfrm>
              <a:off x="10951151" y="1112266"/>
              <a:ext cx="9665" cy="53161"/>
            </a:xfrm>
            <a:custGeom>
              <a:rect b="b" l="l" r="r" t="t"/>
              <a:pathLst>
                <a:path extrusionOk="0" h="53161" w="9665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" name="Google Shape;34;p1"/>
            <p:cNvGrpSpPr/>
            <p:nvPr/>
          </p:nvGrpSpPr>
          <p:grpSpPr>
            <a:xfrm>
              <a:off x="10321916" y="1110575"/>
              <a:ext cx="1400072" cy="241641"/>
              <a:chOff x="10321916" y="1110575"/>
              <a:chExt cx="1400072" cy="241641"/>
            </a:xfrm>
          </p:grpSpPr>
          <p:sp>
            <p:nvSpPr>
              <p:cNvPr id="35" name="Google Shape;35;p1"/>
              <p:cNvSpPr/>
              <p:nvPr/>
            </p:nvSpPr>
            <p:spPr>
              <a:xfrm>
                <a:off x="10981840" y="1110575"/>
                <a:ext cx="45911" cy="55577"/>
              </a:xfrm>
              <a:custGeom>
                <a:rect b="b" l="l" r="r" t="t"/>
                <a:pathLst>
                  <a:path extrusionOk="0" h="55577" w="45911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" name="Google Shape;36;p1"/>
              <p:cNvSpPr/>
              <p:nvPr/>
            </p:nvSpPr>
            <p:spPr>
              <a:xfrm>
                <a:off x="11046358" y="1110575"/>
                <a:ext cx="48328" cy="57994"/>
              </a:xfrm>
              <a:custGeom>
                <a:rect b="b" l="l" r="r" t="t"/>
                <a:pathLst>
                  <a:path extrusionOk="0" h="57994" w="48328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" name="Google Shape;37;p1"/>
              <p:cNvSpPr/>
              <p:nvPr/>
            </p:nvSpPr>
            <p:spPr>
              <a:xfrm>
                <a:off x="10321916" y="1217139"/>
                <a:ext cx="1179211" cy="84574"/>
              </a:xfrm>
              <a:custGeom>
                <a:rect b="b" l="l" r="r" t="t"/>
                <a:pathLst>
                  <a:path extrusionOk="0" h="84574" w="1179211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" name="Google Shape;38;p1"/>
              <p:cNvSpPr/>
              <p:nvPr/>
            </p:nvSpPr>
            <p:spPr>
              <a:xfrm>
                <a:off x="11569754" y="1219314"/>
                <a:ext cx="152234" cy="132902"/>
              </a:xfrm>
              <a:custGeom>
                <a:rect b="b" l="l" r="r" t="t"/>
                <a:pathLst>
                  <a:path extrusionOk="0" h="132902" w="152234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9" name="Google Shape;39;p1"/>
          <p:cNvSpPr/>
          <p:nvPr/>
        </p:nvSpPr>
        <p:spPr>
          <a:xfrm>
            <a:off x="-4877" y="407289"/>
            <a:ext cx="337579" cy="294710"/>
          </a:xfrm>
          <a:custGeom>
            <a:rect b="b" l="l" r="r" t="t"/>
            <a:pathLst>
              <a:path extrusionOk="0" h="132902" w="152234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"/>
          <p:cNvSpPr txBox="1"/>
          <p:nvPr/>
        </p:nvSpPr>
        <p:spPr>
          <a:xfrm>
            <a:off x="521550" y="4880675"/>
            <a:ext cx="3978600" cy="5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000">
                <a:solidFill>
                  <a:schemeClr val="lt1"/>
                </a:solidFill>
              </a:rPr>
              <a:t>Data Science, Sommersemester 2026, vldatascience</a:t>
            </a:r>
            <a:r>
              <a:rPr b="1" lang="en-GB" sz="1000">
                <a:solidFill>
                  <a:srgbClr val="F3F3F3"/>
                </a:solidFill>
                <a:uFill>
                  <a:noFill/>
                </a:uFill>
                <a:hlinkClick r:id="rId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@hhu.de</a:t>
            </a:r>
            <a:endParaRPr b="1"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61">
          <p15:clr>
            <a:srgbClr val="F26B43"/>
          </p15:clr>
        </p15:guide>
        <p15:guide id="2" pos="329">
          <p15:clr>
            <a:srgbClr val="F26B43"/>
          </p15:clr>
        </p15:guide>
        <p15:guide id="3" pos="5432">
          <p15:clr>
            <a:srgbClr val="F26B43"/>
          </p15:clr>
        </p15:guide>
        <p15:guide id="4" orient="horz" pos="685">
          <p15:clr>
            <a:srgbClr val="F26B43"/>
          </p15:clr>
        </p15:guide>
        <p15:guide id="5" orient="horz" pos="3092">
          <p15:clr>
            <a:srgbClr val="F26B43"/>
          </p15:clr>
        </p15:guide>
        <p15:guide id="6" orient="horz" pos="3117">
          <p15:clr>
            <a:srgbClr val="F26B43"/>
          </p15:clr>
        </p15:guide>
        <p15:guide id="7" orient="horz" pos="89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ncbi.nlm.nih.gov/pmc/articles/PMC1339981" TargetMode="External"/><Relationship Id="rId4" Type="http://schemas.openxmlformats.org/officeDocument/2006/relationships/hyperlink" Target="https://en.wikipedia.org/wiki/Br_Med_J_(Clin_Res_Ed)" TargetMode="External"/><Relationship Id="rId5" Type="http://schemas.openxmlformats.org/officeDocument/2006/relationships/hyperlink" Target="https://en.wikipedia.org/wiki/Doi_(identifier)" TargetMode="External"/><Relationship Id="rId6" Type="http://schemas.openxmlformats.org/officeDocument/2006/relationships/hyperlink" Target="https://doi.org/10.1136%2Fbmj.292.6524.879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pandas.pydata.org/docs/getting_started/tutorials.html" TargetMode="External"/><Relationship Id="rId4" Type="http://schemas.openxmlformats.org/officeDocument/2006/relationships/hyperlink" Target="https://pandas.pydata.org/docs/reference/index.html" TargetMode="External"/><Relationship Id="rId5" Type="http://schemas.openxmlformats.org/officeDocument/2006/relationships/hyperlink" Target="https://pandas.pydata.org/docs/reference/api/pandas.DataFrame.groupby.html#pandas.DataFrame.groupby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pandas.pydata.org/docs/reference/arrays.html" TargetMode="External"/></Relationships>
</file>

<file path=ppt/slides/_rels/slide18.xml.rels><?xml version="1.0" encoding="UTF-8" standalone="yes"?><Relationships xmlns="http://schemas.openxmlformats.org/package/2006/relationships"><Relationship Id="rId20" Type="http://schemas.openxmlformats.org/officeDocument/2006/relationships/hyperlink" Target="https://pandas.pydata.org/docs/reference/api/pandas.StringDtype.html#pandas.StringDtype" TargetMode="External"/><Relationship Id="rId22" Type="http://schemas.openxmlformats.org/officeDocument/2006/relationships/hyperlink" Target="https://pandas.pydata.org/docs/reference/arrays.html#api-arrays-string" TargetMode="External"/><Relationship Id="rId21" Type="http://schemas.openxmlformats.org/officeDocument/2006/relationships/hyperlink" Target="https://docs.python.org/3/library/stdtypes.html#str" TargetMode="External"/><Relationship Id="rId24" Type="http://schemas.openxmlformats.org/officeDocument/2006/relationships/hyperlink" Target="https://docs.python.org/3/library/functions.html#bool" TargetMode="External"/><Relationship Id="rId23" Type="http://schemas.openxmlformats.org/officeDocument/2006/relationships/hyperlink" Target="https://pandas.pydata.org/docs/reference/api/pandas.BooleanDtype.html#pandas.BooleanDtype" TargetMode="External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pandas.pydata.org/docs/reference/api/pandas.DatetimeTZDtype.html#pandas.DatetimeTZDtype" TargetMode="External"/><Relationship Id="rId4" Type="http://schemas.openxmlformats.org/officeDocument/2006/relationships/hyperlink" Target="https://pandas.pydata.org/docs/reference/api/pandas.Timestamp.html#pandas.Timestamp" TargetMode="External"/><Relationship Id="rId9" Type="http://schemas.openxmlformats.org/officeDocument/2006/relationships/hyperlink" Target="https://pandas.pydata.org/docs/reference/api/pandas.Period.html#pandas.Period" TargetMode="External"/><Relationship Id="rId25" Type="http://schemas.openxmlformats.org/officeDocument/2006/relationships/hyperlink" Target="https://pandas.pydata.org/docs/reference/arrays.html#api-arrays-bool" TargetMode="External"/><Relationship Id="rId5" Type="http://schemas.openxmlformats.org/officeDocument/2006/relationships/hyperlink" Target="https://pandas.pydata.org/docs/reference/arrays.html#api-arrays-datetime" TargetMode="External"/><Relationship Id="rId6" Type="http://schemas.openxmlformats.org/officeDocument/2006/relationships/hyperlink" Target="https://pandas.pydata.org/docs/reference/api/pandas.Timedelta.html#pandas.Timedelta" TargetMode="External"/><Relationship Id="rId7" Type="http://schemas.openxmlformats.org/officeDocument/2006/relationships/hyperlink" Target="https://pandas.pydata.org/docs/reference/arrays.html#api-arrays-timedelta" TargetMode="External"/><Relationship Id="rId8" Type="http://schemas.openxmlformats.org/officeDocument/2006/relationships/hyperlink" Target="https://pandas.pydata.org/docs/reference/api/pandas.PeriodDtype.html#pandas.PeriodDtype" TargetMode="External"/><Relationship Id="rId11" Type="http://schemas.openxmlformats.org/officeDocument/2006/relationships/hyperlink" Target="https://pandas.pydata.org/docs/reference/api/pandas.IntervalDtype.html#pandas.IntervalDtype" TargetMode="External"/><Relationship Id="rId10" Type="http://schemas.openxmlformats.org/officeDocument/2006/relationships/hyperlink" Target="https://pandas.pydata.org/docs/reference/arrays.html#api-arrays-period" TargetMode="External"/><Relationship Id="rId13" Type="http://schemas.openxmlformats.org/officeDocument/2006/relationships/hyperlink" Target="https://pandas.pydata.org/docs/reference/arrays.html#api-arrays-interval" TargetMode="External"/><Relationship Id="rId12" Type="http://schemas.openxmlformats.org/officeDocument/2006/relationships/hyperlink" Target="https://pandas.pydata.org/docs/reference/api/pandas.Interval.html#pandas.Interval" TargetMode="External"/><Relationship Id="rId15" Type="http://schemas.openxmlformats.org/officeDocument/2006/relationships/hyperlink" Target="https://pandas.pydata.org/docs/reference/arrays.html#api-arrays-integer-na" TargetMode="External"/><Relationship Id="rId14" Type="http://schemas.openxmlformats.org/officeDocument/2006/relationships/hyperlink" Target="https://pandas.pydata.org/docs/reference/api/pandas.Int64Dtype.html#pandas.Int64Dtype" TargetMode="External"/><Relationship Id="rId17" Type="http://schemas.openxmlformats.org/officeDocument/2006/relationships/hyperlink" Target="https://pandas.pydata.org/docs/reference/arrays.html#api-arrays-categorical" TargetMode="External"/><Relationship Id="rId16" Type="http://schemas.openxmlformats.org/officeDocument/2006/relationships/hyperlink" Target="https://pandas.pydata.org/docs/reference/api/pandas.CategoricalDtype.html#pandas.CategoricalDtype" TargetMode="External"/><Relationship Id="rId19" Type="http://schemas.openxmlformats.org/officeDocument/2006/relationships/hyperlink" Target="https://pandas.pydata.org/docs/reference/arrays.html#api-arrays-sparse" TargetMode="External"/><Relationship Id="rId18" Type="http://schemas.openxmlformats.org/officeDocument/2006/relationships/hyperlink" Target="https://pandas.pydata.org/docs/reference/api/pandas.SparseDtype.html#pandas.SparseDtype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Relationship Id="rId4" Type="http://schemas.openxmlformats.org/officeDocument/2006/relationships/hyperlink" Target="https://www.datanyze.com/market-share/databases--272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3.png"/><Relationship Id="rId4" Type="http://schemas.openxmlformats.org/officeDocument/2006/relationships/hyperlink" Target="https://r4ds.had.co.nz/relational-data.html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3.png"/><Relationship Id="rId4" Type="http://schemas.openxmlformats.org/officeDocument/2006/relationships/image" Target="../media/image15.png"/><Relationship Id="rId5" Type="http://schemas.openxmlformats.org/officeDocument/2006/relationships/hyperlink" Target="https://r4ds.had.co.nz/relational-data.html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.png"/><Relationship Id="rId4" Type="http://schemas.openxmlformats.org/officeDocument/2006/relationships/hyperlink" Target="https://r4ds.had.co.nz/relational-data.html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8.png"/><Relationship Id="rId4" Type="http://schemas.openxmlformats.org/officeDocument/2006/relationships/hyperlink" Target="https://r4ds.had.co.nz/relational-data.html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1.png"/><Relationship Id="rId4" Type="http://schemas.openxmlformats.org/officeDocument/2006/relationships/hyperlink" Target="https://r4ds.had.co.nz/relational-data.html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4.png"/><Relationship Id="rId4" Type="http://schemas.openxmlformats.org/officeDocument/2006/relationships/hyperlink" Target="https://r4ds.had.co.nz/relational-data.html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pandas.pydata.org/docs/getting_started/comparison/comparison_with_sql.html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pandas.pydata.org/docs/getting_started/comparison/comparison_with_sql.html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0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9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3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6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8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9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5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2"/>
          <p:cNvSpPr txBox="1"/>
          <p:nvPr>
            <p:ph type="ctrTitle"/>
          </p:nvPr>
        </p:nvSpPr>
        <p:spPr>
          <a:xfrm>
            <a:off x="3654279" y="2265285"/>
            <a:ext cx="4401000" cy="10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Science: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Simpsons &amp; Pandas</a:t>
            </a:r>
            <a:endParaRPr/>
          </a:p>
        </p:txBody>
      </p:sp>
      <p:sp>
        <p:nvSpPr>
          <p:cNvPr id="423" name="Google Shape;423;p32"/>
          <p:cNvSpPr txBox="1"/>
          <p:nvPr>
            <p:ph idx="1" type="subTitle"/>
          </p:nvPr>
        </p:nvSpPr>
        <p:spPr>
          <a:xfrm>
            <a:off x="3654279" y="3489852"/>
            <a:ext cx="4401000" cy="6039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Dr. Konrad Völkel, Sommersemester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3"/>
          <p:cNvSpPr txBox="1"/>
          <p:nvPr>
            <p:ph type="ctrTitle"/>
          </p:nvPr>
        </p:nvSpPr>
        <p:spPr>
          <a:xfrm>
            <a:off x="526536" y="2247714"/>
            <a:ext cx="2830200" cy="1188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/>
              <a:t>Simpson’s Paradox</a:t>
            </a:r>
            <a:endParaRPr sz="3400"/>
          </a:p>
        </p:txBody>
      </p:sp>
      <p:sp>
        <p:nvSpPr>
          <p:cNvPr id="429" name="Google Shape;429;p33"/>
          <p:cNvSpPr txBox="1"/>
          <p:nvPr>
            <p:ph idx="1" type="subTitle"/>
          </p:nvPr>
        </p:nvSpPr>
        <p:spPr>
          <a:xfrm>
            <a:off x="526536" y="3508164"/>
            <a:ext cx="2830200" cy="60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(hat nix mit Pandas zu tun)</a:t>
            </a:r>
            <a:endParaRPr/>
          </a:p>
        </p:txBody>
      </p:sp>
      <p:pic>
        <p:nvPicPr>
          <p:cNvPr id="430" name="Google Shape;430;p3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892" l="0" r="0" t="29309"/>
          <a:stretch/>
        </p:blipFill>
        <p:spPr>
          <a:xfrm>
            <a:off x="3537300" y="1087675"/>
            <a:ext cx="5606700" cy="3857400"/>
          </a:xfrm>
          <a:prstGeom prst="rect">
            <a:avLst/>
          </a:prstGeom>
        </p:spPr>
      </p:pic>
      <p:sp>
        <p:nvSpPr>
          <p:cNvPr id="431" name="Google Shape;431;p33"/>
          <p:cNvSpPr txBox="1"/>
          <p:nvPr/>
        </p:nvSpPr>
        <p:spPr>
          <a:xfrm>
            <a:off x="0" y="4326450"/>
            <a:ext cx="353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“Robotic sheep on Windows XP background, Kelvin timeline”</a:t>
            </a:r>
            <a:endParaRPr/>
          </a:p>
        </p:txBody>
      </p:sp>
      <p:sp>
        <p:nvSpPr>
          <p:cNvPr id="432" name="Google Shape;432;p33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</p:spPr>
        <p:txBody>
          <a:bodyPr anchorCtr="0" anchor="t" bIns="91425" lIns="91425" spcFirstLastPara="1" rIns="126000" wrap="square" tIns="54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4"/>
          <p:cNvSpPr txBox="1"/>
          <p:nvPr>
            <p:ph type="title"/>
          </p:nvPr>
        </p:nvSpPr>
        <p:spPr>
          <a:xfrm>
            <a:off x="526594" y="330502"/>
            <a:ext cx="6826800" cy="45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Simpson’s paradox</a:t>
            </a:r>
            <a:endParaRPr/>
          </a:p>
        </p:txBody>
      </p:sp>
      <p:sp>
        <p:nvSpPr>
          <p:cNvPr id="438" name="Google Shape;438;p34"/>
          <p:cNvSpPr txBox="1"/>
          <p:nvPr>
            <p:ph idx="1" type="body"/>
          </p:nvPr>
        </p:nvSpPr>
        <p:spPr>
          <a:xfrm>
            <a:off x="521550" y="1420645"/>
            <a:ext cx="8100900" cy="34881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GB" sz="3000"/>
              <a:t>Beispiel</a:t>
            </a:r>
            <a:r>
              <a:rPr lang="en-GB" sz="3000"/>
              <a:t> (straight from Wikipedia bzw. [1])</a:t>
            </a:r>
            <a:endParaRPr sz="3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3000"/>
              <a:t>Man vergleicht zwei Behandlungen (A, B) für Nierensteine. Behandlung A hat eine Erfolgsrate von 78% (273/350), hingegen Behandlung B hat 83% (289/350) Erfolg.</a:t>
            </a:r>
            <a:endParaRPr sz="3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900"/>
              <a:t>[1] </a:t>
            </a:r>
            <a:r>
              <a:rPr lang="en-GB" sz="900">
                <a:solidFill>
                  <a:srgbClr val="202122"/>
                </a:solidFill>
              </a:rPr>
              <a:t>C. R. Charig; D. R. Webb; S. R. Payne; J. E. Wickham (29 March 1986). </a:t>
            </a:r>
            <a:r>
              <a:rPr lang="en-GB" sz="900">
                <a:solidFill>
                  <a:srgbClr val="3366BB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"Comparison of treatment of renal calculi by open surgery, percutaneous nephrolithotomy, and extracorporeal shockwave lithotripsy"</a:t>
            </a:r>
            <a:r>
              <a:rPr lang="en-GB" sz="900">
                <a:solidFill>
                  <a:srgbClr val="202122"/>
                </a:solidFill>
              </a:rPr>
              <a:t>. </a:t>
            </a:r>
            <a:r>
              <a:rPr i="1" lang="en-GB" sz="900">
                <a:solidFill>
                  <a:srgbClr val="0645AD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Br Med J (Clin Res Ed)</a:t>
            </a:r>
            <a:r>
              <a:rPr lang="en-GB" sz="900">
                <a:solidFill>
                  <a:srgbClr val="202122"/>
                </a:solidFill>
              </a:rPr>
              <a:t>. </a:t>
            </a:r>
            <a:r>
              <a:rPr b="1" lang="en-GB" sz="900">
                <a:solidFill>
                  <a:srgbClr val="202122"/>
                </a:solidFill>
              </a:rPr>
              <a:t>292</a:t>
            </a:r>
            <a:r>
              <a:rPr lang="en-GB" sz="900">
                <a:solidFill>
                  <a:srgbClr val="202122"/>
                </a:solidFill>
              </a:rPr>
              <a:t> (6524): 879–882. </a:t>
            </a:r>
            <a:r>
              <a:rPr lang="en-GB" sz="900">
                <a:solidFill>
                  <a:srgbClr val="0645AD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doi</a:t>
            </a:r>
            <a:r>
              <a:rPr lang="en-GB" sz="900">
                <a:solidFill>
                  <a:srgbClr val="202122"/>
                </a:solidFill>
              </a:rPr>
              <a:t>:</a:t>
            </a:r>
            <a:r>
              <a:rPr lang="en-GB" sz="900">
                <a:solidFill>
                  <a:srgbClr val="3366BB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10.1136/bmj.292.6524.879</a:t>
            </a:r>
            <a:endParaRPr sz="900"/>
          </a:p>
        </p:txBody>
      </p:sp>
      <p:sp>
        <p:nvSpPr>
          <p:cNvPr id="439" name="Google Shape;439;p34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</p:spPr>
        <p:txBody>
          <a:bodyPr anchorCtr="0" anchor="t" bIns="91425" lIns="91425" spcFirstLastPara="1" rIns="126000" wrap="square" tIns="54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40" name="Google Shape;440;p34"/>
          <p:cNvSpPr txBox="1"/>
          <p:nvPr>
            <p:ph idx="2" type="body"/>
          </p:nvPr>
        </p:nvSpPr>
        <p:spPr>
          <a:xfrm>
            <a:off x="521494" y="1087042"/>
            <a:ext cx="8100900" cy="32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Oder: warum Clustern und Verteilungen mischen eine verdammt gute Idee ist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5"/>
          <p:cNvSpPr txBox="1"/>
          <p:nvPr>
            <p:ph type="title"/>
          </p:nvPr>
        </p:nvSpPr>
        <p:spPr>
          <a:xfrm>
            <a:off x="526594" y="330502"/>
            <a:ext cx="6826800" cy="45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Simpson’s paradox</a:t>
            </a:r>
            <a:endParaRPr/>
          </a:p>
        </p:txBody>
      </p:sp>
      <p:sp>
        <p:nvSpPr>
          <p:cNvPr id="446" name="Google Shape;446;p35"/>
          <p:cNvSpPr txBox="1"/>
          <p:nvPr>
            <p:ph idx="1" type="body"/>
          </p:nvPr>
        </p:nvSpPr>
        <p:spPr>
          <a:xfrm>
            <a:off x="521550" y="1420645"/>
            <a:ext cx="8100900" cy="34881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GB" sz="3000"/>
              <a:t>Beispiel</a:t>
            </a:r>
            <a:r>
              <a:rPr lang="en-GB" sz="3000"/>
              <a:t>:</a:t>
            </a:r>
            <a:endParaRPr sz="3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3000"/>
              <a:t>Man vergleicht zwei Behandlungen (A, B) für Nierensteine. Behandlung A hat eine Erfolgsrate von 78% (273/350), hingegen Behandlung B hat 83% (289/350) Erfolg.</a:t>
            </a:r>
            <a:endParaRPr sz="3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3000"/>
              <a:t>Ist B die bessere Behandlung?</a:t>
            </a:r>
            <a:endParaRPr sz="3000"/>
          </a:p>
        </p:txBody>
      </p:sp>
      <p:sp>
        <p:nvSpPr>
          <p:cNvPr id="447" name="Google Shape;447;p35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</p:spPr>
        <p:txBody>
          <a:bodyPr anchorCtr="0" anchor="t" bIns="91425" lIns="91425" spcFirstLastPara="1" rIns="126000" wrap="square" tIns="54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48" name="Google Shape;448;p35"/>
          <p:cNvSpPr txBox="1"/>
          <p:nvPr>
            <p:ph idx="2" type="body"/>
          </p:nvPr>
        </p:nvSpPr>
        <p:spPr>
          <a:xfrm>
            <a:off x="521494" y="1087042"/>
            <a:ext cx="8100900" cy="32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Oder: warum Clustern und Verteilungen mischen eine verdammt gute Idee ist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6"/>
          <p:cNvSpPr txBox="1"/>
          <p:nvPr>
            <p:ph type="title"/>
          </p:nvPr>
        </p:nvSpPr>
        <p:spPr>
          <a:xfrm>
            <a:off x="526594" y="330502"/>
            <a:ext cx="6826800" cy="45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Simpson’s paradox</a:t>
            </a:r>
            <a:endParaRPr/>
          </a:p>
        </p:txBody>
      </p:sp>
      <p:sp>
        <p:nvSpPr>
          <p:cNvPr id="454" name="Google Shape;454;p36"/>
          <p:cNvSpPr txBox="1"/>
          <p:nvPr>
            <p:ph idx="1" type="body"/>
          </p:nvPr>
        </p:nvSpPr>
        <p:spPr>
          <a:xfrm>
            <a:off x="521550" y="1420645"/>
            <a:ext cx="8100900" cy="34881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GB" sz="2500"/>
              <a:t>Beispiel</a:t>
            </a:r>
            <a:r>
              <a:rPr lang="en-GB" sz="2500"/>
              <a:t>:</a:t>
            </a:r>
            <a:endParaRPr sz="2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500"/>
              <a:t>Man vergleicht zwei Behandlungen (A, B) für Nierensteine. </a:t>
            </a:r>
            <a:r>
              <a:rPr i="1" lang="en-GB" sz="2500"/>
              <a:t>Es gibt kleine und große Nierensteine.</a:t>
            </a:r>
            <a:endParaRPr i="1" sz="2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500"/>
              <a:t>Bei </a:t>
            </a:r>
            <a:r>
              <a:rPr i="1" lang="en-GB" sz="2500"/>
              <a:t>kleinen</a:t>
            </a:r>
            <a:r>
              <a:rPr lang="en-GB" sz="2500"/>
              <a:t> Nierensteinen ist die Erfolgswahrscheinlichkeit von A bei 93% (81/87), hingegen B bei 87% (234/270).</a:t>
            </a:r>
            <a:endParaRPr sz="2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500"/>
              <a:t>Ist A die bessere Behandlung bei kleinen Nierensteinen?</a:t>
            </a:r>
            <a:endParaRPr sz="2500"/>
          </a:p>
        </p:txBody>
      </p:sp>
      <p:sp>
        <p:nvSpPr>
          <p:cNvPr id="455" name="Google Shape;455;p36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</p:spPr>
        <p:txBody>
          <a:bodyPr anchorCtr="0" anchor="t" bIns="91425" lIns="91425" spcFirstLastPara="1" rIns="126000" wrap="square" tIns="54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56" name="Google Shape;456;p36"/>
          <p:cNvSpPr txBox="1"/>
          <p:nvPr>
            <p:ph idx="2" type="body"/>
          </p:nvPr>
        </p:nvSpPr>
        <p:spPr>
          <a:xfrm>
            <a:off x="521494" y="1087042"/>
            <a:ext cx="8100900" cy="32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Oder: warum Clustern und Verteilungen mischen eine verdammt gute Idee ist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7"/>
          <p:cNvSpPr txBox="1"/>
          <p:nvPr>
            <p:ph type="title"/>
          </p:nvPr>
        </p:nvSpPr>
        <p:spPr>
          <a:xfrm>
            <a:off x="526594" y="330502"/>
            <a:ext cx="6826800" cy="45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Simpson’s paradox</a:t>
            </a:r>
            <a:endParaRPr/>
          </a:p>
        </p:txBody>
      </p:sp>
      <p:sp>
        <p:nvSpPr>
          <p:cNvPr id="462" name="Google Shape;462;p37"/>
          <p:cNvSpPr txBox="1"/>
          <p:nvPr>
            <p:ph idx="1" type="body"/>
          </p:nvPr>
        </p:nvSpPr>
        <p:spPr>
          <a:xfrm>
            <a:off x="521550" y="1420645"/>
            <a:ext cx="8100900" cy="34881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GB" sz="2500"/>
              <a:t>Beispiel</a:t>
            </a:r>
            <a:r>
              <a:rPr lang="en-GB" sz="2500"/>
              <a:t>:</a:t>
            </a:r>
            <a:endParaRPr sz="2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500"/>
              <a:t>Man vergleicht zwei Behandlungen (A, B) für Nierensteine. </a:t>
            </a:r>
            <a:r>
              <a:rPr i="1" lang="en-GB" sz="2500"/>
              <a:t>Es gibt kleine und große Nierensteine.</a:t>
            </a:r>
            <a:endParaRPr i="1" sz="2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500"/>
              <a:t>Bei </a:t>
            </a:r>
            <a:r>
              <a:rPr i="1" lang="en-GB" sz="2500"/>
              <a:t>großen</a:t>
            </a:r>
            <a:r>
              <a:rPr lang="en-GB" sz="2500"/>
              <a:t> Nierensteinen ist die Erfolgswahrscheinlichkeit von A bei </a:t>
            </a:r>
            <a:r>
              <a:rPr lang="en-GB" sz="2500"/>
              <a:t>73% (192/263)</a:t>
            </a:r>
            <a:r>
              <a:rPr lang="en-GB" sz="2500"/>
              <a:t>, hingegen B bei </a:t>
            </a:r>
            <a:r>
              <a:rPr lang="en-GB" sz="2500"/>
              <a:t>69% (55/80)</a:t>
            </a:r>
            <a:r>
              <a:rPr lang="en-GB" sz="2500"/>
              <a:t>.</a:t>
            </a:r>
            <a:endParaRPr sz="2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500"/>
              <a:t>Ist A die bessere Behandlung bei großen Nierensteinen?</a:t>
            </a:r>
            <a:endParaRPr sz="2500"/>
          </a:p>
        </p:txBody>
      </p:sp>
      <p:sp>
        <p:nvSpPr>
          <p:cNvPr id="463" name="Google Shape;463;p37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</p:spPr>
        <p:txBody>
          <a:bodyPr anchorCtr="0" anchor="t" bIns="91425" lIns="91425" spcFirstLastPara="1" rIns="126000" wrap="square" tIns="54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64" name="Google Shape;464;p37"/>
          <p:cNvSpPr txBox="1"/>
          <p:nvPr>
            <p:ph idx="2" type="body"/>
          </p:nvPr>
        </p:nvSpPr>
        <p:spPr>
          <a:xfrm>
            <a:off x="521494" y="1087042"/>
            <a:ext cx="8100900" cy="32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Oder: warum Clustern und Verteilungen mischen eine verdammt gute Idee ist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8"/>
          <p:cNvSpPr txBox="1"/>
          <p:nvPr>
            <p:ph type="title"/>
          </p:nvPr>
        </p:nvSpPr>
        <p:spPr>
          <a:xfrm>
            <a:off x="526594" y="330502"/>
            <a:ext cx="6826800" cy="45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Simpson’s paradox</a:t>
            </a:r>
            <a:endParaRPr/>
          </a:p>
        </p:txBody>
      </p:sp>
      <p:sp>
        <p:nvSpPr>
          <p:cNvPr id="470" name="Google Shape;470;p38"/>
          <p:cNvSpPr txBox="1"/>
          <p:nvPr>
            <p:ph idx="1" type="body"/>
          </p:nvPr>
        </p:nvSpPr>
        <p:spPr>
          <a:xfrm>
            <a:off x="521550" y="1420645"/>
            <a:ext cx="8100900" cy="34881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GB" sz="2500"/>
              <a:t>Beispiel</a:t>
            </a:r>
            <a:r>
              <a:rPr lang="en-GB" sz="2500"/>
              <a:t>:</a:t>
            </a:r>
            <a:endParaRPr sz="2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500"/>
              <a:t>Man vergleicht zwei Behandlungen (A, B) für Nierensteine. </a:t>
            </a:r>
            <a:r>
              <a:rPr i="1" lang="en-GB" sz="2500"/>
              <a:t>Es gibt kleine und große Nierensteine.</a:t>
            </a:r>
            <a:endParaRPr i="1" sz="2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471" name="Google Shape;471;p38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</p:spPr>
        <p:txBody>
          <a:bodyPr anchorCtr="0" anchor="t" bIns="91425" lIns="91425" spcFirstLastPara="1" rIns="126000" wrap="square" tIns="54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72" name="Google Shape;472;p38"/>
          <p:cNvSpPr txBox="1"/>
          <p:nvPr>
            <p:ph idx="2" type="body"/>
          </p:nvPr>
        </p:nvSpPr>
        <p:spPr>
          <a:xfrm>
            <a:off x="521494" y="1087042"/>
            <a:ext cx="8100900" cy="32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Oder: warum Clustern und Verteilungen mischen eine verdammt gute Idee ist</a:t>
            </a:r>
            <a:endParaRPr/>
          </a:p>
        </p:txBody>
      </p:sp>
      <p:graphicFrame>
        <p:nvGraphicFramePr>
          <p:cNvPr id="473" name="Google Shape;473;p38"/>
          <p:cNvGraphicFramePr/>
          <p:nvPr/>
        </p:nvGraphicFramePr>
        <p:xfrm>
          <a:off x="526600" y="2718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{591EDD35-F7D5-4A0D-AE6D-22B7702B5ACF}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marR="26670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50">
                        <a:solidFill>
                          <a:schemeClr val="dk1"/>
                        </a:solidFill>
                      </a:endParaRPr>
                    </a:p>
                  </a:txBody>
                  <a:tcPr marT="13325" marB="13325" marR="53350" marL="53350">
                    <a:lnL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>
                          <a:solidFill>
                            <a:schemeClr val="dk1"/>
                          </a:solidFill>
                        </a:rPr>
                        <a:t>Behandlung</a:t>
                      </a:r>
                      <a:r>
                        <a:rPr b="1" lang="en-GB" sz="1050">
                          <a:solidFill>
                            <a:schemeClr val="dk1"/>
                          </a:solidFill>
                        </a:rPr>
                        <a:t> A</a:t>
                      </a:r>
                      <a:endParaRPr b="1" sz="1050">
                        <a:solidFill>
                          <a:schemeClr val="dk1"/>
                        </a:solidFill>
                      </a:endParaRPr>
                    </a:p>
                  </a:txBody>
                  <a:tcPr marT="26675" marB="26675" marR="53350" marL="53350">
                    <a:lnL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>
                          <a:solidFill>
                            <a:schemeClr val="dk1"/>
                          </a:solidFill>
                        </a:rPr>
                        <a:t>Behandlung</a:t>
                      </a:r>
                      <a:r>
                        <a:rPr b="1" lang="en-GB" sz="1050">
                          <a:solidFill>
                            <a:schemeClr val="dk1"/>
                          </a:solidFill>
                        </a:rPr>
                        <a:t> B</a:t>
                      </a:r>
                      <a:endParaRPr b="1" sz="1050">
                        <a:solidFill>
                          <a:schemeClr val="dk1"/>
                        </a:solidFill>
                      </a:endParaRPr>
                    </a:p>
                  </a:txBody>
                  <a:tcPr marT="26675" marB="26675" marR="53350" marL="53350">
                    <a:lnL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CF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>
                          <a:solidFill>
                            <a:schemeClr val="dk1"/>
                          </a:solidFill>
                        </a:rPr>
                        <a:t>Kleine Nierensteine</a:t>
                      </a:r>
                      <a:endParaRPr b="1" sz="1050">
                        <a:solidFill>
                          <a:schemeClr val="dk1"/>
                        </a:solidFill>
                      </a:endParaRPr>
                    </a:p>
                  </a:txBody>
                  <a:tcPr marT="26675" marB="26675" marR="53350" marL="53350">
                    <a:lnL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>
                          <a:solidFill>
                            <a:schemeClr val="dk1"/>
                          </a:solidFill>
                        </a:rPr>
                        <a:t>93% (81/87)</a:t>
                      </a:r>
                      <a:endParaRPr b="1" sz="1050">
                        <a:solidFill>
                          <a:schemeClr val="dk1"/>
                        </a:solidFill>
                      </a:endParaRPr>
                    </a:p>
                  </a:txBody>
                  <a:tcPr marT="26675" marB="26675" marR="53350" marL="53350">
                    <a:lnL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</a:rPr>
                        <a:t>87% (234/270)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26675" marB="26675" marR="53350" marL="53350">
                    <a:lnL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>
                          <a:solidFill>
                            <a:schemeClr val="dk1"/>
                          </a:solidFill>
                        </a:rPr>
                        <a:t>Große Nierensteine</a:t>
                      </a:r>
                      <a:endParaRPr b="1" sz="1050">
                        <a:solidFill>
                          <a:schemeClr val="dk1"/>
                        </a:solidFill>
                      </a:endParaRPr>
                    </a:p>
                  </a:txBody>
                  <a:tcPr marT="26675" marB="26675" marR="53350" marL="53350">
                    <a:lnL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>
                          <a:solidFill>
                            <a:schemeClr val="dk1"/>
                          </a:solidFill>
                        </a:rPr>
                        <a:t>73% (192/263)</a:t>
                      </a:r>
                      <a:endParaRPr b="1" sz="1050">
                        <a:solidFill>
                          <a:schemeClr val="dk1"/>
                        </a:solidFill>
                      </a:endParaRPr>
                    </a:p>
                  </a:txBody>
                  <a:tcPr marT="26675" marB="26675" marR="53350" marL="53350">
                    <a:lnL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</a:rPr>
                        <a:t>69% (55/80)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26675" marB="26675" marR="53350" marL="53350">
                    <a:lnL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>
                          <a:solidFill>
                            <a:schemeClr val="dk1"/>
                          </a:solidFill>
                        </a:rPr>
                        <a:t>Alle Nierensteine</a:t>
                      </a:r>
                      <a:endParaRPr b="1" sz="1050">
                        <a:solidFill>
                          <a:schemeClr val="dk1"/>
                        </a:solidFill>
                      </a:endParaRPr>
                    </a:p>
                  </a:txBody>
                  <a:tcPr marT="26675" marB="26675" marR="53350" marL="53350">
                    <a:lnL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</a:rPr>
                        <a:t>78% (273/350)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26675" marB="26675" marR="53350" marL="53350">
                    <a:lnL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>
                          <a:solidFill>
                            <a:schemeClr val="dk1"/>
                          </a:solidFill>
                        </a:rPr>
                        <a:t>83% (289/350)</a:t>
                      </a:r>
                      <a:endParaRPr b="1" sz="10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50">
                        <a:solidFill>
                          <a:schemeClr val="dk1"/>
                        </a:solidFill>
                      </a:endParaRPr>
                    </a:p>
                  </a:txBody>
                  <a:tcPr marT="26675" marB="26675" marR="53350" marL="53350">
                    <a:lnL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9"/>
          <p:cNvSpPr txBox="1"/>
          <p:nvPr>
            <p:ph type="title"/>
          </p:nvPr>
        </p:nvSpPr>
        <p:spPr>
          <a:xfrm>
            <a:off x="526594" y="330502"/>
            <a:ext cx="6826800" cy="45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Simpson’s paradox</a:t>
            </a:r>
            <a:endParaRPr/>
          </a:p>
        </p:txBody>
      </p:sp>
      <p:sp>
        <p:nvSpPr>
          <p:cNvPr id="479" name="Google Shape;479;p39"/>
          <p:cNvSpPr txBox="1"/>
          <p:nvPr>
            <p:ph idx="1" type="body"/>
          </p:nvPr>
        </p:nvSpPr>
        <p:spPr>
          <a:xfrm>
            <a:off x="521550" y="1420645"/>
            <a:ext cx="8100900" cy="34881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GB" sz="2500"/>
              <a:t>Beispiel</a:t>
            </a:r>
            <a:r>
              <a:rPr lang="en-GB" sz="2500"/>
              <a:t>:</a:t>
            </a:r>
            <a:endParaRPr sz="2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500"/>
              <a:t>Der “Confounder” ist die Größe der Nierensteine.</a:t>
            </a:r>
            <a:endParaRPr sz="2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500"/>
              <a:t>B kommt häufiger bei kleinen zum Einsatz:</a:t>
            </a:r>
            <a:endParaRPr sz="2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500"/>
              <a:t>A ist besser und teurer, wird also nur im Ernstfall genutzt.</a:t>
            </a:r>
            <a:endParaRPr sz="2500"/>
          </a:p>
        </p:txBody>
      </p:sp>
      <p:sp>
        <p:nvSpPr>
          <p:cNvPr id="480" name="Google Shape;480;p39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</p:spPr>
        <p:txBody>
          <a:bodyPr anchorCtr="0" anchor="t" bIns="91425" lIns="91425" spcFirstLastPara="1" rIns="126000" wrap="square" tIns="54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1" name="Google Shape;481;p39"/>
          <p:cNvSpPr txBox="1"/>
          <p:nvPr>
            <p:ph idx="2" type="body"/>
          </p:nvPr>
        </p:nvSpPr>
        <p:spPr>
          <a:xfrm>
            <a:off x="521494" y="1087042"/>
            <a:ext cx="8100900" cy="32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Oder: warum Clustern und Verteilungen mischen eine verdammt gute Idee ist</a:t>
            </a:r>
            <a:endParaRPr/>
          </a:p>
        </p:txBody>
      </p:sp>
      <p:graphicFrame>
        <p:nvGraphicFramePr>
          <p:cNvPr id="482" name="Google Shape;482;p39"/>
          <p:cNvGraphicFramePr/>
          <p:nvPr/>
        </p:nvGraphicFramePr>
        <p:xfrm>
          <a:off x="526600" y="2718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{591EDD35-F7D5-4A0D-AE6D-22B7702B5ACF}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marR="26670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50">
                        <a:solidFill>
                          <a:schemeClr val="dk1"/>
                        </a:solidFill>
                      </a:endParaRPr>
                    </a:p>
                  </a:txBody>
                  <a:tcPr marT="13325" marB="13325" marR="53350" marL="53350">
                    <a:lnL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>
                          <a:solidFill>
                            <a:schemeClr val="dk1"/>
                          </a:solidFill>
                        </a:rPr>
                        <a:t>Behandlung A</a:t>
                      </a:r>
                      <a:endParaRPr b="1" sz="1050">
                        <a:solidFill>
                          <a:schemeClr val="dk1"/>
                        </a:solidFill>
                      </a:endParaRPr>
                    </a:p>
                  </a:txBody>
                  <a:tcPr marT="26675" marB="26675" marR="53350" marL="53350">
                    <a:lnL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>
                          <a:solidFill>
                            <a:schemeClr val="dk1"/>
                          </a:solidFill>
                        </a:rPr>
                        <a:t>Behandlung B</a:t>
                      </a:r>
                      <a:endParaRPr b="1" sz="1050">
                        <a:solidFill>
                          <a:schemeClr val="dk1"/>
                        </a:solidFill>
                      </a:endParaRPr>
                    </a:p>
                  </a:txBody>
                  <a:tcPr marT="26675" marB="26675" marR="53350" marL="53350">
                    <a:lnL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CF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>
                          <a:solidFill>
                            <a:schemeClr val="dk1"/>
                          </a:solidFill>
                        </a:rPr>
                        <a:t>Kleine Nierensteine</a:t>
                      </a:r>
                      <a:endParaRPr b="1" sz="1050">
                        <a:solidFill>
                          <a:schemeClr val="dk1"/>
                        </a:solidFill>
                      </a:endParaRPr>
                    </a:p>
                  </a:txBody>
                  <a:tcPr marT="26675" marB="26675" marR="53350" marL="53350">
                    <a:lnL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>
                          <a:solidFill>
                            <a:schemeClr val="dk1"/>
                          </a:solidFill>
                        </a:rPr>
                        <a:t>93% (81/87)</a:t>
                      </a:r>
                      <a:endParaRPr b="1" sz="1050">
                        <a:solidFill>
                          <a:schemeClr val="dk1"/>
                        </a:solidFill>
                      </a:endParaRPr>
                    </a:p>
                  </a:txBody>
                  <a:tcPr marT="26675" marB="26675" marR="53350" marL="53350">
                    <a:lnL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</a:rPr>
                        <a:t>87% (234/270)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26675" marB="26675" marR="53350" marL="53350">
                    <a:lnL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>
                          <a:solidFill>
                            <a:schemeClr val="dk1"/>
                          </a:solidFill>
                        </a:rPr>
                        <a:t>Große Nierensteine</a:t>
                      </a:r>
                      <a:endParaRPr b="1" sz="1050">
                        <a:solidFill>
                          <a:schemeClr val="dk1"/>
                        </a:solidFill>
                      </a:endParaRPr>
                    </a:p>
                  </a:txBody>
                  <a:tcPr marT="26675" marB="26675" marR="53350" marL="53350">
                    <a:lnL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>
                          <a:solidFill>
                            <a:schemeClr val="dk1"/>
                          </a:solidFill>
                        </a:rPr>
                        <a:t>73% (192/263)</a:t>
                      </a:r>
                      <a:endParaRPr b="1" sz="1050">
                        <a:solidFill>
                          <a:schemeClr val="dk1"/>
                        </a:solidFill>
                      </a:endParaRPr>
                    </a:p>
                  </a:txBody>
                  <a:tcPr marT="26675" marB="26675" marR="53350" marL="53350">
                    <a:lnL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</a:rPr>
                        <a:t>69% (55/80)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26675" marB="26675" marR="53350" marL="53350">
                    <a:lnL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>
                          <a:solidFill>
                            <a:schemeClr val="dk1"/>
                          </a:solidFill>
                        </a:rPr>
                        <a:t>Alle Nierensteine</a:t>
                      </a:r>
                      <a:endParaRPr b="1" sz="1050">
                        <a:solidFill>
                          <a:schemeClr val="dk1"/>
                        </a:solidFill>
                      </a:endParaRPr>
                    </a:p>
                  </a:txBody>
                  <a:tcPr marT="26675" marB="26675" marR="53350" marL="53350">
                    <a:lnL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chemeClr val="dk1"/>
                          </a:solidFill>
                        </a:rPr>
                        <a:t>78% (273/350)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26675" marB="26675" marR="53350" marL="53350">
                    <a:lnL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>
                          <a:solidFill>
                            <a:schemeClr val="dk1"/>
                          </a:solidFill>
                        </a:rPr>
                        <a:t>83% (289/350)</a:t>
                      </a:r>
                      <a:endParaRPr b="1" sz="10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50">
                        <a:solidFill>
                          <a:schemeClr val="dk1"/>
                        </a:solidFill>
                      </a:endParaRPr>
                    </a:p>
                  </a:txBody>
                  <a:tcPr marT="26675" marB="26675" marR="53350" marL="53350">
                    <a:lnL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A2A9B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0"/>
          <p:cNvSpPr txBox="1"/>
          <p:nvPr>
            <p:ph type="title"/>
          </p:nvPr>
        </p:nvSpPr>
        <p:spPr>
          <a:xfrm>
            <a:off x="526594" y="330502"/>
            <a:ext cx="6826800" cy="45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Simpson’s paradox</a:t>
            </a:r>
            <a:endParaRPr/>
          </a:p>
        </p:txBody>
      </p:sp>
      <p:sp>
        <p:nvSpPr>
          <p:cNvPr id="488" name="Google Shape;488;p40"/>
          <p:cNvSpPr txBox="1"/>
          <p:nvPr>
            <p:ph idx="1" type="body"/>
          </p:nvPr>
        </p:nvSpPr>
        <p:spPr>
          <a:xfrm>
            <a:off x="521550" y="1420645"/>
            <a:ext cx="8100900" cy="34881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500"/>
              <a:t>Abstrakter haben wir es oft mit Verteilungen zu tun,</a:t>
            </a:r>
            <a:br>
              <a:rPr lang="en-GB" sz="2500"/>
            </a:br>
            <a:r>
              <a:rPr lang="en-GB" sz="2500"/>
              <a:t>d</a:t>
            </a:r>
            <a:r>
              <a:rPr lang="en-GB" sz="2500"/>
              <a:t>ie als Mischung (Summe) von Verteilungen auftreten,</a:t>
            </a:r>
            <a:endParaRPr sz="2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500"/>
              <a:t>deren einzelne Tendenz der Summentendenz zuwider läuft:</a:t>
            </a:r>
            <a:endParaRPr sz="2500"/>
          </a:p>
        </p:txBody>
      </p:sp>
      <p:sp>
        <p:nvSpPr>
          <p:cNvPr id="489" name="Google Shape;489;p40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</p:spPr>
        <p:txBody>
          <a:bodyPr anchorCtr="0" anchor="t" bIns="91425" lIns="91425" spcFirstLastPara="1" rIns="126000" wrap="square" tIns="54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90" name="Google Shape;490;p40"/>
          <p:cNvSpPr txBox="1"/>
          <p:nvPr>
            <p:ph idx="2" type="body"/>
          </p:nvPr>
        </p:nvSpPr>
        <p:spPr>
          <a:xfrm>
            <a:off x="521494" y="1087042"/>
            <a:ext cx="8100900" cy="32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Oder: warum Clustern und Verteilungen mischen eine verdammt gute Idee ist</a:t>
            </a:r>
            <a:endParaRPr/>
          </a:p>
        </p:txBody>
      </p:sp>
      <p:pic>
        <p:nvPicPr>
          <p:cNvPr id="491" name="Google Shape;49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1025" y="2654750"/>
            <a:ext cx="3441949" cy="2293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41"/>
          <p:cNvSpPr txBox="1"/>
          <p:nvPr>
            <p:ph type="title"/>
          </p:nvPr>
        </p:nvSpPr>
        <p:spPr>
          <a:xfrm>
            <a:off x="526594" y="330502"/>
            <a:ext cx="6826800" cy="45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Simpson’s paradox</a:t>
            </a:r>
            <a:endParaRPr/>
          </a:p>
        </p:txBody>
      </p:sp>
      <p:sp>
        <p:nvSpPr>
          <p:cNvPr id="497" name="Google Shape;497;p41"/>
          <p:cNvSpPr txBox="1"/>
          <p:nvPr>
            <p:ph idx="1" type="body"/>
          </p:nvPr>
        </p:nvSpPr>
        <p:spPr>
          <a:xfrm>
            <a:off x="521550" y="1420645"/>
            <a:ext cx="8100900" cy="34881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500"/>
              <a:t>Take-Home-Message:</a:t>
            </a:r>
            <a:endParaRPr sz="2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500"/>
              <a:t>Die globalen Tendenzen (z.B. Korrelationen) einer Verteilung sind trügerisch, wenn es latente Variablen gibt,</a:t>
            </a:r>
            <a:endParaRPr sz="2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500"/>
              <a:t>wie z.B. die Zugehörigkeit zu Klassen.</a:t>
            </a:r>
            <a:endParaRPr sz="2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300"/>
              <a:t>Übungsaufgabe: machen Sie sich das am Iris-Datensatz klar.</a:t>
            </a:r>
            <a:endParaRPr sz="2300"/>
          </a:p>
        </p:txBody>
      </p:sp>
      <p:sp>
        <p:nvSpPr>
          <p:cNvPr id="498" name="Google Shape;498;p41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</p:spPr>
        <p:txBody>
          <a:bodyPr anchorCtr="0" anchor="t" bIns="91425" lIns="91425" spcFirstLastPara="1" rIns="126000" wrap="square" tIns="54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99" name="Google Shape;499;p41"/>
          <p:cNvSpPr txBox="1"/>
          <p:nvPr>
            <p:ph idx="2" type="body"/>
          </p:nvPr>
        </p:nvSpPr>
        <p:spPr>
          <a:xfrm>
            <a:off x="521494" y="1087042"/>
            <a:ext cx="8100900" cy="32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Oder: warum Clustern und Verteilungen mischen eine verdammt gute Idee ist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2"/>
          <p:cNvSpPr txBox="1"/>
          <p:nvPr>
            <p:ph type="ctrTitle"/>
          </p:nvPr>
        </p:nvSpPr>
        <p:spPr>
          <a:xfrm>
            <a:off x="526536" y="2247714"/>
            <a:ext cx="2830200" cy="1188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/>
              <a:t>Pandas</a:t>
            </a:r>
            <a:endParaRPr sz="2900"/>
          </a:p>
        </p:txBody>
      </p:sp>
      <p:sp>
        <p:nvSpPr>
          <p:cNvPr id="505" name="Google Shape;505;p42"/>
          <p:cNvSpPr txBox="1"/>
          <p:nvPr>
            <p:ph idx="1" type="subTitle"/>
          </p:nvPr>
        </p:nvSpPr>
        <p:spPr>
          <a:xfrm>
            <a:off x="526536" y="3508164"/>
            <a:ext cx="2830200" cy="60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Dataframes</a:t>
            </a:r>
            <a:endParaRPr/>
          </a:p>
        </p:txBody>
      </p:sp>
      <p:pic>
        <p:nvPicPr>
          <p:cNvPr id="506" name="Google Shape;506;p4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9289" l="-9016" r="0" t="5715"/>
          <a:stretch/>
        </p:blipFill>
        <p:spPr>
          <a:xfrm>
            <a:off x="3537300" y="1087675"/>
            <a:ext cx="5606700" cy="3857400"/>
          </a:xfrm>
          <a:prstGeom prst="rect">
            <a:avLst/>
          </a:prstGeom>
        </p:spPr>
      </p:pic>
      <p:sp>
        <p:nvSpPr>
          <p:cNvPr id="507" name="Google Shape;507;p42"/>
          <p:cNvSpPr txBox="1"/>
          <p:nvPr/>
        </p:nvSpPr>
        <p:spPr>
          <a:xfrm>
            <a:off x="0" y="4337800"/>
            <a:ext cx="353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“Meditating Panda, ink”</a:t>
            </a:r>
            <a:endParaRPr/>
          </a:p>
        </p:txBody>
      </p:sp>
      <p:sp>
        <p:nvSpPr>
          <p:cNvPr id="508" name="Google Shape;508;p42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</p:spPr>
        <p:txBody>
          <a:bodyPr anchorCtr="0" anchor="t" bIns="91425" lIns="91425" spcFirstLastPara="1" rIns="126000" wrap="square" tIns="54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43"/>
          <p:cNvSpPr txBox="1"/>
          <p:nvPr>
            <p:ph type="title"/>
          </p:nvPr>
        </p:nvSpPr>
        <p:spPr>
          <a:xfrm>
            <a:off x="526594" y="330502"/>
            <a:ext cx="6826800" cy="45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Pandas</a:t>
            </a:r>
            <a:endParaRPr/>
          </a:p>
        </p:txBody>
      </p:sp>
      <p:sp>
        <p:nvSpPr>
          <p:cNvPr id="514" name="Google Shape;514;p43"/>
          <p:cNvSpPr txBox="1"/>
          <p:nvPr>
            <p:ph idx="1" type="body"/>
          </p:nvPr>
        </p:nvSpPr>
        <p:spPr>
          <a:xfrm>
            <a:off x="521550" y="1420645"/>
            <a:ext cx="8100900" cy="34881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3000"/>
              <a:t>Die grundlegende Datenstruktur bei Pandas ist der Pandas </a:t>
            </a:r>
            <a:r>
              <a:rPr lang="en-GB" sz="3000">
                <a:latin typeface="Source Code Pro"/>
                <a:ea typeface="Source Code Pro"/>
                <a:cs typeface="Source Code Pro"/>
                <a:sym typeface="Source Code Pro"/>
              </a:rPr>
              <a:t>DataFrame</a:t>
            </a:r>
            <a:r>
              <a:rPr lang="en-GB" sz="3000"/>
              <a:t>.</a:t>
            </a:r>
            <a:endParaRPr sz="3000"/>
          </a:p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◼"/>
            </a:pPr>
            <a:r>
              <a:rPr lang="en-GB" sz="3000"/>
              <a:t>wie ein data.frame in R</a:t>
            </a:r>
            <a:endParaRPr sz="30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◼"/>
            </a:pPr>
            <a:r>
              <a:rPr lang="en-GB" sz="3000"/>
              <a:t>ein bisschen wie ein Numpy record array</a:t>
            </a:r>
            <a:endParaRPr sz="30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◼"/>
            </a:pPr>
            <a:r>
              <a:rPr lang="en-GB" sz="3000"/>
              <a:t>aber: 2D (keine allgemeinen Tensoren), d.h.</a:t>
            </a:r>
            <a:endParaRPr sz="30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◼"/>
            </a:pPr>
            <a:r>
              <a:rPr lang="en-GB" sz="3000"/>
              <a:t>Tabellarische Daten</a:t>
            </a:r>
            <a:endParaRPr sz="30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◼"/>
            </a:pPr>
            <a:r>
              <a:rPr lang="en-GB" sz="3000"/>
              <a:t>“Ein Excel Sheet in Python”</a:t>
            </a:r>
            <a:endParaRPr sz="3000"/>
          </a:p>
        </p:txBody>
      </p:sp>
      <p:sp>
        <p:nvSpPr>
          <p:cNvPr id="515" name="Google Shape;515;p43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</p:spPr>
        <p:txBody>
          <a:bodyPr anchorCtr="0" anchor="t" bIns="91425" lIns="91425" spcFirstLastPara="1" rIns="126000" wrap="square" tIns="54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16" name="Google Shape;516;p43"/>
          <p:cNvSpPr txBox="1"/>
          <p:nvPr>
            <p:ph idx="2" type="body"/>
          </p:nvPr>
        </p:nvSpPr>
        <p:spPr>
          <a:xfrm>
            <a:off x="521494" y="1087042"/>
            <a:ext cx="8100900" cy="32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Dataframes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44"/>
          <p:cNvSpPr txBox="1"/>
          <p:nvPr>
            <p:ph type="title"/>
          </p:nvPr>
        </p:nvSpPr>
        <p:spPr>
          <a:xfrm>
            <a:off x="526594" y="330502"/>
            <a:ext cx="6826800" cy="45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Pandas</a:t>
            </a:r>
            <a:endParaRPr/>
          </a:p>
        </p:txBody>
      </p:sp>
      <p:sp>
        <p:nvSpPr>
          <p:cNvPr id="522" name="Google Shape;522;p44"/>
          <p:cNvSpPr txBox="1"/>
          <p:nvPr>
            <p:ph idx="1" type="body"/>
          </p:nvPr>
        </p:nvSpPr>
        <p:spPr>
          <a:xfrm>
            <a:off x="521550" y="1420645"/>
            <a:ext cx="8100900" cy="34881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500">
                <a:latin typeface="Source Code Pro"/>
                <a:ea typeface="Source Code Pro"/>
                <a:cs typeface="Source Code Pro"/>
                <a:sym typeface="Source Code Pro"/>
              </a:rPr>
              <a:t>import pandas as pd</a:t>
            </a:r>
            <a:endParaRPr sz="2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500">
                <a:latin typeface="Source Code Pro"/>
                <a:ea typeface="Source Code Pro"/>
                <a:cs typeface="Source Code Pro"/>
                <a:sym typeface="Source Code Pro"/>
              </a:rPr>
              <a:t>columns = { 'colname1':[val1, …], …}</a:t>
            </a:r>
            <a:endParaRPr sz="2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500">
                <a:latin typeface="Source Code Pro"/>
                <a:ea typeface="Source Code Pro"/>
                <a:cs typeface="Source Code Pro"/>
                <a:sym typeface="Source Code Pro"/>
              </a:rPr>
              <a:t>df = pd.DataFrame(columns)</a:t>
            </a:r>
            <a:endParaRPr sz="2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500">
                <a:latin typeface="Source Code Pro"/>
                <a:ea typeface="Source Code Pro"/>
                <a:cs typeface="Source Code Pro"/>
                <a:sym typeface="Source Code Pro"/>
              </a:rPr>
              <a:t>print(df[</a:t>
            </a:r>
            <a:r>
              <a:rPr lang="en-GB" sz="2500">
                <a:latin typeface="Source Code Pro"/>
                <a:ea typeface="Source Code Pro"/>
                <a:cs typeface="Source Code Pro"/>
                <a:sym typeface="Source Code Pro"/>
              </a:rPr>
              <a:t>'colname1']) # val1 …</a:t>
            </a:r>
            <a:endParaRPr sz="2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500">
                <a:latin typeface="Source Code Pro"/>
                <a:ea typeface="Source Code Pro"/>
                <a:cs typeface="Source Code Pro"/>
                <a:sym typeface="Source Code Pro"/>
              </a:rPr>
              <a:t>print(df.colname1)    # geht genauso</a:t>
            </a:r>
            <a:endParaRPr sz="2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500">
                <a:latin typeface="Source Code Pro"/>
                <a:ea typeface="Source Code Pro"/>
                <a:cs typeface="Source Code Pro"/>
                <a:sym typeface="Source Code Pro"/>
              </a:rPr>
              <a:t>df.dtypes</a:t>
            </a:r>
            <a:endParaRPr sz="2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500">
                <a:latin typeface="Source Code Pro"/>
                <a:ea typeface="Source Code Pro"/>
                <a:cs typeface="Source Code Pro"/>
                <a:sym typeface="Source Code Pro"/>
              </a:rPr>
              <a:t># da wird klar, dass Numpy dahinter steckt</a:t>
            </a:r>
            <a:endParaRPr sz="25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523" name="Google Shape;523;p44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</p:spPr>
        <p:txBody>
          <a:bodyPr anchorCtr="0" anchor="t" bIns="91425" lIns="91425" spcFirstLastPara="1" rIns="126000" wrap="square" tIns="54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24" name="Google Shape;524;p44"/>
          <p:cNvSpPr txBox="1"/>
          <p:nvPr>
            <p:ph idx="2" type="body"/>
          </p:nvPr>
        </p:nvSpPr>
        <p:spPr>
          <a:xfrm>
            <a:off x="521494" y="1087042"/>
            <a:ext cx="8100900" cy="32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Dataframes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45"/>
          <p:cNvSpPr txBox="1"/>
          <p:nvPr>
            <p:ph type="title"/>
          </p:nvPr>
        </p:nvSpPr>
        <p:spPr>
          <a:xfrm>
            <a:off x="526594" y="330502"/>
            <a:ext cx="6826800" cy="45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Pandas</a:t>
            </a:r>
            <a:endParaRPr/>
          </a:p>
        </p:txBody>
      </p:sp>
      <p:sp>
        <p:nvSpPr>
          <p:cNvPr id="530" name="Google Shape;530;p45"/>
          <p:cNvSpPr txBox="1"/>
          <p:nvPr>
            <p:ph idx="1" type="body"/>
          </p:nvPr>
        </p:nvSpPr>
        <p:spPr>
          <a:xfrm>
            <a:off x="521550" y="1420645"/>
            <a:ext cx="8100900" cy="34881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500">
                <a:latin typeface="Source Code Pro"/>
                <a:ea typeface="Source Code Pro"/>
                <a:cs typeface="Source Code Pro"/>
                <a:sym typeface="Source Code Pro"/>
              </a:rPr>
              <a:t>import pandas as pd</a:t>
            </a:r>
            <a:endParaRPr sz="2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500">
                <a:latin typeface="Source Code Pro"/>
                <a:ea typeface="Source Code Pro"/>
                <a:cs typeface="Source Code Pro"/>
                <a:sym typeface="Source Code Pro"/>
              </a:rPr>
              <a:t># Laden (geht auch mit URL):</a:t>
            </a:r>
            <a:endParaRPr sz="2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500">
                <a:latin typeface="Source Code Pro"/>
                <a:ea typeface="Source Code Pro"/>
                <a:cs typeface="Source Code Pro"/>
                <a:sym typeface="Source Code Pro"/>
              </a:rPr>
              <a:t>df = pd.read_csv('data.csv')</a:t>
            </a:r>
            <a:endParaRPr sz="2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500">
                <a:latin typeface="Source Code Pro"/>
                <a:ea typeface="Source Code Pro"/>
                <a:cs typeface="Source Code Pro"/>
                <a:sym typeface="Source Code Pro"/>
              </a:rPr>
              <a:t>…</a:t>
            </a:r>
            <a:endParaRPr sz="2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500">
                <a:latin typeface="Source Code Pro"/>
                <a:ea typeface="Source Code Pro"/>
                <a:cs typeface="Source Code Pro"/>
                <a:sym typeface="Source Code Pro"/>
              </a:rPr>
              <a:t># Speichern:</a:t>
            </a:r>
            <a:endParaRPr sz="2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500">
                <a:latin typeface="Source Code Pro"/>
                <a:ea typeface="Source Code Pro"/>
                <a:cs typeface="Source Code Pro"/>
                <a:sym typeface="Source Code Pro"/>
              </a:rPr>
              <a:t>df.to_csv('modified-data.csv',</a:t>
            </a:r>
            <a:br>
              <a:rPr lang="en-GB" sz="2500"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GB" sz="2500">
                <a:latin typeface="Source Code Pro"/>
                <a:ea typeface="Source Code Pro"/>
                <a:cs typeface="Source Code Pro"/>
                <a:sym typeface="Source Code Pro"/>
              </a:rPr>
              <a:t>          encoding='utf-8')</a:t>
            </a:r>
            <a:endParaRPr sz="25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531" name="Google Shape;531;p45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</p:spPr>
        <p:txBody>
          <a:bodyPr anchorCtr="0" anchor="t" bIns="91425" lIns="91425" spcFirstLastPara="1" rIns="126000" wrap="square" tIns="54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32" name="Google Shape;532;p45"/>
          <p:cNvSpPr txBox="1"/>
          <p:nvPr>
            <p:ph idx="2" type="body"/>
          </p:nvPr>
        </p:nvSpPr>
        <p:spPr>
          <a:xfrm>
            <a:off x="521494" y="1087042"/>
            <a:ext cx="8100900" cy="32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Dataframes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46"/>
          <p:cNvSpPr txBox="1"/>
          <p:nvPr>
            <p:ph type="title"/>
          </p:nvPr>
        </p:nvSpPr>
        <p:spPr>
          <a:xfrm>
            <a:off x="526594" y="330502"/>
            <a:ext cx="6826800" cy="45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Pandas</a:t>
            </a:r>
            <a:endParaRPr/>
          </a:p>
        </p:txBody>
      </p:sp>
      <p:sp>
        <p:nvSpPr>
          <p:cNvPr id="538" name="Google Shape;538;p46"/>
          <p:cNvSpPr txBox="1"/>
          <p:nvPr>
            <p:ph idx="1" type="body"/>
          </p:nvPr>
        </p:nvSpPr>
        <p:spPr>
          <a:xfrm>
            <a:off x="521550" y="1420645"/>
            <a:ext cx="8100900" cy="34881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500"/>
              <a:t>Die zweite grundlegende Datenstruktur bei Pandas ist die Pandas </a:t>
            </a:r>
            <a:r>
              <a:rPr lang="en-GB" sz="2500">
                <a:latin typeface="Source Code Pro"/>
                <a:ea typeface="Source Code Pro"/>
                <a:cs typeface="Source Code Pro"/>
                <a:sym typeface="Source Code Pro"/>
              </a:rPr>
              <a:t>Series</a:t>
            </a:r>
            <a:r>
              <a:rPr lang="en-GB" sz="2500"/>
              <a:t>.</a:t>
            </a:r>
            <a:endParaRPr sz="2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500"/>
              <a:t>Sie verhält sich wie Spalten einer Tabelle,</a:t>
            </a:r>
            <a:br>
              <a:rPr lang="en-GB" sz="2500"/>
            </a:br>
            <a:r>
              <a:rPr lang="en-GB" sz="2500"/>
              <a:t>also eindimensionale Arrays.</a:t>
            </a:r>
            <a:endParaRPr sz="2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200">
                <a:latin typeface="Source Code Pro"/>
                <a:ea typeface="Source Code Pro"/>
                <a:cs typeface="Source Code Pro"/>
                <a:sym typeface="Source Code Pro"/>
              </a:rPr>
              <a:t>s = df['colname1'].squeeze()</a:t>
            </a:r>
            <a:endParaRPr sz="22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200">
                <a:latin typeface="Source Code Pro"/>
                <a:ea typeface="Source Code Pro"/>
                <a:cs typeface="Source Code Pro"/>
                <a:sym typeface="Source Code Pro"/>
              </a:rPr>
              <a:t># type(s) == &lt;class </a:t>
            </a:r>
            <a:r>
              <a:rPr lang="en-GB" sz="2200">
                <a:latin typeface="Source Code Pro"/>
                <a:ea typeface="Source Code Pro"/>
                <a:cs typeface="Source Code Pro"/>
                <a:sym typeface="Source Code Pro"/>
              </a:rPr>
              <a:t>'</a:t>
            </a:r>
            <a:r>
              <a:rPr lang="en-GB" sz="2200">
                <a:latin typeface="Source Code Pro"/>
                <a:ea typeface="Source Code Pro"/>
                <a:cs typeface="Source Code Pro"/>
                <a:sym typeface="Source Code Pro"/>
              </a:rPr>
              <a:t>pandas.core.series.Series'&gt;</a:t>
            </a:r>
            <a:endParaRPr sz="22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539" name="Google Shape;539;p46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</p:spPr>
        <p:txBody>
          <a:bodyPr anchorCtr="0" anchor="t" bIns="91425" lIns="91425" spcFirstLastPara="1" rIns="126000" wrap="square" tIns="54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40" name="Google Shape;540;p46"/>
          <p:cNvSpPr txBox="1"/>
          <p:nvPr>
            <p:ph idx="2" type="body"/>
          </p:nvPr>
        </p:nvSpPr>
        <p:spPr>
          <a:xfrm>
            <a:off x="521494" y="1087042"/>
            <a:ext cx="8100900" cy="32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Series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7"/>
          <p:cNvSpPr txBox="1"/>
          <p:nvPr>
            <p:ph type="title"/>
          </p:nvPr>
        </p:nvSpPr>
        <p:spPr>
          <a:xfrm>
            <a:off x="526594" y="330502"/>
            <a:ext cx="6826800" cy="45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Pandas</a:t>
            </a:r>
            <a:endParaRPr/>
          </a:p>
        </p:txBody>
      </p:sp>
      <p:sp>
        <p:nvSpPr>
          <p:cNvPr id="546" name="Google Shape;546;p47"/>
          <p:cNvSpPr txBox="1"/>
          <p:nvPr>
            <p:ph idx="1" type="body"/>
          </p:nvPr>
        </p:nvSpPr>
        <p:spPr>
          <a:xfrm>
            <a:off x="521550" y="1420645"/>
            <a:ext cx="8100900" cy="34881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500"/>
              <a:t>Die Community rund um Pandas und Scientific Computing mit Python allgemein hat sehr viel Material produziert:</a:t>
            </a:r>
            <a:endParaRPr sz="2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500" u="sng">
                <a:solidFill>
                  <a:schemeClr val="dk2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pandas.pydata.org/docs/getting_started/tutorials.html</a:t>
            </a:r>
            <a:endParaRPr sz="2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500"/>
              <a:t>die </a:t>
            </a:r>
            <a:r>
              <a:rPr lang="en-GB" sz="2500" u="sng">
                <a:solidFill>
                  <a:schemeClr val="dk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API-Referenz</a:t>
            </a:r>
            <a:r>
              <a:rPr lang="en-GB" sz="2500">
                <a:solidFill>
                  <a:schemeClr val="dk2"/>
                </a:solidFill>
              </a:rPr>
              <a:t> </a:t>
            </a:r>
            <a:r>
              <a:rPr lang="en-GB" sz="2500"/>
              <a:t>ist ebenfalls exzellent (wie bei Numpy), z.B. ist </a:t>
            </a:r>
            <a:r>
              <a:rPr lang="en-GB" sz="2300" u="sng">
                <a:solidFill>
                  <a:schemeClr val="dk2"/>
                </a:solidFill>
                <a:highlight>
                  <a:srgbClr val="FFFFFF"/>
                </a:highlight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pandas.DataFrame.groupby</a:t>
            </a:r>
            <a:r>
              <a:rPr lang="en-GB" sz="2300">
                <a:highlight>
                  <a:srgbClr val="FFFFFF"/>
                </a:highlight>
              </a:rPr>
              <a:t> sehr nützlich.</a:t>
            </a:r>
            <a:endParaRPr sz="2500"/>
          </a:p>
        </p:txBody>
      </p:sp>
      <p:sp>
        <p:nvSpPr>
          <p:cNvPr id="547" name="Google Shape;547;p47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</p:spPr>
        <p:txBody>
          <a:bodyPr anchorCtr="0" anchor="t" bIns="91425" lIns="91425" spcFirstLastPara="1" rIns="126000" wrap="square" tIns="54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48" name="Google Shape;548;p47"/>
          <p:cNvSpPr txBox="1"/>
          <p:nvPr>
            <p:ph idx="2" type="body"/>
          </p:nvPr>
        </p:nvSpPr>
        <p:spPr>
          <a:xfrm>
            <a:off x="521494" y="1087042"/>
            <a:ext cx="8100900" cy="32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Dokumentation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48"/>
          <p:cNvSpPr txBox="1"/>
          <p:nvPr>
            <p:ph type="title"/>
          </p:nvPr>
        </p:nvSpPr>
        <p:spPr>
          <a:xfrm>
            <a:off x="526594" y="330502"/>
            <a:ext cx="6826800" cy="45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Pandas</a:t>
            </a:r>
            <a:endParaRPr/>
          </a:p>
        </p:txBody>
      </p:sp>
      <p:sp>
        <p:nvSpPr>
          <p:cNvPr id="554" name="Google Shape;554;p48"/>
          <p:cNvSpPr txBox="1"/>
          <p:nvPr>
            <p:ph idx="1" type="body"/>
          </p:nvPr>
        </p:nvSpPr>
        <p:spPr>
          <a:xfrm>
            <a:off x="521550" y="1420645"/>
            <a:ext cx="8100900" cy="34881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500"/>
              <a:t>Ein Punkt, den man einmal gesehen haben muss ist das Typensystem von Pandas. Es erweitert die Typen von Numpy:</a:t>
            </a:r>
            <a:endParaRPr sz="2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500" u="sng">
                <a:solidFill>
                  <a:schemeClr val="dk2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pandas.pydata.org/docs/reference/arrays.html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555" name="Google Shape;555;p48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</p:spPr>
        <p:txBody>
          <a:bodyPr anchorCtr="0" anchor="t" bIns="91425" lIns="91425" spcFirstLastPara="1" rIns="126000" wrap="square" tIns="54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56" name="Google Shape;556;p48"/>
          <p:cNvSpPr txBox="1"/>
          <p:nvPr>
            <p:ph idx="2" type="body"/>
          </p:nvPr>
        </p:nvSpPr>
        <p:spPr>
          <a:xfrm>
            <a:off x="521494" y="1087042"/>
            <a:ext cx="8100900" cy="32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Dokumentation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1" name="Google Shape;561;p49"/>
          <p:cNvGraphicFramePr/>
          <p:nvPr/>
        </p:nvGraphicFramePr>
        <p:xfrm>
          <a:off x="526600" y="14206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{591EDD35-F7D5-4A0D-AE6D-22B7702B5ACF}</a:tableStyleId>
              </a:tblPr>
              <a:tblGrid>
                <a:gridCol w="2025225"/>
                <a:gridCol w="2025225"/>
                <a:gridCol w="2025225"/>
                <a:gridCol w="2025225"/>
              </a:tblGrid>
              <a:tr h="335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>
                          <a:solidFill>
                            <a:srgbClr val="212529"/>
                          </a:solidFill>
                          <a:highlight>
                            <a:srgbClr val="FFFFFF"/>
                          </a:highlight>
                        </a:rPr>
                        <a:t>Kind of Data</a:t>
                      </a:r>
                      <a:endParaRPr b="1" sz="1300">
                        <a:solidFill>
                          <a:srgbClr val="212529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 anchor="b">
                    <a:lnT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>
                          <a:solidFill>
                            <a:srgbClr val="212529"/>
                          </a:solidFill>
                          <a:highlight>
                            <a:srgbClr val="FFFFFF"/>
                          </a:highlight>
                        </a:rPr>
                        <a:t>pandas Data Type</a:t>
                      </a:r>
                      <a:endParaRPr b="1" sz="1300">
                        <a:solidFill>
                          <a:srgbClr val="212529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 anchor="b">
                    <a:lnT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>
                          <a:solidFill>
                            <a:srgbClr val="212529"/>
                          </a:solidFill>
                          <a:highlight>
                            <a:srgbClr val="FFFFFF"/>
                          </a:highlight>
                        </a:rPr>
                        <a:t>Scalar</a:t>
                      </a:r>
                      <a:endParaRPr b="1" sz="1300">
                        <a:solidFill>
                          <a:srgbClr val="212529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 anchor="b">
                    <a:lnT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>
                          <a:solidFill>
                            <a:srgbClr val="212529"/>
                          </a:solidFill>
                          <a:highlight>
                            <a:srgbClr val="FFFFFF"/>
                          </a:highlight>
                        </a:rPr>
                        <a:t>Array</a:t>
                      </a:r>
                      <a:endParaRPr b="1" sz="1300">
                        <a:solidFill>
                          <a:srgbClr val="212529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 anchor="b">
                    <a:lnT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212529"/>
                          </a:solidFill>
                          <a:highlight>
                            <a:srgbClr val="FFFFFF"/>
                          </a:highlight>
                        </a:rPr>
                        <a:t>TZ-aware datetime</a:t>
                      </a:r>
                      <a:endParaRPr sz="1300">
                        <a:solidFill>
                          <a:srgbClr val="212529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T cap="flat" cmpd="sng" w="190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>
                          <a:solidFill>
                            <a:schemeClr val="hlink"/>
                          </a:solidFill>
                          <a:highlight>
                            <a:srgbClr val="FFFFFF"/>
                          </a:highlight>
                          <a:uFill>
                            <a:noFill/>
                          </a:uFill>
                          <a:hlinkClick r:id="rId3"/>
                        </a:rPr>
                        <a:t>DatetimeTZDtype</a:t>
                      </a:r>
                      <a:endParaRPr b="1" sz="1300">
                        <a:solidFill>
                          <a:schemeClr val="hlink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T cap="flat" cmpd="sng" w="190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>
                          <a:solidFill>
                            <a:schemeClr val="hlink"/>
                          </a:solidFill>
                          <a:highlight>
                            <a:srgbClr val="FFFFFF"/>
                          </a:highlight>
                          <a:uFill>
                            <a:noFill/>
                          </a:uFill>
                          <a:hlinkClick r:id="rId4"/>
                        </a:rPr>
                        <a:t>Timestamp</a:t>
                      </a:r>
                      <a:endParaRPr b="1" sz="1300">
                        <a:solidFill>
                          <a:schemeClr val="hlink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T cap="flat" cmpd="sng" w="190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hlink"/>
                          </a:solidFill>
                          <a:highlight>
                            <a:srgbClr val="FFFFFF"/>
                          </a:highlight>
                          <a:uFill>
                            <a:noFill/>
                          </a:uFill>
                          <a:hlinkClick r:id="rId5"/>
                        </a:rPr>
                        <a:t>Datetime data</a:t>
                      </a:r>
                      <a:endParaRPr sz="1300">
                        <a:solidFill>
                          <a:schemeClr val="hlink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T cap="flat" cmpd="sng" w="190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212529"/>
                          </a:solidFill>
                          <a:highlight>
                            <a:srgbClr val="FFFFFF"/>
                          </a:highlight>
                        </a:rPr>
                        <a:t>Timedeltas</a:t>
                      </a:r>
                      <a:endParaRPr sz="1300">
                        <a:solidFill>
                          <a:srgbClr val="212529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T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212529"/>
                          </a:solidFill>
                          <a:highlight>
                            <a:srgbClr val="FFFFFF"/>
                          </a:highlight>
                        </a:rPr>
                        <a:t>(none)</a:t>
                      </a:r>
                      <a:endParaRPr sz="1300">
                        <a:solidFill>
                          <a:srgbClr val="212529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T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>
                          <a:solidFill>
                            <a:schemeClr val="hlink"/>
                          </a:solidFill>
                          <a:highlight>
                            <a:srgbClr val="FFFFFF"/>
                          </a:highlight>
                          <a:uFill>
                            <a:noFill/>
                          </a:uFill>
                          <a:hlinkClick r:id="rId6"/>
                        </a:rPr>
                        <a:t>Timedelta</a:t>
                      </a:r>
                      <a:endParaRPr b="1" sz="1300">
                        <a:solidFill>
                          <a:schemeClr val="hlink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T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hlink"/>
                          </a:solidFill>
                          <a:highlight>
                            <a:srgbClr val="FFFFFF"/>
                          </a:highlight>
                          <a:uFill>
                            <a:noFill/>
                          </a:uFill>
                          <a:hlinkClick r:id="rId7"/>
                        </a:rPr>
                        <a:t>Timedelta data</a:t>
                      </a:r>
                      <a:endParaRPr sz="1300">
                        <a:solidFill>
                          <a:schemeClr val="hlink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T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212529"/>
                          </a:solidFill>
                          <a:highlight>
                            <a:srgbClr val="FFFFFF"/>
                          </a:highlight>
                        </a:rPr>
                        <a:t>Period (time spans)</a:t>
                      </a:r>
                      <a:endParaRPr sz="1300">
                        <a:solidFill>
                          <a:srgbClr val="212529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T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>
                          <a:solidFill>
                            <a:schemeClr val="hlink"/>
                          </a:solidFill>
                          <a:highlight>
                            <a:srgbClr val="FFFFFF"/>
                          </a:highlight>
                          <a:uFill>
                            <a:noFill/>
                          </a:uFill>
                          <a:hlinkClick r:id="rId8"/>
                        </a:rPr>
                        <a:t>PeriodDtype</a:t>
                      </a:r>
                      <a:endParaRPr b="1" sz="1300">
                        <a:solidFill>
                          <a:schemeClr val="hlink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T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>
                          <a:solidFill>
                            <a:schemeClr val="hlink"/>
                          </a:solidFill>
                          <a:highlight>
                            <a:srgbClr val="FFFFFF"/>
                          </a:highlight>
                          <a:uFill>
                            <a:noFill/>
                          </a:uFill>
                          <a:hlinkClick r:id="rId9"/>
                        </a:rPr>
                        <a:t>Period</a:t>
                      </a:r>
                      <a:endParaRPr b="1" sz="1300">
                        <a:solidFill>
                          <a:schemeClr val="hlink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T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hlink"/>
                          </a:solidFill>
                          <a:highlight>
                            <a:srgbClr val="FFFFFF"/>
                          </a:highlight>
                          <a:uFill>
                            <a:noFill/>
                          </a:uFill>
                          <a:hlinkClick r:id="rId10"/>
                        </a:rPr>
                        <a:t>Timespan data</a:t>
                      </a:r>
                      <a:endParaRPr sz="1300">
                        <a:solidFill>
                          <a:schemeClr val="hlink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T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212529"/>
                          </a:solidFill>
                          <a:highlight>
                            <a:srgbClr val="FFFFFF"/>
                          </a:highlight>
                        </a:rPr>
                        <a:t>Intervals</a:t>
                      </a:r>
                      <a:endParaRPr sz="1300">
                        <a:solidFill>
                          <a:srgbClr val="212529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T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>
                          <a:solidFill>
                            <a:schemeClr val="hlink"/>
                          </a:solidFill>
                          <a:highlight>
                            <a:srgbClr val="FFFFFF"/>
                          </a:highlight>
                          <a:uFill>
                            <a:noFill/>
                          </a:uFill>
                          <a:hlinkClick r:id="rId11"/>
                        </a:rPr>
                        <a:t>IntervalDtype</a:t>
                      </a:r>
                      <a:endParaRPr b="1" sz="1300">
                        <a:solidFill>
                          <a:schemeClr val="hlink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T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>
                          <a:solidFill>
                            <a:schemeClr val="hlink"/>
                          </a:solidFill>
                          <a:highlight>
                            <a:srgbClr val="FFFFFF"/>
                          </a:highlight>
                          <a:uFill>
                            <a:noFill/>
                          </a:uFill>
                          <a:hlinkClick r:id="rId12"/>
                        </a:rPr>
                        <a:t>Interval</a:t>
                      </a:r>
                      <a:endParaRPr b="1" sz="1300">
                        <a:solidFill>
                          <a:schemeClr val="hlink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T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hlink"/>
                          </a:solidFill>
                          <a:highlight>
                            <a:srgbClr val="FFFFFF"/>
                          </a:highlight>
                          <a:uFill>
                            <a:noFill/>
                          </a:uFill>
                          <a:hlinkClick r:id="rId13"/>
                        </a:rPr>
                        <a:t>Interval data</a:t>
                      </a:r>
                      <a:endParaRPr sz="1300">
                        <a:solidFill>
                          <a:schemeClr val="hlink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T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212529"/>
                          </a:solidFill>
                          <a:highlight>
                            <a:srgbClr val="FFFFFF"/>
                          </a:highlight>
                        </a:rPr>
                        <a:t>Nullable Integer</a:t>
                      </a:r>
                      <a:endParaRPr sz="1300">
                        <a:solidFill>
                          <a:srgbClr val="212529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T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>
                          <a:solidFill>
                            <a:schemeClr val="hlink"/>
                          </a:solidFill>
                          <a:highlight>
                            <a:srgbClr val="FFFFFF"/>
                          </a:highlight>
                          <a:uFill>
                            <a:noFill/>
                          </a:uFill>
                          <a:hlinkClick r:id="rId14"/>
                        </a:rPr>
                        <a:t>Int64Dtype</a:t>
                      </a:r>
                      <a:r>
                        <a:rPr lang="en-GB" sz="1300">
                          <a:solidFill>
                            <a:srgbClr val="212529"/>
                          </a:solidFill>
                          <a:highlight>
                            <a:srgbClr val="FFFFFF"/>
                          </a:highlight>
                        </a:rPr>
                        <a:t>, …</a:t>
                      </a:r>
                      <a:endParaRPr sz="1300">
                        <a:solidFill>
                          <a:srgbClr val="212529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T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212529"/>
                          </a:solidFill>
                          <a:highlight>
                            <a:srgbClr val="FFFFFF"/>
                          </a:highlight>
                        </a:rPr>
                        <a:t>(none)</a:t>
                      </a:r>
                      <a:endParaRPr sz="1300">
                        <a:solidFill>
                          <a:srgbClr val="212529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T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hlink"/>
                          </a:solidFill>
                          <a:highlight>
                            <a:srgbClr val="FFFFFF"/>
                          </a:highlight>
                          <a:uFill>
                            <a:noFill/>
                          </a:uFill>
                          <a:hlinkClick r:id="rId15"/>
                        </a:rPr>
                        <a:t>Nullable integer</a:t>
                      </a:r>
                      <a:endParaRPr sz="1300">
                        <a:solidFill>
                          <a:schemeClr val="hlink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T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212529"/>
                          </a:solidFill>
                          <a:highlight>
                            <a:srgbClr val="FFFFFF"/>
                          </a:highlight>
                        </a:rPr>
                        <a:t>Categorical</a:t>
                      </a:r>
                      <a:endParaRPr sz="1300">
                        <a:solidFill>
                          <a:srgbClr val="212529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T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>
                          <a:solidFill>
                            <a:schemeClr val="hlink"/>
                          </a:solidFill>
                          <a:highlight>
                            <a:srgbClr val="FFFFFF"/>
                          </a:highlight>
                          <a:uFill>
                            <a:noFill/>
                          </a:uFill>
                          <a:hlinkClick r:id="rId16"/>
                        </a:rPr>
                        <a:t>CategoricalDtype</a:t>
                      </a:r>
                      <a:endParaRPr b="1" sz="1300">
                        <a:solidFill>
                          <a:schemeClr val="hlink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T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212529"/>
                          </a:solidFill>
                          <a:highlight>
                            <a:srgbClr val="FFFFFF"/>
                          </a:highlight>
                        </a:rPr>
                        <a:t>(none)</a:t>
                      </a:r>
                      <a:endParaRPr sz="1300">
                        <a:solidFill>
                          <a:srgbClr val="212529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T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hlink"/>
                          </a:solidFill>
                          <a:highlight>
                            <a:srgbClr val="FFFFFF"/>
                          </a:highlight>
                          <a:uFill>
                            <a:noFill/>
                          </a:uFill>
                          <a:hlinkClick r:id="rId17"/>
                        </a:rPr>
                        <a:t>Categorical data</a:t>
                      </a:r>
                      <a:endParaRPr sz="1300">
                        <a:solidFill>
                          <a:schemeClr val="hlink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T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212529"/>
                          </a:solidFill>
                          <a:highlight>
                            <a:srgbClr val="FFFFFF"/>
                          </a:highlight>
                        </a:rPr>
                        <a:t>Sparse</a:t>
                      </a:r>
                      <a:endParaRPr sz="1300">
                        <a:solidFill>
                          <a:srgbClr val="212529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T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>
                          <a:solidFill>
                            <a:schemeClr val="hlink"/>
                          </a:solidFill>
                          <a:highlight>
                            <a:srgbClr val="FFFFFF"/>
                          </a:highlight>
                          <a:uFill>
                            <a:noFill/>
                          </a:uFill>
                          <a:hlinkClick r:id="rId18"/>
                        </a:rPr>
                        <a:t>SparseDtype</a:t>
                      </a:r>
                      <a:endParaRPr b="1" sz="1300">
                        <a:solidFill>
                          <a:schemeClr val="hlink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T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212529"/>
                          </a:solidFill>
                          <a:highlight>
                            <a:srgbClr val="FFFFFF"/>
                          </a:highlight>
                        </a:rPr>
                        <a:t>(none)</a:t>
                      </a:r>
                      <a:endParaRPr sz="1300">
                        <a:solidFill>
                          <a:srgbClr val="212529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T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hlink"/>
                          </a:solidFill>
                          <a:highlight>
                            <a:srgbClr val="FFFFFF"/>
                          </a:highlight>
                          <a:uFill>
                            <a:noFill/>
                          </a:uFill>
                          <a:hlinkClick r:id="rId19"/>
                        </a:rPr>
                        <a:t>Sparse data</a:t>
                      </a:r>
                      <a:endParaRPr sz="1300">
                        <a:solidFill>
                          <a:schemeClr val="hlink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T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212529"/>
                          </a:solidFill>
                          <a:highlight>
                            <a:srgbClr val="FFFFFF"/>
                          </a:highlight>
                        </a:rPr>
                        <a:t>Strings</a:t>
                      </a:r>
                      <a:endParaRPr sz="1300">
                        <a:solidFill>
                          <a:srgbClr val="212529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T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>
                          <a:solidFill>
                            <a:schemeClr val="hlink"/>
                          </a:solidFill>
                          <a:highlight>
                            <a:srgbClr val="FFFFFF"/>
                          </a:highlight>
                          <a:uFill>
                            <a:noFill/>
                          </a:uFill>
                          <a:hlinkClick r:id="rId20"/>
                        </a:rPr>
                        <a:t>StringDtype</a:t>
                      </a:r>
                      <a:endParaRPr b="1" sz="1300">
                        <a:solidFill>
                          <a:schemeClr val="hlink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T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>
                          <a:solidFill>
                            <a:schemeClr val="hlink"/>
                          </a:solidFill>
                          <a:highlight>
                            <a:srgbClr val="FFFFFF"/>
                          </a:highlight>
                          <a:uFill>
                            <a:noFill/>
                          </a:uFill>
                          <a:hlinkClick r:id="rId21"/>
                        </a:rPr>
                        <a:t>str</a:t>
                      </a:r>
                      <a:endParaRPr b="1" sz="1300">
                        <a:solidFill>
                          <a:schemeClr val="hlink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T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hlink"/>
                          </a:solidFill>
                          <a:highlight>
                            <a:srgbClr val="FFFFFF"/>
                          </a:highlight>
                          <a:uFill>
                            <a:noFill/>
                          </a:uFill>
                          <a:hlinkClick r:id="rId22"/>
                        </a:rPr>
                        <a:t>Text data</a:t>
                      </a:r>
                      <a:endParaRPr sz="1300">
                        <a:solidFill>
                          <a:schemeClr val="hlink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T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7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212529"/>
                          </a:solidFill>
                          <a:highlight>
                            <a:srgbClr val="FFFFFF"/>
                          </a:highlight>
                        </a:rPr>
                        <a:t>Boolean (with NA)</a:t>
                      </a:r>
                      <a:endParaRPr sz="1300">
                        <a:solidFill>
                          <a:srgbClr val="212529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T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>
                          <a:solidFill>
                            <a:schemeClr val="hlink"/>
                          </a:solidFill>
                          <a:highlight>
                            <a:srgbClr val="FFFFFF"/>
                          </a:highlight>
                          <a:uFill>
                            <a:noFill/>
                          </a:uFill>
                          <a:hlinkClick r:id="rId23"/>
                        </a:rPr>
                        <a:t>BooleanDtype</a:t>
                      </a:r>
                      <a:endParaRPr b="1" sz="1300">
                        <a:solidFill>
                          <a:schemeClr val="hlink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T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>
                          <a:solidFill>
                            <a:schemeClr val="hlink"/>
                          </a:solidFill>
                          <a:highlight>
                            <a:srgbClr val="FFFFFF"/>
                          </a:highlight>
                          <a:uFill>
                            <a:noFill/>
                          </a:uFill>
                          <a:hlinkClick r:id="rId24"/>
                        </a:rPr>
                        <a:t>bool</a:t>
                      </a:r>
                      <a:endParaRPr b="1" sz="1300">
                        <a:solidFill>
                          <a:schemeClr val="hlink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T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hlink"/>
                          </a:solidFill>
                          <a:highlight>
                            <a:srgbClr val="FFFFFF"/>
                          </a:highlight>
                          <a:uFill>
                            <a:noFill/>
                          </a:uFill>
                          <a:hlinkClick r:id="rId25"/>
                        </a:rPr>
                        <a:t>Boolean data with missing values</a:t>
                      </a:r>
                      <a:endParaRPr sz="1300">
                        <a:solidFill>
                          <a:schemeClr val="hlink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T cap="flat" cmpd="sng" w="1057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562" name="Google Shape;562;p49"/>
          <p:cNvSpPr txBox="1"/>
          <p:nvPr>
            <p:ph type="title"/>
          </p:nvPr>
        </p:nvSpPr>
        <p:spPr>
          <a:xfrm>
            <a:off x="526594" y="330502"/>
            <a:ext cx="6826800" cy="45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Pandas</a:t>
            </a:r>
            <a:endParaRPr/>
          </a:p>
        </p:txBody>
      </p:sp>
      <p:sp>
        <p:nvSpPr>
          <p:cNvPr id="563" name="Google Shape;563;p49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</p:spPr>
        <p:txBody>
          <a:bodyPr anchorCtr="0" anchor="t" bIns="91425" lIns="91425" spcFirstLastPara="1" rIns="126000" wrap="square" tIns="54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64" name="Google Shape;564;p49"/>
          <p:cNvSpPr txBox="1"/>
          <p:nvPr>
            <p:ph idx="2" type="body"/>
          </p:nvPr>
        </p:nvSpPr>
        <p:spPr>
          <a:xfrm>
            <a:off x="521494" y="1087042"/>
            <a:ext cx="8100900" cy="32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Typensystem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50"/>
          <p:cNvSpPr txBox="1"/>
          <p:nvPr>
            <p:ph type="ctrTitle"/>
          </p:nvPr>
        </p:nvSpPr>
        <p:spPr>
          <a:xfrm>
            <a:off x="526536" y="2247714"/>
            <a:ext cx="2830200" cy="1188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/>
              <a:t>SQL</a:t>
            </a:r>
            <a:endParaRPr sz="2900"/>
          </a:p>
        </p:txBody>
      </p:sp>
      <p:sp>
        <p:nvSpPr>
          <p:cNvPr id="570" name="Google Shape;570;p50"/>
          <p:cNvSpPr txBox="1"/>
          <p:nvPr>
            <p:ph idx="1" type="subTitle"/>
          </p:nvPr>
        </p:nvSpPr>
        <p:spPr>
          <a:xfrm>
            <a:off x="526536" y="3508164"/>
            <a:ext cx="2830200" cy="60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Joins &amp; Selects</a:t>
            </a:r>
            <a:endParaRPr/>
          </a:p>
        </p:txBody>
      </p:sp>
      <p:pic>
        <p:nvPicPr>
          <p:cNvPr id="571" name="Google Shape;571;p5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5604" l="0" r="0" t="15597"/>
          <a:stretch/>
        </p:blipFill>
        <p:spPr>
          <a:xfrm>
            <a:off x="3537300" y="1087675"/>
            <a:ext cx="5606700" cy="3857400"/>
          </a:xfrm>
          <a:prstGeom prst="rect">
            <a:avLst/>
          </a:prstGeom>
        </p:spPr>
      </p:pic>
      <p:sp>
        <p:nvSpPr>
          <p:cNvPr id="572" name="Google Shape;572;p50"/>
          <p:cNvSpPr txBox="1"/>
          <p:nvPr/>
        </p:nvSpPr>
        <p:spPr>
          <a:xfrm>
            <a:off x="0" y="4112075"/>
            <a:ext cx="3537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“Flock of happy floppy disks and CD-ROMs flying above beautiful landscape”</a:t>
            </a:r>
            <a:endParaRPr/>
          </a:p>
        </p:txBody>
      </p:sp>
      <p:sp>
        <p:nvSpPr>
          <p:cNvPr id="573" name="Google Shape;573;p50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</p:spPr>
        <p:txBody>
          <a:bodyPr anchorCtr="0" anchor="t" bIns="91425" lIns="91425" spcFirstLastPara="1" rIns="126000" wrap="square" tIns="54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51"/>
          <p:cNvSpPr txBox="1"/>
          <p:nvPr>
            <p:ph type="title"/>
          </p:nvPr>
        </p:nvSpPr>
        <p:spPr>
          <a:xfrm>
            <a:off x="526594" y="330502"/>
            <a:ext cx="6826800" cy="45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Pandas</a:t>
            </a:r>
            <a:endParaRPr/>
          </a:p>
        </p:txBody>
      </p:sp>
      <p:sp>
        <p:nvSpPr>
          <p:cNvPr id="579" name="Google Shape;579;p51"/>
          <p:cNvSpPr txBox="1"/>
          <p:nvPr>
            <p:ph idx="1" type="body"/>
          </p:nvPr>
        </p:nvSpPr>
        <p:spPr>
          <a:xfrm>
            <a:off x="521550" y="1420645"/>
            <a:ext cx="8100900" cy="34881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500"/>
              <a:t>Mit Pandas DataFrames kann man alle Operationen durchführen, die man auch in SQL ausdrücken kann.</a:t>
            </a:r>
            <a:endParaRPr sz="2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500"/>
              <a:t>Wir lernen, wie SQL Queries zu Pandas Code korrespondieren.</a:t>
            </a:r>
            <a:endParaRPr sz="2500"/>
          </a:p>
        </p:txBody>
      </p:sp>
      <p:sp>
        <p:nvSpPr>
          <p:cNvPr id="580" name="Google Shape;580;p51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</p:spPr>
        <p:txBody>
          <a:bodyPr anchorCtr="0" anchor="t" bIns="91425" lIns="91425" spcFirstLastPara="1" rIns="126000" wrap="square" tIns="54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81" name="Google Shape;581;p51"/>
          <p:cNvSpPr txBox="1"/>
          <p:nvPr>
            <p:ph idx="2" type="body"/>
          </p:nvPr>
        </p:nvSpPr>
        <p:spPr>
          <a:xfrm>
            <a:off x="521494" y="1087042"/>
            <a:ext cx="8100900" cy="32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52"/>
          <p:cNvSpPr txBox="1"/>
          <p:nvPr>
            <p:ph type="title"/>
          </p:nvPr>
        </p:nvSpPr>
        <p:spPr>
          <a:xfrm>
            <a:off x="526594" y="330502"/>
            <a:ext cx="6826800" cy="45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SQL</a:t>
            </a:r>
            <a:endParaRPr/>
          </a:p>
        </p:txBody>
      </p:sp>
      <p:sp>
        <p:nvSpPr>
          <p:cNvPr id="587" name="Google Shape;587;p52"/>
          <p:cNvSpPr txBox="1"/>
          <p:nvPr>
            <p:ph idx="1" type="body"/>
          </p:nvPr>
        </p:nvSpPr>
        <p:spPr>
          <a:xfrm>
            <a:off x="521550" y="1420650"/>
            <a:ext cx="3574200" cy="34881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Die Standard-Abfragesprache für </a:t>
            </a:r>
            <a:r>
              <a:rPr b="1" lang="en-GB"/>
              <a:t>relationale Datenbanken (RDBMS)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ISO-Standard seit 1987.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600"/>
              <a:t>Die kostenlosen Systeme MySQL und PostgreSQL sind hinter den meisten kleineren Webseiten und Blogs (z.B. alle Wordpress-Seiten, das sind bereits 40% aller Webseiten).</a:t>
            </a:r>
            <a:endParaRPr sz="1600"/>
          </a:p>
        </p:txBody>
      </p:sp>
      <p:pic>
        <p:nvPicPr>
          <p:cNvPr id="588" name="Google Shape;588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4425" y="1087676"/>
            <a:ext cx="4859750" cy="3759423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52"/>
          <p:cNvSpPr txBox="1"/>
          <p:nvPr/>
        </p:nvSpPr>
        <p:spPr>
          <a:xfrm>
            <a:off x="6696275" y="4231875"/>
            <a:ext cx="2367900" cy="292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u="sng">
                <a:solidFill>
                  <a:schemeClr val="hlink"/>
                </a:solidFill>
                <a:latin typeface="Source Sans Pro"/>
                <a:ea typeface="Source Sans Pro"/>
                <a:cs typeface="Source Sans Pro"/>
                <a:sym typeface="Source Sans Pro"/>
                <a:hlinkClick r:id="rId4"/>
              </a:rPr>
              <a:t>https://www.datanyze.com/market-share/databases--272</a:t>
            </a:r>
            <a:endParaRPr sz="7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590" name="Google Shape;590;p52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</p:spPr>
        <p:txBody>
          <a:bodyPr anchorCtr="0" anchor="t" bIns="91425" lIns="91425" spcFirstLastPara="1" rIns="126000" wrap="square" tIns="54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53"/>
          <p:cNvSpPr txBox="1"/>
          <p:nvPr>
            <p:ph type="title"/>
          </p:nvPr>
        </p:nvSpPr>
        <p:spPr>
          <a:xfrm>
            <a:off x="526594" y="330502"/>
            <a:ext cx="6826800" cy="45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SQL</a:t>
            </a:r>
            <a:endParaRPr/>
          </a:p>
        </p:txBody>
      </p:sp>
      <p:sp>
        <p:nvSpPr>
          <p:cNvPr id="596" name="Google Shape;596;p53"/>
          <p:cNvSpPr txBox="1"/>
          <p:nvPr>
            <p:ph idx="1" type="body"/>
          </p:nvPr>
        </p:nvSpPr>
        <p:spPr>
          <a:xfrm>
            <a:off x="521550" y="1087675"/>
            <a:ext cx="8096400" cy="38211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821"/>
              <a:t>In relationalen Datenbanken sind </a:t>
            </a:r>
            <a:r>
              <a:rPr b="1" lang="en-GB" sz="1821"/>
              <a:t>Tabellen</a:t>
            </a:r>
            <a:r>
              <a:rPr lang="en-GB" sz="1821"/>
              <a:t> (tables) die wichtigsten Objekte.</a:t>
            </a:r>
            <a:endParaRPr sz="182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800"/>
              <a:t>Ein SQL-Befehl fängt mit einem </a:t>
            </a:r>
            <a:r>
              <a:rPr b="1" lang="en-GB" sz="1800"/>
              <a:t>Kommando</a:t>
            </a:r>
            <a:r>
              <a:rPr lang="en-GB" sz="1800"/>
              <a:t> an: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300">
                <a:latin typeface="Source Code Pro"/>
                <a:ea typeface="Source Code Pro"/>
                <a:cs typeface="Source Code Pro"/>
                <a:sym typeface="Source Code Pro"/>
              </a:rPr>
              <a:t>SELECT			</a:t>
            </a:r>
            <a:r>
              <a:rPr lang="en-GB" sz="1300"/>
              <a:t>Daten auswählen/extrahieren</a:t>
            </a:r>
            <a:endParaRPr sz="1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300">
                <a:latin typeface="Source Code Pro"/>
                <a:ea typeface="Source Code Pro"/>
                <a:cs typeface="Source Code Pro"/>
                <a:sym typeface="Source Code Pro"/>
              </a:rPr>
              <a:t>UPDATE			</a:t>
            </a:r>
            <a:r>
              <a:rPr lang="en-GB" sz="1300"/>
              <a:t>Daten verändern/updaten</a:t>
            </a:r>
            <a:endParaRPr sz="1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300">
                <a:latin typeface="Source Code Pro"/>
                <a:ea typeface="Source Code Pro"/>
                <a:cs typeface="Source Code Pro"/>
                <a:sym typeface="Source Code Pro"/>
              </a:rPr>
              <a:t>DELETE			</a:t>
            </a:r>
            <a:r>
              <a:rPr lang="en-GB" sz="1300"/>
              <a:t>Daten löschen</a:t>
            </a:r>
            <a:endParaRPr sz="1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300">
                <a:latin typeface="Source Code Pro"/>
                <a:ea typeface="Source Code Pro"/>
                <a:cs typeface="Source Code Pro"/>
                <a:sym typeface="Source Code Pro"/>
              </a:rPr>
              <a:t>INSERT INTO		</a:t>
            </a:r>
            <a:r>
              <a:rPr lang="en-GB" sz="1300"/>
              <a:t>Neue Daten hinzufügen</a:t>
            </a:r>
            <a:endParaRPr sz="1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300">
                <a:latin typeface="Source Code Pro"/>
                <a:ea typeface="Source Code Pro"/>
                <a:cs typeface="Source Code Pro"/>
                <a:sym typeface="Source Code Pro"/>
              </a:rPr>
              <a:t>CREATE DATABASE	</a:t>
            </a:r>
            <a:r>
              <a:rPr lang="en-GB" sz="1300"/>
              <a:t>Neue Datenbank</a:t>
            </a:r>
            <a:endParaRPr sz="1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300">
                <a:latin typeface="Source Code Pro"/>
                <a:ea typeface="Source Code Pro"/>
                <a:cs typeface="Source Code Pro"/>
                <a:sym typeface="Source Code Pro"/>
              </a:rPr>
              <a:t>ALTER DATABASE	</a:t>
            </a:r>
            <a:r>
              <a:rPr lang="en-GB" sz="1300"/>
              <a:t>Datenbankparameter verändern</a:t>
            </a:r>
            <a:endParaRPr sz="1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300">
                <a:latin typeface="Source Code Pro"/>
                <a:ea typeface="Source Code Pro"/>
                <a:cs typeface="Source Code Pro"/>
                <a:sym typeface="Source Code Pro"/>
              </a:rPr>
              <a:t>CREATE TABLE		</a:t>
            </a:r>
            <a:r>
              <a:rPr lang="en-GB" sz="1300"/>
              <a:t>Neue Tabelle</a:t>
            </a:r>
            <a:endParaRPr sz="1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300">
                <a:latin typeface="Source Code Pro"/>
                <a:ea typeface="Source Code Pro"/>
                <a:cs typeface="Source Code Pro"/>
                <a:sym typeface="Source Code Pro"/>
              </a:rPr>
              <a:t>ALTER TABLE		</a:t>
            </a:r>
            <a:r>
              <a:rPr lang="en-GB" sz="1300"/>
              <a:t>Tabellenparameter verändern</a:t>
            </a:r>
            <a:endParaRPr sz="1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300">
                <a:latin typeface="Source Code Pro"/>
                <a:ea typeface="Source Code Pro"/>
                <a:cs typeface="Source Code Pro"/>
                <a:sym typeface="Source Code Pro"/>
              </a:rPr>
              <a:t>DROP TABLE		</a:t>
            </a:r>
            <a:r>
              <a:rPr lang="en-GB" sz="1300"/>
              <a:t>Tabelle löschen</a:t>
            </a:r>
            <a:endParaRPr sz="1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300">
                <a:latin typeface="Source Code Pro"/>
                <a:ea typeface="Source Code Pro"/>
                <a:cs typeface="Source Code Pro"/>
                <a:sym typeface="Source Code Pro"/>
              </a:rPr>
              <a:t>CREATE INDEX		</a:t>
            </a:r>
            <a:r>
              <a:rPr lang="en-GB" sz="1300"/>
              <a:t>Index erstellen (Suchschlüssel)</a:t>
            </a:r>
            <a:endParaRPr sz="1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300">
                <a:latin typeface="Source Code Pro"/>
                <a:ea typeface="Source Code Pro"/>
                <a:cs typeface="Source Code Pro"/>
                <a:sym typeface="Source Code Pro"/>
              </a:rPr>
              <a:t>DROP INDEX		</a:t>
            </a:r>
            <a:r>
              <a:rPr lang="en-GB" sz="1300"/>
              <a:t>Index löschen</a:t>
            </a:r>
            <a:endParaRPr sz="1300"/>
          </a:p>
        </p:txBody>
      </p:sp>
      <p:sp>
        <p:nvSpPr>
          <p:cNvPr id="597" name="Google Shape;597;p53"/>
          <p:cNvSpPr txBox="1"/>
          <p:nvPr/>
        </p:nvSpPr>
        <p:spPr>
          <a:xfrm>
            <a:off x="4317500" y="2125350"/>
            <a:ext cx="4544100" cy="8928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Source Sans Pro"/>
                <a:ea typeface="Source Sans Pro"/>
                <a:cs typeface="Source Sans Pro"/>
                <a:sym typeface="Source Sans Pro"/>
              </a:rPr>
              <a:t>Beispiel: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GB">
                <a:latin typeface="Source Sans Pro"/>
                <a:ea typeface="Source Sans Pro"/>
                <a:cs typeface="Source Sans Pro"/>
                <a:sym typeface="Source Sans Pro"/>
              </a:rPr>
            </a:br>
            <a:r>
              <a:rPr lang="en-GB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SELECT "Petal.Width" FROM iris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598" name="Google Shape;598;p53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</p:spPr>
        <p:txBody>
          <a:bodyPr anchorCtr="0" anchor="t" bIns="91425" lIns="91425" spcFirstLastPara="1" rIns="126000" wrap="square" tIns="54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54"/>
          <p:cNvSpPr txBox="1"/>
          <p:nvPr>
            <p:ph type="title"/>
          </p:nvPr>
        </p:nvSpPr>
        <p:spPr>
          <a:xfrm>
            <a:off x="526594" y="330502"/>
            <a:ext cx="6826800" cy="45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Grundbegriffe relationaler Datenbanken</a:t>
            </a:r>
            <a:endParaRPr/>
          </a:p>
        </p:txBody>
      </p:sp>
      <p:sp>
        <p:nvSpPr>
          <p:cNvPr id="604" name="Google Shape;604;p54"/>
          <p:cNvSpPr txBox="1"/>
          <p:nvPr>
            <p:ph idx="1" type="body"/>
          </p:nvPr>
        </p:nvSpPr>
        <p:spPr>
          <a:xfrm>
            <a:off x="521550" y="1420650"/>
            <a:ext cx="4112100" cy="34881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Ein </a:t>
            </a:r>
            <a:r>
              <a:rPr b="1" lang="en-GB"/>
              <a:t>Datenbankschema</a:t>
            </a:r>
            <a:r>
              <a:rPr lang="en-GB"/>
              <a:t> S ist eine endliche, nichtleere Menge von Relationsschemata.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Ein </a:t>
            </a:r>
            <a:r>
              <a:rPr b="1" lang="en-GB"/>
              <a:t>Relationsschema</a:t>
            </a:r>
            <a:r>
              <a:rPr lang="en-GB"/>
              <a:t> ist eine formale Beschreibung der Datentypen einer Relation.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GB"/>
              <a:t>Beispiel einer Relation: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605" name="Google Shape;605;p54"/>
          <p:cNvGraphicFramePr/>
          <p:nvPr/>
        </p:nvGraphicFramePr>
        <p:xfrm>
          <a:off x="521525" y="2985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{591EDD35-F7D5-4A0D-AE6D-22B7702B5ACF}</a:tableStyleId>
              </a:tblPr>
              <a:tblGrid>
                <a:gridCol w="4050900"/>
                <a:gridCol w="4050900"/>
              </a:tblGrid>
              <a:tr h="45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Spezies</a:t>
                      </a:r>
                      <a:endParaRPr b="1"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Kelchblattbreite</a:t>
                      </a:r>
                      <a:endParaRPr b="1"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</a:tr>
              <a:tr h="45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setosa</a:t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3.5</a:t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</a:tr>
              <a:tr h="45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versicolor</a:t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3.2</a:t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</a:tr>
              <a:tr h="45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versicolor</a:t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3.3</a:t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06" name="Google Shape;606;p54"/>
          <p:cNvSpPr txBox="1"/>
          <p:nvPr>
            <p:ph idx="4294967295" type="body"/>
          </p:nvPr>
        </p:nvSpPr>
        <p:spPr>
          <a:xfrm>
            <a:off x="4720200" y="1152475"/>
            <a:ext cx="3903000" cy="16674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2000">
            <a:noAutofit/>
          </a:bodyPr>
          <a:lstStyle/>
          <a:p>
            <a:pPr indent="0" lvl="0" marL="720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500"/>
              <a:t>Eine Tabelle heißt bei relationalen Datenbanken auch </a:t>
            </a:r>
            <a:r>
              <a:rPr b="1" lang="en-GB" sz="1500"/>
              <a:t>Relation</a:t>
            </a:r>
            <a:r>
              <a:rPr lang="en-GB" sz="1500"/>
              <a:t>.</a:t>
            </a:r>
            <a:br>
              <a:rPr lang="en-GB" sz="1500"/>
            </a:br>
            <a:r>
              <a:rPr lang="en-GB" sz="1500"/>
              <a:t>Die Zeilen heißen </a:t>
            </a:r>
            <a:r>
              <a:rPr b="1" lang="en-GB" sz="1500"/>
              <a:t>Entitäten</a:t>
            </a:r>
            <a:r>
              <a:rPr lang="en-GB" sz="1500"/>
              <a:t> oder Tupel.</a:t>
            </a:r>
            <a:br>
              <a:rPr lang="en-GB" sz="1500"/>
            </a:br>
            <a:r>
              <a:rPr lang="en-GB" sz="1500"/>
              <a:t>Die Spalten heißen </a:t>
            </a:r>
            <a:r>
              <a:rPr b="1" lang="en-GB" sz="1500"/>
              <a:t>Attribute</a:t>
            </a:r>
            <a:r>
              <a:rPr lang="en-GB" sz="1500"/>
              <a:t>.</a:t>
            </a:r>
            <a:br>
              <a:rPr lang="en-GB" sz="1500"/>
            </a:br>
            <a:r>
              <a:rPr lang="en-GB" sz="1500"/>
              <a:t>Die Werte, die ein Attribut annehmen kann (=die in der Spalte stehen dürfen), also der Datentyp, heißt </a:t>
            </a:r>
            <a:r>
              <a:rPr b="1" lang="en-GB" sz="1500"/>
              <a:t>Wertebereich</a:t>
            </a:r>
            <a:r>
              <a:rPr lang="en-GB" sz="1500"/>
              <a:t> (domain).</a:t>
            </a:r>
            <a:endParaRPr sz="1500"/>
          </a:p>
          <a:p>
            <a:pPr indent="0" lvl="0" marL="720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/>
          </a:p>
        </p:txBody>
      </p:sp>
      <p:sp>
        <p:nvSpPr>
          <p:cNvPr id="607" name="Google Shape;607;p54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</p:spPr>
        <p:txBody>
          <a:bodyPr anchorCtr="0" anchor="t" bIns="91425" lIns="91425" spcFirstLastPara="1" rIns="126000" wrap="square" tIns="54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55"/>
          <p:cNvSpPr txBox="1"/>
          <p:nvPr>
            <p:ph type="title"/>
          </p:nvPr>
        </p:nvSpPr>
        <p:spPr>
          <a:xfrm>
            <a:off x="526594" y="330502"/>
            <a:ext cx="6826800" cy="45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Zwei Datensätze vereinen</a:t>
            </a:r>
            <a:endParaRPr/>
          </a:p>
        </p:txBody>
      </p:sp>
      <p:sp>
        <p:nvSpPr>
          <p:cNvPr id="613" name="Google Shape;613;p55"/>
          <p:cNvSpPr txBox="1"/>
          <p:nvPr>
            <p:ph idx="1" type="body"/>
          </p:nvPr>
        </p:nvSpPr>
        <p:spPr>
          <a:xfrm>
            <a:off x="522300" y="1420650"/>
            <a:ext cx="3789900" cy="34881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Wie werden aus diesen zwei eins?</a:t>
            </a:r>
            <a:endParaRPr/>
          </a:p>
        </p:txBody>
      </p:sp>
      <p:sp>
        <p:nvSpPr>
          <p:cNvPr id="614" name="Google Shape;614;p55"/>
          <p:cNvSpPr txBox="1"/>
          <p:nvPr>
            <p:ph idx="2" type="body"/>
          </p:nvPr>
        </p:nvSpPr>
        <p:spPr>
          <a:xfrm>
            <a:off x="4833150" y="1420650"/>
            <a:ext cx="3789900" cy="34881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Problem: unklar, ob Zeilen einander entsprechen</a:t>
            </a:r>
            <a:endParaRPr/>
          </a:p>
        </p:txBody>
      </p:sp>
      <p:graphicFrame>
        <p:nvGraphicFramePr>
          <p:cNvPr id="615" name="Google Shape;615;p55"/>
          <p:cNvGraphicFramePr/>
          <p:nvPr/>
        </p:nvGraphicFramePr>
        <p:xfrm>
          <a:off x="526600" y="2814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{591EDD35-F7D5-4A0D-AE6D-22B7702B5ACF}</a:tableStyleId>
              </a:tblPr>
              <a:tblGrid>
                <a:gridCol w="3785000"/>
              </a:tblGrid>
              <a:tr h="584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Spezies</a:t>
                      </a:r>
                      <a:endParaRPr b="1"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</a:tr>
              <a:tr h="584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setosa</a:t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</a:tr>
              <a:tr h="584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versicolor</a:t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616" name="Google Shape;616;p55"/>
          <p:cNvGraphicFramePr/>
          <p:nvPr/>
        </p:nvGraphicFramePr>
        <p:xfrm>
          <a:off x="4832400" y="2814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{591EDD35-F7D5-4A0D-AE6D-22B7702B5ACF}</a:tableStyleId>
              </a:tblPr>
              <a:tblGrid>
                <a:gridCol w="3790000"/>
              </a:tblGrid>
              <a:tr h="584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Kelchblattbreite</a:t>
                      </a:r>
                      <a:endParaRPr b="1"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</a:tr>
              <a:tr h="584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3.5</a:t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</a:tr>
              <a:tr h="584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3.2</a:t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17" name="Google Shape;617;p55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</p:spPr>
        <p:txBody>
          <a:bodyPr anchorCtr="0" anchor="t" bIns="91425" lIns="91425" spcFirstLastPara="1" rIns="126000" wrap="square" tIns="54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56"/>
          <p:cNvSpPr txBox="1"/>
          <p:nvPr>
            <p:ph type="title"/>
          </p:nvPr>
        </p:nvSpPr>
        <p:spPr>
          <a:xfrm>
            <a:off x="526594" y="330502"/>
            <a:ext cx="6826800" cy="45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Zwei Datensätze vereinen</a:t>
            </a:r>
            <a:endParaRPr/>
          </a:p>
        </p:txBody>
      </p:sp>
      <p:sp>
        <p:nvSpPr>
          <p:cNvPr id="623" name="Google Shape;623;p56"/>
          <p:cNvSpPr txBox="1"/>
          <p:nvPr>
            <p:ph idx="1" type="body"/>
          </p:nvPr>
        </p:nvSpPr>
        <p:spPr>
          <a:xfrm>
            <a:off x="521550" y="1420645"/>
            <a:ext cx="8096400" cy="34881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Wie werden aus diesen zwei eins?</a:t>
            </a:r>
            <a:endParaRPr/>
          </a:p>
        </p:txBody>
      </p:sp>
      <p:sp>
        <p:nvSpPr>
          <p:cNvPr id="624" name="Google Shape;624;p56"/>
          <p:cNvSpPr txBox="1"/>
          <p:nvPr>
            <p:ph idx="4294967295" type="body"/>
          </p:nvPr>
        </p:nvSpPr>
        <p:spPr>
          <a:xfrm>
            <a:off x="4832400" y="1152475"/>
            <a:ext cx="3789300" cy="3416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500"/>
              <a:t>Lösung: eindeutige Nummerierung (hier: Nr)</a:t>
            </a:r>
            <a:br>
              <a:rPr lang="en-GB" sz="1500"/>
            </a:br>
            <a:r>
              <a:rPr lang="en-GB" sz="1500"/>
              <a:t>	oder andere eindeutige Information</a:t>
            </a:r>
            <a:endParaRPr sz="1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500"/>
              <a:t>	→ UUID = universally unique identifier</a:t>
            </a:r>
            <a:br>
              <a:rPr lang="en-GB" sz="1500"/>
            </a:br>
            <a:r>
              <a:rPr lang="en-GB" sz="1500"/>
              <a:t>	→ Primärschlüssel</a:t>
            </a:r>
            <a:endParaRPr sz="1500"/>
          </a:p>
        </p:txBody>
      </p:sp>
      <p:graphicFrame>
        <p:nvGraphicFramePr>
          <p:cNvPr id="625" name="Google Shape;625;p56"/>
          <p:cNvGraphicFramePr/>
          <p:nvPr/>
        </p:nvGraphicFramePr>
        <p:xfrm>
          <a:off x="522300" y="2814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{591EDD35-F7D5-4A0D-AE6D-22B7702B5ACF}</a:tableStyleId>
              </a:tblPr>
              <a:tblGrid>
                <a:gridCol w="1894650"/>
                <a:gridCol w="1894650"/>
              </a:tblGrid>
              <a:tr h="584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Nr</a:t>
                      </a:r>
                      <a:endParaRPr b="1"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Spezies</a:t>
                      </a:r>
                      <a:endParaRPr b="1"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</a:tr>
              <a:tr h="584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setosa</a:t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</a:tr>
              <a:tr h="584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51</a:t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versicolor</a:t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626" name="Google Shape;626;p56"/>
          <p:cNvGraphicFramePr/>
          <p:nvPr/>
        </p:nvGraphicFramePr>
        <p:xfrm>
          <a:off x="4832400" y="2814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{591EDD35-F7D5-4A0D-AE6D-22B7702B5ACF}</a:tableStyleId>
              </a:tblPr>
              <a:tblGrid>
                <a:gridCol w="1894650"/>
                <a:gridCol w="1894650"/>
              </a:tblGrid>
              <a:tr h="584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Nr</a:t>
                      </a:r>
                      <a:endParaRPr b="1"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Kelchblattbreite</a:t>
                      </a:r>
                      <a:endParaRPr b="1"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</a:tr>
              <a:tr h="584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3.5</a:t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</a:tr>
              <a:tr h="584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51</a:t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3.2</a:t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27" name="Google Shape;627;p56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</p:spPr>
        <p:txBody>
          <a:bodyPr anchorCtr="0" anchor="t" bIns="91425" lIns="91425" spcFirstLastPara="1" rIns="126000" wrap="square" tIns="54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300" y="1420650"/>
            <a:ext cx="2247900" cy="1609725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57"/>
          <p:cNvSpPr txBox="1"/>
          <p:nvPr/>
        </p:nvSpPr>
        <p:spPr>
          <a:xfrm>
            <a:off x="4289700" y="4148100"/>
            <a:ext cx="4854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Source Sans Pro"/>
                <a:ea typeface="Source Sans Pro"/>
                <a:cs typeface="Source Sans Pro"/>
                <a:sym typeface="Source Sans Pro"/>
              </a:rPr>
              <a:t>Quelle: R4DS = “R for Data Science”, </a:t>
            </a:r>
            <a:r>
              <a:rPr lang="en-GB" sz="2000" u="sng">
                <a:solidFill>
                  <a:schemeClr val="hlink"/>
                </a:solidFill>
                <a:latin typeface="Source Sans Pro"/>
                <a:ea typeface="Source Sans Pro"/>
                <a:cs typeface="Source Sans Pro"/>
                <a:sym typeface="Source Sans Pro"/>
                <a:hlinkClick r:id="rId4"/>
              </a:rPr>
              <a:t>https://r4ds.had.co.nz/relational-data.html</a:t>
            </a:r>
            <a:endParaRPr sz="20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34" name="Google Shape;634;p57"/>
          <p:cNvSpPr txBox="1"/>
          <p:nvPr>
            <p:ph type="title"/>
          </p:nvPr>
        </p:nvSpPr>
        <p:spPr>
          <a:xfrm>
            <a:off x="526594" y="330502"/>
            <a:ext cx="6826800" cy="45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Zwei Datensätze</a:t>
            </a:r>
            <a:endParaRPr/>
          </a:p>
        </p:txBody>
      </p:sp>
      <p:sp>
        <p:nvSpPr>
          <p:cNvPr id="635" name="Google Shape;635;p57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</p:spPr>
        <p:txBody>
          <a:bodyPr anchorCtr="0" anchor="t" bIns="91425" lIns="91425" spcFirstLastPara="1" rIns="126000" wrap="square" tIns="54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0" name="Google Shape;640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300" y="1420650"/>
            <a:ext cx="2247900" cy="160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1" name="Google Shape;641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61000" y="2005950"/>
            <a:ext cx="3162300" cy="2419350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58"/>
          <p:cNvSpPr txBox="1"/>
          <p:nvPr/>
        </p:nvSpPr>
        <p:spPr>
          <a:xfrm>
            <a:off x="4051625" y="2918575"/>
            <a:ext cx="337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Source Sans Pro"/>
                <a:ea typeface="Source Sans Pro"/>
                <a:cs typeface="Source Sans Pro"/>
                <a:sym typeface="Source Sans Pro"/>
              </a:rPr>
              <a:t>=</a:t>
            </a:r>
            <a:endParaRPr sz="30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43" name="Google Shape;643;p58"/>
          <p:cNvSpPr txBox="1"/>
          <p:nvPr/>
        </p:nvSpPr>
        <p:spPr>
          <a:xfrm>
            <a:off x="6336000" y="4425300"/>
            <a:ext cx="2808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Source Sans Pro"/>
                <a:ea typeface="Source Sans Pro"/>
                <a:cs typeface="Source Sans Pro"/>
                <a:sym typeface="Source Sans Pro"/>
              </a:rPr>
              <a:t>Quelle: R4DS, </a:t>
            </a:r>
            <a:r>
              <a:rPr lang="en-GB" sz="1100" u="sng">
                <a:solidFill>
                  <a:schemeClr val="hlink"/>
                </a:solidFill>
                <a:latin typeface="Source Sans Pro"/>
                <a:ea typeface="Source Sans Pro"/>
                <a:cs typeface="Source Sans Pro"/>
                <a:sym typeface="Source Sans Pro"/>
                <a:hlinkClick r:id="rId5"/>
              </a:rPr>
              <a:t>https://r4ds.had.co.nz/relational-data.html</a:t>
            </a:r>
            <a:endParaRPr sz="11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44" name="Google Shape;644;p58"/>
          <p:cNvSpPr txBox="1"/>
          <p:nvPr>
            <p:ph type="title"/>
          </p:nvPr>
        </p:nvSpPr>
        <p:spPr>
          <a:xfrm>
            <a:off x="526594" y="330502"/>
            <a:ext cx="6826800" cy="45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Zwei Datensätze</a:t>
            </a:r>
            <a:endParaRPr/>
          </a:p>
        </p:txBody>
      </p:sp>
      <p:sp>
        <p:nvSpPr>
          <p:cNvPr id="645" name="Google Shape;645;p58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</p:spPr>
        <p:txBody>
          <a:bodyPr anchorCtr="0" anchor="t" bIns="91425" lIns="91425" spcFirstLastPara="1" rIns="126000" wrap="square" tIns="54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5675" y="1528575"/>
            <a:ext cx="5552650" cy="2086350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59"/>
          <p:cNvSpPr txBox="1"/>
          <p:nvPr/>
        </p:nvSpPr>
        <p:spPr>
          <a:xfrm>
            <a:off x="6336000" y="4425300"/>
            <a:ext cx="2808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Source Sans Pro"/>
                <a:ea typeface="Source Sans Pro"/>
                <a:cs typeface="Source Sans Pro"/>
                <a:sym typeface="Source Sans Pro"/>
              </a:rPr>
              <a:t>Quelle: R4DS, </a:t>
            </a:r>
            <a:r>
              <a:rPr lang="en-GB" sz="1100" u="sng">
                <a:solidFill>
                  <a:schemeClr val="hlink"/>
                </a:solidFill>
                <a:latin typeface="Source Sans Pro"/>
                <a:ea typeface="Source Sans Pro"/>
                <a:cs typeface="Source Sans Pro"/>
                <a:sym typeface="Source Sans Pro"/>
                <a:hlinkClick r:id="rId4"/>
              </a:rPr>
              <a:t>https://r4ds.had.co.nz/relational-data.html</a:t>
            </a:r>
            <a:endParaRPr sz="11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52" name="Google Shape;652;p59"/>
          <p:cNvSpPr txBox="1"/>
          <p:nvPr>
            <p:ph type="title"/>
          </p:nvPr>
        </p:nvSpPr>
        <p:spPr>
          <a:xfrm>
            <a:off x="526594" y="330502"/>
            <a:ext cx="6826800" cy="45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/>
              <a:t>SELECT * FROM x INNER JOIN y USING (z)</a:t>
            </a:r>
            <a:endParaRPr sz="2600"/>
          </a:p>
        </p:txBody>
      </p:sp>
      <p:sp>
        <p:nvSpPr>
          <p:cNvPr id="653" name="Google Shape;653;p59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</p:spPr>
        <p:txBody>
          <a:bodyPr anchorCtr="0" anchor="t" bIns="91425" lIns="91425" spcFirstLastPara="1" rIns="126000" wrap="square" tIns="54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5675" y="1273525"/>
            <a:ext cx="5552651" cy="2596451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60"/>
          <p:cNvSpPr txBox="1"/>
          <p:nvPr/>
        </p:nvSpPr>
        <p:spPr>
          <a:xfrm>
            <a:off x="6336000" y="4425300"/>
            <a:ext cx="2808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Source Sans Pro"/>
                <a:ea typeface="Source Sans Pro"/>
                <a:cs typeface="Source Sans Pro"/>
                <a:sym typeface="Source Sans Pro"/>
              </a:rPr>
              <a:t>Quelle: R4DS, </a:t>
            </a:r>
            <a:r>
              <a:rPr lang="en-GB" sz="1100" u="sng">
                <a:solidFill>
                  <a:schemeClr val="hlink"/>
                </a:solidFill>
                <a:latin typeface="Source Sans Pro"/>
                <a:ea typeface="Source Sans Pro"/>
                <a:cs typeface="Source Sans Pro"/>
                <a:sym typeface="Source Sans Pro"/>
                <a:hlinkClick r:id="rId4"/>
              </a:rPr>
              <a:t>https://r4ds.had.co.nz/relational-data.html</a:t>
            </a:r>
            <a:endParaRPr sz="11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60" name="Google Shape;660;p60"/>
          <p:cNvSpPr txBox="1"/>
          <p:nvPr/>
        </p:nvSpPr>
        <p:spPr>
          <a:xfrm>
            <a:off x="522300" y="1020450"/>
            <a:ext cx="37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61" name="Google Shape;661;p60"/>
          <p:cNvSpPr txBox="1"/>
          <p:nvPr>
            <p:ph type="title"/>
          </p:nvPr>
        </p:nvSpPr>
        <p:spPr>
          <a:xfrm>
            <a:off x="526594" y="330502"/>
            <a:ext cx="6826800" cy="45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/>
              <a:t>SELECT * FROM x LEFT OUTER JOIN y USING (z)</a:t>
            </a:r>
            <a:endParaRPr sz="2300"/>
          </a:p>
        </p:txBody>
      </p:sp>
      <p:sp>
        <p:nvSpPr>
          <p:cNvPr id="662" name="Google Shape;662;p60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</p:spPr>
        <p:txBody>
          <a:bodyPr anchorCtr="0" anchor="t" bIns="91425" lIns="91425" spcFirstLastPara="1" rIns="126000" wrap="square" tIns="54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7" name="Google Shape;667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5675" y="1328437"/>
            <a:ext cx="5552651" cy="2596451"/>
          </a:xfrm>
          <a:prstGeom prst="rect">
            <a:avLst/>
          </a:prstGeom>
          <a:noFill/>
          <a:ln>
            <a:noFill/>
          </a:ln>
        </p:spPr>
      </p:pic>
      <p:sp>
        <p:nvSpPr>
          <p:cNvPr id="668" name="Google Shape;668;p61"/>
          <p:cNvSpPr txBox="1"/>
          <p:nvPr/>
        </p:nvSpPr>
        <p:spPr>
          <a:xfrm>
            <a:off x="6336000" y="4425300"/>
            <a:ext cx="2808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Source Sans Pro"/>
                <a:ea typeface="Source Sans Pro"/>
                <a:cs typeface="Source Sans Pro"/>
                <a:sym typeface="Source Sans Pro"/>
              </a:rPr>
              <a:t>Quelle: R4DS, </a:t>
            </a:r>
            <a:r>
              <a:rPr lang="en-GB" sz="1100" u="sng">
                <a:solidFill>
                  <a:schemeClr val="hlink"/>
                </a:solidFill>
                <a:latin typeface="Source Sans Pro"/>
                <a:ea typeface="Source Sans Pro"/>
                <a:cs typeface="Source Sans Pro"/>
                <a:sym typeface="Source Sans Pro"/>
                <a:hlinkClick r:id="rId4"/>
              </a:rPr>
              <a:t>https://r4ds.had.co.nz/relational-data.html</a:t>
            </a:r>
            <a:endParaRPr sz="11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69" name="Google Shape;669;p61"/>
          <p:cNvSpPr txBox="1"/>
          <p:nvPr>
            <p:ph type="title"/>
          </p:nvPr>
        </p:nvSpPr>
        <p:spPr>
          <a:xfrm>
            <a:off x="526594" y="330502"/>
            <a:ext cx="6826800" cy="45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SELECT * FROM x RIGHT OUTER JOIN y USING (z)</a:t>
            </a:r>
            <a:endParaRPr sz="2200"/>
          </a:p>
        </p:txBody>
      </p:sp>
      <p:sp>
        <p:nvSpPr>
          <p:cNvPr id="670" name="Google Shape;670;p61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</p:spPr>
        <p:txBody>
          <a:bodyPr anchorCtr="0" anchor="t" bIns="91425" lIns="91425" spcFirstLastPara="1" rIns="126000" wrap="square" tIns="54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" name="Google Shape;675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5675" y="1273525"/>
            <a:ext cx="5552651" cy="2596451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62"/>
          <p:cNvSpPr txBox="1"/>
          <p:nvPr/>
        </p:nvSpPr>
        <p:spPr>
          <a:xfrm>
            <a:off x="6336000" y="4425300"/>
            <a:ext cx="2808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Source Sans Pro"/>
                <a:ea typeface="Source Sans Pro"/>
                <a:cs typeface="Source Sans Pro"/>
                <a:sym typeface="Source Sans Pro"/>
              </a:rPr>
              <a:t>Quelle: R4DS, </a:t>
            </a:r>
            <a:r>
              <a:rPr lang="en-GB" sz="1100" u="sng">
                <a:solidFill>
                  <a:schemeClr val="hlink"/>
                </a:solidFill>
                <a:latin typeface="Source Sans Pro"/>
                <a:ea typeface="Source Sans Pro"/>
                <a:cs typeface="Source Sans Pro"/>
                <a:sym typeface="Source Sans Pro"/>
                <a:hlinkClick r:id="rId4"/>
              </a:rPr>
              <a:t>https://r4ds.had.co.nz/relational-data.html</a:t>
            </a:r>
            <a:endParaRPr sz="11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77" name="Google Shape;677;p62"/>
          <p:cNvSpPr txBox="1"/>
          <p:nvPr>
            <p:ph type="title"/>
          </p:nvPr>
        </p:nvSpPr>
        <p:spPr>
          <a:xfrm>
            <a:off x="526594" y="330502"/>
            <a:ext cx="6826800" cy="45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/>
              <a:t>SELECT * FROM x FULL OUTER JOIN y USING (z)</a:t>
            </a:r>
            <a:endParaRPr sz="2300"/>
          </a:p>
        </p:txBody>
      </p:sp>
      <p:sp>
        <p:nvSpPr>
          <p:cNvPr id="678" name="Google Shape;678;p62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</p:spPr>
        <p:txBody>
          <a:bodyPr anchorCtr="0" anchor="t" bIns="91425" lIns="91425" spcFirstLastPara="1" rIns="126000" wrap="square" tIns="54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63"/>
          <p:cNvSpPr txBox="1"/>
          <p:nvPr>
            <p:ph type="ctrTitle"/>
          </p:nvPr>
        </p:nvSpPr>
        <p:spPr>
          <a:xfrm>
            <a:off x="526536" y="2247714"/>
            <a:ext cx="2830200" cy="1188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/>
              <a:t>SQL → Pandas</a:t>
            </a:r>
            <a:endParaRPr sz="2900"/>
          </a:p>
        </p:txBody>
      </p:sp>
      <p:sp>
        <p:nvSpPr>
          <p:cNvPr id="684" name="Google Shape;684;p63"/>
          <p:cNvSpPr txBox="1"/>
          <p:nvPr>
            <p:ph idx="1" type="subTitle"/>
          </p:nvPr>
        </p:nvSpPr>
        <p:spPr>
          <a:xfrm>
            <a:off x="526536" y="3508164"/>
            <a:ext cx="2830200" cy="60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Joins &amp; Selects</a:t>
            </a:r>
            <a:endParaRPr/>
          </a:p>
        </p:txBody>
      </p:sp>
      <p:pic>
        <p:nvPicPr>
          <p:cNvPr id="685" name="Google Shape;685;p6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1801" l="0" r="0" t="0"/>
          <a:stretch/>
        </p:blipFill>
        <p:spPr>
          <a:xfrm>
            <a:off x="3537300" y="0"/>
            <a:ext cx="5606700" cy="4945075"/>
          </a:xfrm>
          <a:prstGeom prst="rect">
            <a:avLst/>
          </a:prstGeom>
        </p:spPr>
      </p:pic>
      <p:sp>
        <p:nvSpPr>
          <p:cNvPr id="686" name="Google Shape;686;p63"/>
          <p:cNvSpPr txBox="1"/>
          <p:nvPr/>
        </p:nvSpPr>
        <p:spPr>
          <a:xfrm>
            <a:off x="0" y="4548300"/>
            <a:ext cx="353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“Meditating panda, ink”</a:t>
            </a:r>
            <a:endParaRPr/>
          </a:p>
        </p:txBody>
      </p:sp>
      <p:sp>
        <p:nvSpPr>
          <p:cNvPr id="687" name="Google Shape;687;p63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</p:spPr>
        <p:txBody>
          <a:bodyPr anchorCtr="0" anchor="t" bIns="91425" lIns="91425" spcFirstLastPara="1" rIns="126000" wrap="square" tIns="54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64"/>
          <p:cNvSpPr txBox="1"/>
          <p:nvPr>
            <p:ph type="title"/>
          </p:nvPr>
        </p:nvSpPr>
        <p:spPr>
          <a:xfrm>
            <a:off x="526594" y="330502"/>
            <a:ext cx="6826800" cy="45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Setup</a:t>
            </a:r>
            <a:endParaRPr/>
          </a:p>
        </p:txBody>
      </p:sp>
      <p:sp>
        <p:nvSpPr>
          <p:cNvPr id="693" name="Google Shape;693;p64"/>
          <p:cNvSpPr txBox="1"/>
          <p:nvPr>
            <p:ph idx="1" type="body"/>
          </p:nvPr>
        </p:nvSpPr>
        <p:spPr>
          <a:xfrm>
            <a:off x="523800" y="1087676"/>
            <a:ext cx="8096400" cy="38607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Autofit/>
          </a:bodyPr>
          <a:lstStyle/>
          <a:p>
            <a:pPr indent="0" lvl="0" marL="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/>
              <a:t>Aus der </a:t>
            </a:r>
            <a:r>
              <a:rPr lang="en-GB" sz="1050">
                <a:solidFill>
                  <a:schemeClr val="hlink"/>
                </a:solidFill>
                <a:uFill>
                  <a:noFill/>
                </a:uFill>
                <a:hlinkClick r:id="rId3"/>
              </a:rPr>
              <a:t>Pandas Dokumentation, Abschnitt "Comparison with SQL"</a:t>
            </a:r>
            <a:r>
              <a:rPr lang="en-GB" sz="1050"/>
              <a:t>.</a:t>
            </a:r>
            <a:endParaRPr sz="105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GB" sz="1050">
                <a:latin typeface="Source Code Pro"/>
                <a:ea typeface="Source Code Pro"/>
                <a:cs typeface="Source Code Pro"/>
                <a:sym typeface="Source Code Pro"/>
              </a:rPr>
              <a:t>import</a:t>
            </a:r>
            <a:r>
              <a:rPr lang="en-GB" sz="1050">
                <a:latin typeface="Source Code Pro"/>
                <a:ea typeface="Source Code Pro"/>
                <a:cs typeface="Source Code Pro"/>
                <a:sym typeface="Source Code Pro"/>
              </a:rPr>
              <a:t> numpy </a:t>
            </a:r>
            <a:r>
              <a:rPr b="1" lang="en-GB" sz="1050">
                <a:latin typeface="Source Code Pro"/>
                <a:ea typeface="Source Code Pro"/>
                <a:cs typeface="Source Code Pro"/>
                <a:sym typeface="Source Code Pro"/>
              </a:rPr>
              <a:t>as</a:t>
            </a:r>
            <a:r>
              <a:rPr lang="en-GB" sz="1050">
                <a:latin typeface="Source Code Pro"/>
                <a:ea typeface="Source Code Pro"/>
                <a:cs typeface="Source Code Pro"/>
                <a:sym typeface="Source Code Pro"/>
              </a:rPr>
              <a:t> np</a:t>
            </a:r>
            <a:endParaRPr sz="105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GB" sz="1050">
                <a:latin typeface="Source Code Pro"/>
                <a:ea typeface="Source Code Pro"/>
                <a:cs typeface="Source Code Pro"/>
                <a:sym typeface="Source Code Pro"/>
              </a:rPr>
              <a:t>import</a:t>
            </a:r>
            <a:r>
              <a:rPr lang="en-GB" sz="1050">
                <a:latin typeface="Source Code Pro"/>
                <a:ea typeface="Source Code Pro"/>
                <a:cs typeface="Source Code Pro"/>
                <a:sym typeface="Source Code Pro"/>
              </a:rPr>
              <a:t> pandas </a:t>
            </a:r>
            <a:r>
              <a:rPr b="1" lang="en-GB" sz="1050">
                <a:latin typeface="Source Code Pro"/>
                <a:ea typeface="Source Code Pro"/>
                <a:cs typeface="Source Code Pro"/>
                <a:sym typeface="Source Code Pro"/>
              </a:rPr>
              <a:t>as</a:t>
            </a:r>
            <a:r>
              <a:rPr lang="en-GB" sz="1050">
                <a:latin typeface="Source Code Pro"/>
                <a:ea typeface="Source Code Pro"/>
                <a:cs typeface="Source Code Pro"/>
                <a:sym typeface="Source Code Pro"/>
              </a:rPr>
              <a:t> pd</a:t>
            </a:r>
            <a:endParaRPr sz="105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050">
                <a:latin typeface="Source Code Pro"/>
                <a:ea typeface="Source Code Pro"/>
                <a:cs typeface="Source Code Pro"/>
                <a:sym typeface="Source Code Pro"/>
              </a:rPr>
              <a:t>url </a:t>
            </a:r>
            <a:r>
              <a:rPr b="1" lang="en-GB" sz="1050">
                <a:latin typeface="Source Code Pro"/>
                <a:ea typeface="Source Code Pro"/>
                <a:cs typeface="Source Code Pro"/>
                <a:sym typeface="Source Code Pro"/>
              </a:rPr>
              <a:t>=</a:t>
            </a:r>
            <a:r>
              <a:rPr lang="en-GB" sz="1050">
                <a:latin typeface="Source Code Pro"/>
                <a:ea typeface="Source Code Pro"/>
                <a:cs typeface="Source Code Pro"/>
                <a:sym typeface="Source Code Pro"/>
              </a:rPr>
              <a:t> (</a:t>
            </a:r>
            <a:endParaRPr sz="105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050">
                <a:latin typeface="Source Code Pro"/>
                <a:ea typeface="Source Code Pro"/>
                <a:cs typeface="Source Code Pro"/>
                <a:sym typeface="Source Code Pro"/>
              </a:rPr>
              <a:t>    "https://raw.github.com/pandas-dev"</a:t>
            </a:r>
            <a:endParaRPr sz="105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050">
                <a:latin typeface="Source Code Pro"/>
                <a:ea typeface="Source Code Pro"/>
                <a:cs typeface="Source Code Pro"/>
                <a:sym typeface="Source Code Pro"/>
              </a:rPr>
              <a:t>    "/pandas/main/pandas/tests/io/data/csv/tips.csv"</a:t>
            </a:r>
            <a:endParaRPr sz="105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050">
                <a:latin typeface="Source Code Pro"/>
                <a:ea typeface="Source Code Pro"/>
                <a:cs typeface="Source Code Pro"/>
                <a:sym typeface="Source Code Pro"/>
              </a:rPr>
              <a:t>)</a:t>
            </a:r>
            <a:endParaRPr sz="105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050">
                <a:latin typeface="Source Code Pro"/>
                <a:ea typeface="Source Code Pro"/>
                <a:cs typeface="Source Code Pro"/>
                <a:sym typeface="Source Code Pro"/>
              </a:rPr>
              <a:t>tips </a:t>
            </a:r>
            <a:r>
              <a:rPr b="1" lang="en-GB" sz="1050">
                <a:latin typeface="Source Code Pro"/>
                <a:ea typeface="Source Code Pro"/>
                <a:cs typeface="Source Code Pro"/>
                <a:sym typeface="Source Code Pro"/>
              </a:rPr>
              <a:t>=</a:t>
            </a:r>
            <a:r>
              <a:rPr lang="en-GB" sz="1050">
                <a:latin typeface="Source Code Pro"/>
                <a:ea typeface="Source Code Pro"/>
                <a:cs typeface="Source Code Pro"/>
                <a:sym typeface="Source Code Pro"/>
              </a:rPr>
              <a:t> pd</a:t>
            </a:r>
            <a:r>
              <a:rPr b="1" lang="en-GB" sz="1050">
                <a:latin typeface="Source Code Pro"/>
                <a:ea typeface="Source Code Pro"/>
                <a:cs typeface="Source Code Pro"/>
                <a:sym typeface="Source Code Pro"/>
              </a:rPr>
              <a:t>.</a:t>
            </a:r>
            <a:r>
              <a:rPr lang="en-GB" sz="1050">
                <a:latin typeface="Source Code Pro"/>
                <a:ea typeface="Source Code Pro"/>
                <a:cs typeface="Source Code Pro"/>
                <a:sym typeface="Source Code Pro"/>
              </a:rPr>
              <a:t>read_csv(url)</a:t>
            </a:r>
            <a:endParaRPr sz="105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050">
                <a:latin typeface="Source Code Pro"/>
                <a:ea typeface="Source Code Pro"/>
                <a:cs typeface="Source Code Pro"/>
                <a:sym typeface="Source Code Pro"/>
              </a:rPr>
              <a:t>print(tips)</a:t>
            </a:r>
            <a:endParaRPr sz="105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50800" marR="50800" rtl="0" algn="l">
              <a:lnSpc>
                <a:spcPct val="116071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050">
                <a:latin typeface="Source Code Pro"/>
                <a:ea typeface="Source Code Pro"/>
                <a:cs typeface="Source Code Pro"/>
                <a:sym typeface="Source Code Pro"/>
              </a:rPr>
              <a:t>    total_bill   tip     sex smoker   day    time  size</a:t>
            </a:r>
            <a:endParaRPr sz="105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050">
                <a:latin typeface="Source Code Pro"/>
                <a:ea typeface="Source Code Pro"/>
                <a:cs typeface="Source Code Pro"/>
                <a:sym typeface="Source Code Pro"/>
              </a:rPr>
              <a:t>0         16.99  1.01  Female     No   Sun  Dinner     2</a:t>
            </a:r>
            <a:endParaRPr sz="105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050">
                <a:latin typeface="Source Code Pro"/>
                <a:ea typeface="Source Code Pro"/>
                <a:cs typeface="Source Code Pro"/>
                <a:sym typeface="Source Code Pro"/>
              </a:rPr>
              <a:t>1         10.34  1.66    Male     No   Sun  Dinner     3</a:t>
            </a:r>
            <a:endParaRPr sz="105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050">
                <a:latin typeface="Source Code Pro"/>
                <a:ea typeface="Source Code Pro"/>
                <a:cs typeface="Source Code Pro"/>
                <a:sym typeface="Source Code Pro"/>
              </a:rPr>
              <a:t>..          ...   ...     ...    ...   ...     ...   ...</a:t>
            </a:r>
            <a:endParaRPr sz="105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050">
                <a:latin typeface="Source Code Pro"/>
                <a:ea typeface="Source Code Pro"/>
                <a:cs typeface="Source Code Pro"/>
                <a:sym typeface="Source Code Pro"/>
              </a:rPr>
              <a:t>242       17.82  1.75    Male     No   Sat  Dinner     2</a:t>
            </a:r>
            <a:endParaRPr sz="105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050">
                <a:latin typeface="Source Code Pro"/>
                <a:ea typeface="Source Code Pro"/>
                <a:cs typeface="Source Code Pro"/>
                <a:sym typeface="Source Code Pro"/>
              </a:rPr>
              <a:t>243       18.78  3.00  Female     No  Thur  Dinner     2</a:t>
            </a:r>
            <a:endParaRPr sz="105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16071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050">
                <a:latin typeface="Source Code Pro"/>
                <a:ea typeface="Source Code Pro"/>
                <a:cs typeface="Source Code Pro"/>
                <a:sym typeface="Source Code Pro"/>
              </a:rPr>
              <a:t>[244 rows x 7 columns]</a:t>
            </a:r>
            <a:endParaRPr sz="3000"/>
          </a:p>
        </p:txBody>
      </p:sp>
      <p:sp>
        <p:nvSpPr>
          <p:cNvPr id="694" name="Google Shape;694;p64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</p:spPr>
        <p:txBody>
          <a:bodyPr anchorCtr="0" anchor="t" bIns="91425" lIns="91425" spcFirstLastPara="1" rIns="126000" wrap="square" tIns="54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65"/>
          <p:cNvSpPr txBox="1"/>
          <p:nvPr>
            <p:ph type="title"/>
          </p:nvPr>
        </p:nvSpPr>
        <p:spPr>
          <a:xfrm>
            <a:off x="526594" y="330502"/>
            <a:ext cx="6826800" cy="45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Pandas gibt zurück</a:t>
            </a:r>
            <a:endParaRPr/>
          </a:p>
        </p:txBody>
      </p:sp>
      <p:sp>
        <p:nvSpPr>
          <p:cNvPr id="700" name="Google Shape;700;p65"/>
          <p:cNvSpPr txBox="1"/>
          <p:nvPr>
            <p:ph idx="1" type="body"/>
          </p:nvPr>
        </p:nvSpPr>
        <p:spPr>
          <a:xfrm>
            <a:off x="523800" y="1087676"/>
            <a:ext cx="8096400" cy="38607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Autofit/>
          </a:bodyPr>
          <a:lstStyle/>
          <a:p>
            <a:pPr indent="0" lvl="0" marL="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/>
              <a:t>Aus der </a:t>
            </a:r>
            <a:r>
              <a:rPr lang="en-GB" sz="1050">
                <a:solidFill>
                  <a:schemeClr val="hlink"/>
                </a:solidFill>
                <a:uFill>
                  <a:noFill/>
                </a:uFill>
                <a:hlinkClick r:id="rId3"/>
              </a:rPr>
              <a:t>Pandas Dokumentation, Abschnitt "Comparison with SQL"</a:t>
            </a:r>
            <a:r>
              <a:rPr lang="en-GB" sz="1050"/>
              <a:t>.</a:t>
            </a:r>
            <a:endParaRPr sz="1050"/>
          </a:p>
          <a:p>
            <a:pPr indent="0" lvl="0" marL="0" marR="1905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050"/>
              <a:t>Operationen auf Pandas DataFrames erzeugen Kopien, während der ursprüngliche DataFrame unverändert bleibt.</a:t>
            </a:r>
            <a:endParaRPr sz="1050"/>
          </a:p>
          <a:p>
            <a:pPr indent="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050">
                <a:latin typeface="Source Code Pro"/>
                <a:ea typeface="Source Code Pro"/>
                <a:cs typeface="Source Code Pro"/>
                <a:sym typeface="Source Code Pro"/>
              </a:rPr>
              <a:t>tips</a:t>
            </a:r>
            <a:r>
              <a:rPr b="1" lang="en-GB" sz="1050">
                <a:latin typeface="Source Code Pro"/>
                <a:ea typeface="Source Code Pro"/>
                <a:cs typeface="Source Code Pro"/>
                <a:sym typeface="Source Code Pro"/>
              </a:rPr>
              <a:t>.</a:t>
            </a:r>
            <a:r>
              <a:rPr lang="en-GB" sz="1050">
                <a:latin typeface="Source Code Pro"/>
                <a:ea typeface="Source Code Pro"/>
                <a:cs typeface="Source Code Pro"/>
                <a:sym typeface="Source Code Pro"/>
              </a:rPr>
              <a:t>sort_values("total_bill")</a:t>
            </a:r>
            <a:endParaRPr sz="105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050">
                <a:latin typeface="Source Code Pro"/>
                <a:ea typeface="Source Code Pro"/>
                <a:cs typeface="Source Code Pro"/>
                <a:sym typeface="Source Code Pro"/>
              </a:rPr>
              <a:t>print(tips)</a:t>
            </a:r>
            <a:endParaRPr sz="105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050">
                <a:latin typeface="Source Code Pro"/>
                <a:ea typeface="Source Code Pro"/>
                <a:cs typeface="Source Code Pro"/>
                <a:sym typeface="Source Code Pro"/>
              </a:rPr>
              <a:t>print("\nDas ist ja gar nicht sortiert! Das nächste aber:\n")</a:t>
            </a:r>
            <a:endParaRPr sz="105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050">
                <a:latin typeface="Source Code Pro"/>
                <a:ea typeface="Source Code Pro"/>
                <a:cs typeface="Source Code Pro"/>
                <a:sym typeface="Source Code Pro"/>
              </a:rPr>
              <a:t>sorted_tips </a:t>
            </a:r>
            <a:r>
              <a:rPr b="1" lang="en-GB" sz="1050">
                <a:latin typeface="Source Code Pro"/>
                <a:ea typeface="Source Code Pro"/>
                <a:cs typeface="Source Code Pro"/>
                <a:sym typeface="Source Code Pro"/>
              </a:rPr>
              <a:t>=</a:t>
            </a:r>
            <a:r>
              <a:rPr lang="en-GB" sz="1050">
                <a:latin typeface="Source Code Pro"/>
                <a:ea typeface="Source Code Pro"/>
                <a:cs typeface="Source Code Pro"/>
                <a:sym typeface="Source Code Pro"/>
              </a:rPr>
              <a:t> tips</a:t>
            </a:r>
            <a:r>
              <a:rPr b="1" lang="en-GB" sz="1050">
                <a:latin typeface="Source Code Pro"/>
                <a:ea typeface="Source Code Pro"/>
                <a:cs typeface="Source Code Pro"/>
                <a:sym typeface="Source Code Pro"/>
              </a:rPr>
              <a:t>.</a:t>
            </a:r>
            <a:r>
              <a:rPr lang="en-GB" sz="1050">
                <a:latin typeface="Source Code Pro"/>
                <a:ea typeface="Source Code Pro"/>
                <a:cs typeface="Source Code Pro"/>
                <a:sym typeface="Source Code Pro"/>
              </a:rPr>
              <a:t>sort_values("total_bill")</a:t>
            </a:r>
            <a:endParaRPr sz="105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050">
                <a:latin typeface="Source Code Pro"/>
                <a:ea typeface="Source Code Pro"/>
                <a:cs typeface="Source Code Pro"/>
                <a:sym typeface="Source Code Pro"/>
              </a:rPr>
              <a:t>print(sorted_tips)</a:t>
            </a:r>
            <a:endParaRPr sz="105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50800" marR="50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75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750">
                <a:latin typeface="Source Code Pro"/>
                <a:ea typeface="Source Code Pro"/>
                <a:cs typeface="Source Code Pro"/>
                <a:sym typeface="Source Code Pro"/>
              </a:rPr>
              <a:t>    total_bill   tip     sex smoker   day    time  size</a:t>
            </a:r>
            <a:endParaRPr sz="75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750">
                <a:latin typeface="Source Code Pro"/>
                <a:ea typeface="Source Code Pro"/>
                <a:cs typeface="Source Code Pro"/>
                <a:sym typeface="Source Code Pro"/>
              </a:rPr>
              <a:t>0         16.99  1.01  Female     No   Sun  Dinner     2</a:t>
            </a:r>
            <a:endParaRPr sz="75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750">
                <a:latin typeface="Source Code Pro"/>
                <a:ea typeface="Source Code Pro"/>
                <a:cs typeface="Source Code Pro"/>
                <a:sym typeface="Source Code Pro"/>
              </a:rPr>
              <a:t>1         10.34  1.66    Male     No   Sun  Dinner     3</a:t>
            </a:r>
            <a:endParaRPr sz="75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750">
                <a:latin typeface="Source Code Pro"/>
                <a:ea typeface="Source Code Pro"/>
                <a:cs typeface="Source Code Pro"/>
                <a:sym typeface="Source Code Pro"/>
              </a:rPr>
              <a:t>2         21.01  3.50    Male     No   Sun  Dinner     3</a:t>
            </a:r>
            <a:endParaRPr sz="75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750">
                <a:latin typeface="Source Code Pro"/>
                <a:ea typeface="Source Code Pro"/>
                <a:cs typeface="Source Code Pro"/>
                <a:sym typeface="Source Code Pro"/>
              </a:rPr>
              <a:t>3         23.68  3.31    Male     No   Sun  Dinner     2</a:t>
            </a:r>
            <a:endParaRPr sz="75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750">
                <a:latin typeface="Source Code Pro"/>
                <a:ea typeface="Source Code Pro"/>
                <a:cs typeface="Source Code Pro"/>
                <a:sym typeface="Source Code Pro"/>
              </a:rPr>
              <a:t>4         24.59  3.61  Female     No   Sun  Dinner     4</a:t>
            </a:r>
            <a:endParaRPr sz="75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750">
                <a:latin typeface="Source Code Pro"/>
                <a:ea typeface="Source Code Pro"/>
                <a:cs typeface="Source Code Pro"/>
                <a:sym typeface="Source Code Pro"/>
              </a:rPr>
              <a:t>..          ...   ...     ...    ...   ...     ...   ...</a:t>
            </a:r>
            <a:endParaRPr sz="75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750">
                <a:latin typeface="Source Code Pro"/>
                <a:ea typeface="Source Code Pro"/>
                <a:cs typeface="Source Code Pro"/>
                <a:sym typeface="Source Code Pro"/>
              </a:rPr>
              <a:t>239       29.03  5.92    Male     No   Sat  Dinner     3</a:t>
            </a:r>
            <a:endParaRPr sz="75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750">
                <a:latin typeface="Source Code Pro"/>
                <a:ea typeface="Source Code Pro"/>
                <a:cs typeface="Source Code Pro"/>
                <a:sym typeface="Source Code Pro"/>
              </a:rPr>
              <a:t>240       27.18  2.00  Female    Yes   Sat  Dinner     2</a:t>
            </a:r>
            <a:endParaRPr sz="75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750">
                <a:latin typeface="Source Code Pro"/>
                <a:ea typeface="Source Code Pro"/>
                <a:cs typeface="Source Code Pro"/>
                <a:sym typeface="Source Code Pro"/>
              </a:rPr>
              <a:t>241       22.67  2.00    Male    Yes   Sat  Dinner     2</a:t>
            </a:r>
            <a:endParaRPr sz="75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750">
                <a:latin typeface="Source Code Pro"/>
                <a:ea typeface="Source Code Pro"/>
                <a:cs typeface="Source Code Pro"/>
                <a:sym typeface="Source Code Pro"/>
              </a:rPr>
              <a:t>242       17.82  1.75    Male     No   Sat  Dinner     2</a:t>
            </a:r>
            <a:endParaRPr sz="75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750">
                <a:latin typeface="Source Code Pro"/>
                <a:ea typeface="Source Code Pro"/>
                <a:cs typeface="Source Code Pro"/>
                <a:sym typeface="Source Code Pro"/>
              </a:rPr>
              <a:t>243       18.78  3.00  Female     No  Thur  Dinner     2</a:t>
            </a:r>
            <a:endParaRPr sz="75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75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750">
                <a:latin typeface="Source Code Pro"/>
                <a:ea typeface="Source Code Pro"/>
                <a:cs typeface="Source Code Pro"/>
                <a:sym typeface="Source Code Pro"/>
              </a:rPr>
              <a:t>[244 rows x 7 columns]</a:t>
            </a:r>
            <a:endParaRPr b="1" sz="105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701" name="Google Shape;701;p65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</p:spPr>
        <p:txBody>
          <a:bodyPr anchorCtr="0" anchor="t" bIns="91425" lIns="91425" spcFirstLastPara="1" rIns="126000" wrap="square" tIns="54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02" name="Google Shape;702;p65"/>
          <p:cNvSpPr txBox="1"/>
          <p:nvPr/>
        </p:nvSpPr>
        <p:spPr>
          <a:xfrm>
            <a:off x="4572000" y="2214775"/>
            <a:ext cx="4048200" cy="2730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5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75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Das ist ja gar nicht sortiert! Das nächste aber:</a:t>
            </a:r>
            <a:endParaRPr sz="75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75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75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total_bill    tip     sex smoker   day    time  size</a:t>
            </a:r>
            <a:endParaRPr sz="75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75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67         3.07   1.00  Female    Yes   Sat  Dinner     1</a:t>
            </a:r>
            <a:endParaRPr sz="75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75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92         5.75   1.00  Female    Yes   Fri  Dinner     2</a:t>
            </a:r>
            <a:endParaRPr sz="75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75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111        7.25   1.00  Female     No   Sat  Dinner     1</a:t>
            </a:r>
            <a:endParaRPr sz="75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75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172        7.25   5.15    Male    Yes   Sun  Dinner     2</a:t>
            </a:r>
            <a:endParaRPr sz="75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75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149        7.51   2.00    Male     No  Thur   Lunch     2</a:t>
            </a:r>
            <a:endParaRPr sz="75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75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..          ...    ...     ...    ...   ...     ...   ...</a:t>
            </a:r>
            <a:endParaRPr sz="75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75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182       45.35   3.50    Male    Yes   Sun  Dinner     3</a:t>
            </a:r>
            <a:endParaRPr sz="75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75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156       48.17   5.00    Male     No   Sun  Dinner     6</a:t>
            </a:r>
            <a:endParaRPr sz="75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75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59        48.27   6.73    Male     No   Sat  Dinner     4</a:t>
            </a:r>
            <a:endParaRPr sz="75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75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212       48.33   9.00    Male     No   Sat  Dinner     4</a:t>
            </a:r>
            <a:endParaRPr sz="75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75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170       50.81  10.00    Male    Yes   Sat  Dinner     3</a:t>
            </a:r>
            <a:endParaRPr sz="75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75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75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[244 rows x 7 columns]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7" name="Google Shape;707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600" y="1634250"/>
            <a:ext cx="2246775" cy="3238850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66"/>
          <p:cNvSpPr txBox="1"/>
          <p:nvPr>
            <p:ph type="title"/>
          </p:nvPr>
        </p:nvSpPr>
        <p:spPr>
          <a:xfrm>
            <a:off x="526594" y="330502"/>
            <a:ext cx="6826800" cy="45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Source Code Pro"/>
                <a:ea typeface="Source Code Pro"/>
                <a:cs typeface="Source Code Pro"/>
                <a:sym typeface="Source Code Pro"/>
              </a:rPr>
              <a:t>SELECT total_bill, tip, smoker, time FROM tips;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709" name="Google Shape;709;p66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</p:spPr>
        <p:txBody>
          <a:bodyPr anchorCtr="0" anchor="t" bIns="91425" lIns="91425" spcFirstLastPara="1" rIns="126000" wrap="square" tIns="54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10" name="Google Shape;710;p66"/>
          <p:cNvSpPr txBox="1"/>
          <p:nvPr>
            <p:ph idx="2" type="body"/>
          </p:nvPr>
        </p:nvSpPr>
        <p:spPr>
          <a:xfrm>
            <a:off x="521494" y="1087042"/>
            <a:ext cx="8100900" cy="32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>
                <a:latin typeface="Source Code Pro"/>
                <a:ea typeface="Source Code Pro"/>
                <a:cs typeface="Source Code Pro"/>
                <a:sym typeface="Source Code Pro"/>
              </a:rPr>
              <a:t>tips[["total_bill", "tip", "smoker", "time"]]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5" name="Google Shape;715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500" y="1580446"/>
            <a:ext cx="4050500" cy="3242340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67"/>
          <p:cNvSpPr txBox="1"/>
          <p:nvPr>
            <p:ph type="title"/>
          </p:nvPr>
        </p:nvSpPr>
        <p:spPr>
          <a:xfrm>
            <a:off x="526594" y="330502"/>
            <a:ext cx="6826800" cy="45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Source Code Pro"/>
                <a:ea typeface="Source Code Pro"/>
                <a:cs typeface="Source Code Pro"/>
                <a:sym typeface="Source Code Pro"/>
              </a:rPr>
              <a:t>SELECT *, tip/total_bill as tip_rate FROM tips;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717" name="Google Shape;717;p67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</p:spPr>
        <p:txBody>
          <a:bodyPr anchorCtr="0" anchor="t" bIns="91425" lIns="91425" spcFirstLastPara="1" rIns="126000" wrap="square" tIns="54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18" name="Google Shape;718;p67"/>
          <p:cNvSpPr txBox="1"/>
          <p:nvPr>
            <p:ph idx="2" type="body"/>
          </p:nvPr>
        </p:nvSpPr>
        <p:spPr>
          <a:xfrm>
            <a:off x="521494" y="1087042"/>
            <a:ext cx="8100900" cy="32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>
                <a:latin typeface="Source Code Pro"/>
                <a:ea typeface="Source Code Pro"/>
                <a:cs typeface="Source Code Pro"/>
                <a:sym typeface="Source Code Pro"/>
              </a:rPr>
              <a:t>tips.assign(tip_rate=tips["tip"] / tips["total_bill"])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3" name="Google Shape;723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600" y="1528425"/>
            <a:ext cx="3515725" cy="3307175"/>
          </a:xfrm>
          <a:prstGeom prst="rect">
            <a:avLst/>
          </a:prstGeom>
          <a:noFill/>
          <a:ln>
            <a:noFill/>
          </a:ln>
        </p:spPr>
      </p:pic>
      <p:sp>
        <p:nvSpPr>
          <p:cNvPr id="724" name="Google Shape;724;p68"/>
          <p:cNvSpPr txBox="1"/>
          <p:nvPr>
            <p:ph type="title"/>
          </p:nvPr>
        </p:nvSpPr>
        <p:spPr>
          <a:xfrm>
            <a:off x="526594" y="330502"/>
            <a:ext cx="6826800" cy="45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Source Code Pro"/>
                <a:ea typeface="Source Code Pro"/>
                <a:cs typeface="Source Code Pro"/>
                <a:sym typeface="Source Code Pro"/>
              </a:rPr>
              <a:t>SELECT * FROM tips WHERE time = 'Dinner';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725" name="Google Shape;725;p68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</p:spPr>
        <p:txBody>
          <a:bodyPr anchorCtr="0" anchor="t" bIns="91425" lIns="91425" spcFirstLastPara="1" rIns="126000" wrap="square" tIns="54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26" name="Google Shape;726;p68"/>
          <p:cNvSpPr txBox="1"/>
          <p:nvPr>
            <p:ph idx="2" type="body"/>
          </p:nvPr>
        </p:nvSpPr>
        <p:spPr>
          <a:xfrm>
            <a:off x="521494" y="1087042"/>
            <a:ext cx="8100900" cy="32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>
                <a:latin typeface="Source Code Pro"/>
                <a:ea typeface="Source Code Pro"/>
                <a:cs typeface="Source Code Pro"/>
                <a:sym typeface="Source Code Pro"/>
              </a:rPr>
              <a:t>tips[</a:t>
            </a:r>
            <a:r>
              <a:rPr lang="en-GB">
                <a:latin typeface="Source Code Pro"/>
                <a:ea typeface="Source Code Pro"/>
                <a:cs typeface="Source Code Pro"/>
                <a:sym typeface="Source Code Pro"/>
              </a:rPr>
              <a:t>tips["time"] == "Dinner"</a:t>
            </a:r>
            <a:r>
              <a:rPr lang="en-GB">
                <a:latin typeface="Source Code Pro"/>
                <a:ea typeface="Source Code Pro"/>
                <a:cs typeface="Source Code Pro"/>
                <a:sym typeface="Source Code Pro"/>
              </a:rPr>
              <a:t>]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1" name="Google Shape;731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600" y="1510575"/>
            <a:ext cx="5442225" cy="2660300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Google Shape;732;p69"/>
          <p:cNvSpPr txBox="1"/>
          <p:nvPr>
            <p:ph type="title"/>
          </p:nvPr>
        </p:nvSpPr>
        <p:spPr>
          <a:xfrm>
            <a:off x="526600" y="330500"/>
            <a:ext cx="6950400" cy="45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Source Code Pro"/>
                <a:ea typeface="Source Code Pro"/>
                <a:cs typeface="Source Code Pro"/>
                <a:sym typeface="Source Code Pro"/>
              </a:rPr>
              <a:t>SELECT * FROM tips WHERE time = 'Dinner' AND tip &gt; 6.00;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733" name="Google Shape;733;p69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</p:spPr>
        <p:txBody>
          <a:bodyPr anchorCtr="0" anchor="t" bIns="91425" lIns="91425" spcFirstLastPara="1" rIns="126000" wrap="square" tIns="54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34" name="Google Shape;734;p69"/>
          <p:cNvSpPr txBox="1"/>
          <p:nvPr>
            <p:ph idx="2" type="body"/>
          </p:nvPr>
        </p:nvSpPr>
        <p:spPr>
          <a:xfrm>
            <a:off x="521494" y="1087042"/>
            <a:ext cx="8100900" cy="32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>
                <a:latin typeface="Source Code Pro"/>
                <a:ea typeface="Source Code Pro"/>
                <a:cs typeface="Source Code Pro"/>
                <a:sym typeface="Source Code Pro"/>
              </a:rPr>
              <a:t>tips[(tips["time"] == "Dinner") &amp; (tips["tip"] &gt; 6.00)]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600" y="1495125"/>
            <a:ext cx="5258425" cy="3306550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70"/>
          <p:cNvSpPr txBox="1"/>
          <p:nvPr>
            <p:ph type="title"/>
          </p:nvPr>
        </p:nvSpPr>
        <p:spPr>
          <a:xfrm>
            <a:off x="526594" y="330502"/>
            <a:ext cx="6826800" cy="45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Source Code Pro"/>
                <a:ea typeface="Source Code Pro"/>
                <a:cs typeface="Source Code Pro"/>
                <a:sym typeface="Source Code Pro"/>
              </a:rPr>
              <a:t>SELECT * FROM tips WHERE size &gt;= 6 OR total_bill &gt; 45;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741" name="Google Shape;741;p70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</p:spPr>
        <p:txBody>
          <a:bodyPr anchorCtr="0" anchor="t" bIns="91425" lIns="91425" spcFirstLastPara="1" rIns="126000" wrap="square" tIns="54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42" name="Google Shape;742;p70"/>
          <p:cNvSpPr txBox="1"/>
          <p:nvPr>
            <p:ph idx="2" type="body"/>
          </p:nvPr>
        </p:nvSpPr>
        <p:spPr>
          <a:xfrm>
            <a:off x="521544" y="1087667"/>
            <a:ext cx="8100900" cy="32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>
                <a:latin typeface="Source Code Pro"/>
                <a:ea typeface="Source Code Pro"/>
                <a:cs typeface="Source Code Pro"/>
                <a:sym typeface="Source Code Pro"/>
              </a:rPr>
              <a:t>tips[(tips["size"] &gt;= 6) | (tips["total_bill"] &gt; 45)]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71"/>
          <p:cNvSpPr txBox="1"/>
          <p:nvPr>
            <p:ph type="title"/>
          </p:nvPr>
        </p:nvSpPr>
        <p:spPr>
          <a:xfrm>
            <a:off x="526594" y="330502"/>
            <a:ext cx="6826800" cy="45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Source Code Pro"/>
                <a:ea typeface="Source Code Pro"/>
                <a:cs typeface="Source Code Pro"/>
                <a:sym typeface="Source Code Pro"/>
              </a:rPr>
              <a:t>SELECT sex, count(*) FROM tips GROUP BY sex;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748" name="Google Shape;748;p71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</p:spPr>
        <p:txBody>
          <a:bodyPr anchorCtr="0" anchor="t" bIns="91425" lIns="91425" spcFirstLastPara="1" rIns="126000" wrap="square" tIns="54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49" name="Google Shape;749;p71"/>
          <p:cNvSpPr txBox="1"/>
          <p:nvPr>
            <p:ph idx="2" type="body"/>
          </p:nvPr>
        </p:nvSpPr>
        <p:spPr>
          <a:xfrm>
            <a:off x="521544" y="1087667"/>
            <a:ext cx="8100900" cy="32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>
                <a:latin typeface="Source Code Pro"/>
                <a:ea typeface="Source Code Pro"/>
                <a:cs typeface="Source Code Pro"/>
                <a:sym typeface="Source Code Pro"/>
              </a:rPr>
              <a:t>tips.groupby("sex").size()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750" name="Google Shape;750;p71"/>
          <p:cNvSpPr txBox="1"/>
          <p:nvPr/>
        </p:nvSpPr>
        <p:spPr>
          <a:xfrm>
            <a:off x="526600" y="1565275"/>
            <a:ext cx="8100900" cy="33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Source Code Pro"/>
                <a:ea typeface="Source Code Pro"/>
                <a:cs typeface="Source Code Pro"/>
                <a:sym typeface="Source Code Pro"/>
              </a:rPr>
              <a:t>sex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Source Code Pro"/>
                <a:ea typeface="Source Code Pro"/>
                <a:cs typeface="Source Code Pro"/>
                <a:sym typeface="Source Code Pro"/>
              </a:rPr>
              <a:t>Female     87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Source Code Pro"/>
                <a:ea typeface="Source Code Pro"/>
                <a:cs typeface="Source Code Pro"/>
                <a:sym typeface="Source Code Pro"/>
              </a:rPr>
              <a:t>Male      157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Source Code Pro"/>
                <a:ea typeface="Source Code Pro"/>
                <a:cs typeface="Source Code Pro"/>
                <a:sym typeface="Source Code Pro"/>
              </a:rPr>
              <a:t>dtype: int64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72"/>
          <p:cNvSpPr txBox="1"/>
          <p:nvPr>
            <p:ph type="title"/>
          </p:nvPr>
        </p:nvSpPr>
        <p:spPr>
          <a:xfrm>
            <a:off x="526600" y="330500"/>
            <a:ext cx="7051800" cy="45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latin typeface="Source Code Pro"/>
                <a:ea typeface="Source Code Pro"/>
                <a:cs typeface="Source Code Pro"/>
                <a:sym typeface="Source Code Pro"/>
              </a:rPr>
              <a:t>SELECT day, AVG(tip), COUNT(*) FROM tips GROUP BY day;</a:t>
            </a:r>
            <a:endParaRPr sz="17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756" name="Google Shape;756;p72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</p:spPr>
        <p:txBody>
          <a:bodyPr anchorCtr="0" anchor="t" bIns="91425" lIns="91425" spcFirstLastPara="1" rIns="126000" wrap="square" tIns="54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57" name="Google Shape;757;p72"/>
          <p:cNvSpPr txBox="1"/>
          <p:nvPr>
            <p:ph idx="2" type="body"/>
          </p:nvPr>
        </p:nvSpPr>
        <p:spPr>
          <a:xfrm>
            <a:off x="521544" y="1087667"/>
            <a:ext cx="8100900" cy="32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>
                <a:latin typeface="Source Code Pro"/>
                <a:ea typeface="Source Code Pro"/>
                <a:cs typeface="Source Code Pro"/>
                <a:sym typeface="Source Code Pro"/>
              </a:rPr>
              <a:t>tips.groupby("day").agg({"tip": np.mean, "day": np.size})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758" name="Google Shape;758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600" y="1717050"/>
            <a:ext cx="2438988" cy="273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73"/>
          <p:cNvSpPr txBox="1"/>
          <p:nvPr>
            <p:ph type="title"/>
          </p:nvPr>
        </p:nvSpPr>
        <p:spPr>
          <a:xfrm>
            <a:off x="526600" y="330500"/>
            <a:ext cx="7051800" cy="45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Source Code Pro"/>
                <a:ea typeface="Source Code Pro"/>
                <a:cs typeface="Source Code Pro"/>
                <a:sym typeface="Source Code Pro"/>
              </a:rPr>
              <a:t>SELECT smoker, day, COUNT(*), AVG(tip) FROM tips GROUP BY smoker, day;</a:t>
            </a:r>
            <a:endParaRPr sz="13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764" name="Google Shape;764;p73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</p:spPr>
        <p:txBody>
          <a:bodyPr anchorCtr="0" anchor="t" bIns="91425" lIns="91425" spcFirstLastPara="1" rIns="126000" wrap="square" tIns="54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65" name="Google Shape;765;p73"/>
          <p:cNvSpPr txBox="1"/>
          <p:nvPr>
            <p:ph idx="2" type="body"/>
          </p:nvPr>
        </p:nvSpPr>
        <p:spPr>
          <a:xfrm>
            <a:off x="521544" y="1087667"/>
            <a:ext cx="8100900" cy="32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600">
                <a:latin typeface="Source Code Pro"/>
                <a:ea typeface="Source Code Pro"/>
                <a:cs typeface="Source Code Pro"/>
                <a:sym typeface="Source Code Pro"/>
              </a:rPr>
              <a:t>tips.groupby(["smoker", "day"]).agg({"tip": [np.size, np.mean]})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766" name="Google Shape;766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600" y="1514525"/>
            <a:ext cx="2293400" cy="335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74"/>
          <p:cNvSpPr txBox="1"/>
          <p:nvPr>
            <p:ph type="title"/>
          </p:nvPr>
        </p:nvSpPr>
        <p:spPr>
          <a:xfrm>
            <a:off x="526594" y="330502"/>
            <a:ext cx="6826800" cy="45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Setup vor dem JOIN</a:t>
            </a:r>
            <a:endParaRPr/>
          </a:p>
        </p:txBody>
      </p:sp>
      <p:sp>
        <p:nvSpPr>
          <p:cNvPr id="772" name="Google Shape;772;p74"/>
          <p:cNvSpPr txBox="1"/>
          <p:nvPr>
            <p:ph idx="1" type="body"/>
          </p:nvPr>
        </p:nvSpPr>
        <p:spPr>
          <a:xfrm>
            <a:off x="523800" y="1087676"/>
            <a:ext cx="8096400" cy="38607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Autofit/>
          </a:bodyPr>
          <a:lstStyle/>
          <a:p>
            <a:pPr indent="0" lvl="0" marL="0" rtl="0" algn="l">
              <a:lnSpc>
                <a:spcPct val="116071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25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df1 </a:t>
            </a:r>
            <a:r>
              <a:rPr b="1" lang="en-GB" sz="125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=</a:t>
            </a:r>
            <a:r>
              <a:rPr lang="en-GB" sz="125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pd</a:t>
            </a:r>
            <a:r>
              <a:rPr b="1" lang="en-GB" sz="125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.</a:t>
            </a:r>
            <a:r>
              <a:rPr lang="en-GB" sz="125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DataFrame({"key": ["A", "B", "C", "D"], "value": np</a:t>
            </a:r>
            <a:r>
              <a:rPr b="1" lang="en-GB" sz="125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.</a:t>
            </a:r>
            <a:r>
              <a:rPr lang="en-GB" sz="125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random</a:t>
            </a:r>
            <a:r>
              <a:rPr b="1" lang="en-GB" sz="125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.</a:t>
            </a:r>
            <a:r>
              <a:rPr lang="en-GB" sz="125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randn(4)})</a:t>
            </a:r>
            <a:endParaRPr sz="1250"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16071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25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df2 </a:t>
            </a:r>
            <a:r>
              <a:rPr b="1" lang="en-GB" sz="125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=</a:t>
            </a:r>
            <a:r>
              <a:rPr lang="en-GB" sz="125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pd</a:t>
            </a:r>
            <a:r>
              <a:rPr b="1" lang="en-GB" sz="125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.</a:t>
            </a:r>
            <a:r>
              <a:rPr lang="en-GB" sz="125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DataFrame({"key": ["B", "D", "D", "E"], "value": np</a:t>
            </a:r>
            <a:r>
              <a:rPr b="1" lang="en-GB" sz="125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.</a:t>
            </a:r>
            <a:r>
              <a:rPr lang="en-GB" sz="125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random</a:t>
            </a:r>
            <a:r>
              <a:rPr b="1" lang="en-GB" sz="125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.</a:t>
            </a:r>
            <a:r>
              <a:rPr lang="en-GB" sz="125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randn(4)})</a:t>
            </a:r>
            <a:endParaRPr sz="1250"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16071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25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print(df1, "\n", df2)</a:t>
            </a:r>
            <a:endParaRPr sz="1250"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50800" marR="50800" rtl="0" algn="l">
              <a:lnSpc>
                <a:spcPct val="116071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250"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16071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25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key     value</a:t>
            </a:r>
            <a:endParaRPr sz="1250"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16071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25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0   A -0.093612</a:t>
            </a:r>
            <a:endParaRPr sz="1250"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16071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25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1   B  0.664115</a:t>
            </a:r>
            <a:endParaRPr sz="1250"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16071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25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2   C -0.167359</a:t>
            </a:r>
            <a:endParaRPr sz="1250"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16071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25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3   D -0.105395 </a:t>
            </a:r>
            <a:endParaRPr sz="1250"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16071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25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 key     value</a:t>
            </a:r>
            <a:endParaRPr sz="1250"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16071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25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0   B -1.108029</a:t>
            </a:r>
            <a:endParaRPr sz="1250"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16071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25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1   D  1.150343</a:t>
            </a:r>
            <a:endParaRPr sz="1250"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16071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25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2   D  0.714288</a:t>
            </a:r>
            <a:endParaRPr sz="1250"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16071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25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3   E -0.190992</a:t>
            </a:r>
            <a:endParaRPr b="1" sz="125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16071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773" name="Google Shape;773;p74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</p:spPr>
        <p:txBody>
          <a:bodyPr anchorCtr="0" anchor="t" bIns="91425" lIns="91425" spcFirstLastPara="1" rIns="126000" wrap="square" tIns="54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75"/>
          <p:cNvSpPr txBox="1"/>
          <p:nvPr>
            <p:ph type="title"/>
          </p:nvPr>
        </p:nvSpPr>
        <p:spPr>
          <a:xfrm>
            <a:off x="526600" y="330500"/>
            <a:ext cx="7051800" cy="45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Source Code Pro"/>
                <a:ea typeface="Source Code Pro"/>
                <a:cs typeface="Source Code Pro"/>
                <a:sym typeface="Source Code Pro"/>
              </a:rPr>
              <a:t>SELECT * FROM df1 INNER JOIN df2 ON df1.key = df2.key;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779" name="Google Shape;779;p75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</p:spPr>
        <p:txBody>
          <a:bodyPr anchorCtr="0" anchor="t" bIns="91425" lIns="91425" spcFirstLastPara="1" rIns="126000" wrap="square" tIns="54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0" name="Google Shape;780;p75"/>
          <p:cNvSpPr txBox="1"/>
          <p:nvPr>
            <p:ph idx="2" type="body"/>
          </p:nvPr>
        </p:nvSpPr>
        <p:spPr>
          <a:xfrm>
            <a:off x="521544" y="1087667"/>
            <a:ext cx="8100900" cy="32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>
                <a:latin typeface="Source Code Pro"/>
                <a:ea typeface="Source Code Pro"/>
                <a:cs typeface="Source Code Pro"/>
                <a:sym typeface="Source Code Pro"/>
              </a:rPr>
              <a:t>pd.merge(df1, df2, on="key")</a:t>
            </a:r>
            <a:r>
              <a:rPr lang="en-GB" sz="1600"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-GB" sz="1600">
                <a:solidFill>
                  <a:schemeClr val="lt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inner join ist der default</a:t>
            </a:r>
            <a:endParaRPr sz="1600">
              <a:solidFill>
                <a:schemeClr val="lt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781" name="Google Shape;781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600" y="1795663"/>
            <a:ext cx="4045400" cy="19453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76"/>
          <p:cNvSpPr txBox="1"/>
          <p:nvPr>
            <p:ph type="title"/>
          </p:nvPr>
        </p:nvSpPr>
        <p:spPr>
          <a:xfrm>
            <a:off x="526600" y="330500"/>
            <a:ext cx="6916500" cy="45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Source Code Pro"/>
                <a:ea typeface="Source Code Pro"/>
                <a:cs typeface="Source Code Pro"/>
                <a:sym typeface="Source Code Pro"/>
              </a:rPr>
              <a:t>SELECT * FROM df1 LEFT OUTER JOIN df2 ON df1.key = df2.key;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787" name="Google Shape;787;p76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</p:spPr>
        <p:txBody>
          <a:bodyPr anchorCtr="0" anchor="t" bIns="91425" lIns="91425" spcFirstLastPara="1" rIns="126000" wrap="square" tIns="54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8" name="Google Shape;788;p76"/>
          <p:cNvSpPr txBox="1"/>
          <p:nvPr>
            <p:ph idx="2" type="body"/>
          </p:nvPr>
        </p:nvSpPr>
        <p:spPr>
          <a:xfrm>
            <a:off x="521544" y="1087667"/>
            <a:ext cx="8100900" cy="32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>
                <a:latin typeface="Source Code Pro"/>
                <a:ea typeface="Source Code Pro"/>
                <a:cs typeface="Source Code Pro"/>
                <a:sym typeface="Source Code Pro"/>
              </a:rPr>
              <a:t>pd.merge(df1, df2, on="key", how="left")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789" name="Google Shape;789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550" y="1598621"/>
            <a:ext cx="4045400" cy="30948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77"/>
          <p:cNvSpPr txBox="1"/>
          <p:nvPr>
            <p:ph type="title"/>
          </p:nvPr>
        </p:nvSpPr>
        <p:spPr>
          <a:xfrm>
            <a:off x="526600" y="330500"/>
            <a:ext cx="6916500" cy="45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Source Code Pro"/>
                <a:ea typeface="Source Code Pro"/>
                <a:cs typeface="Source Code Pro"/>
                <a:sym typeface="Source Code Pro"/>
              </a:rPr>
              <a:t>SELECT * FROM df1 RIGHT OUTER JOIN df2 ON df1.key = df2.key;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795" name="Google Shape;795;p77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</p:spPr>
        <p:txBody>
          <a:bodyPr anchorCtr="0" anchor="t" bIns="91425" lIns="91425" spcFirstLastPara="1" rIns="126000" wrap="square" tIns="54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96" name="Google Shape;796;p77"/>
          <p:cNvSpPr txBox="1"/>
          <p:nvPr>
            <p:ph idx="2" type="body"/>
          </p:nvPr>
        </p:nvSpPr>
        <p:spPr>
          <a:xfrm>
            <a:off x="521544" y="1087667"/>
            <a:ext cx="8100900" cy="32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>
                <a:latin typeface="Source Code Pro"/>
                <a:ea typeface="Source Code Pro"/>
                <a:cs typeface="Source Code Pro"/>
                <a:sym typeface="Source Code Pro"/>
              </a:rPr>
              <a:t>pd.merge(df1, df2, on="key", how="right")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797" name="Google Shape;797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600" y="1554947"/>
            <a:ext cx="4045400" cy="2719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78"/>
          <p:cNvSpPr txBox="1"/>
          <p:nvPr>
            <p:ph type="title"/>
          </p:nvPr>
        </p:nvSpPr>
        <p:spPr>
          <a:xfrm>
            <a:off x="526600" y="330500"/>
            <a:ext cx="6916500" cy="45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Source Code Pro"/>
                <a:ea typeface="Source Code Pro"/>
                <a:cs typeface="Source Code Pro"/>
                <a:sym typeface="Source Code Pro"/>
              </a:rPr>
              <a:t>SELECT * FROM df1 FULL OUTER JOIN df2 ON df1.key = df2.key;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803" name="Google Shape;803;p78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</p:spPr>
        <p:txBody>
          <a:bodyPr anchorCtr="0" anchor="t" bIns="91425" lIns="91425" spcFirstLastPara="1" rIns="126000" wrap="square" tIns="54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04" name="Google Shape;804;p78"/>
          <p:cNvSpPr txBox="1"/>
          <p:nvPr>
            <p:ph idx="2" type="body"/>
          </p:nvPr>
        </p:nvSpPr>
        <p:spPr>
          <a:xfrm>
            <a:off x="521544" y="1087667"/>
            <a:ext cx="8100900" cy="32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>
                <a:latin typeface="Source Code Pro"/>
                <a:ea typeface="Source Code Pro"/>
                <a:cs typeface="Source Code Pro"/>
                <a:sym typeface="Source Code Pro"/>
              </a:rPr>
              <a:t>pd.merge(df1, df2, on="key", how="outer")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805" name="Google Shape;805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550" y="1503125"/>
            <a:ext cx="3470025" cy="331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79"/>
          <p:cNvSpPr txBox="1"/>
          <p:nvPr>
            <p:ph type="title"/>
          </p:nvPr>
        </p:nvSpPr>
        <p:spPr>
          <a:xfrm>
            <a:off x="526594" y="330502"/>
            <a:ext cx="6826800" cy="45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Zustand</a:t>
            </a:r>
            <a:r>
              <a:rPr lang="en-GB"/>
              <a:t> vor dem Ändern der Daten:</a:t>
            </a:r>
            <a:endParaRPr/>
          </a:p>
        </p:txBody>
      </p:sp>
      <p:sp>
        <p:nvSpPr>
          <p:cNvPr id="811" name="Google Shape;811;p79"/>
          <p:cNvSpPr txBox="1"/>
          <p:nvPr>
            <p:ph idx="1" type="body"/>
          </p:nvPr>
        </p:nvSpPr>
        <p:spPr>
          <a:xfrm>
            <a:off x="523800" y="1087675"/>
            <a:ext cx="8096400" cy="4518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Autofit/>
          </a:bodyPr>
          <a:lstStyle/>
          <a:p>
            <a:pPr indent="0" lvl="0" marL="0" rtl="0" algn="l">
              <a:lnSpc>
                <a:spcPct val="116071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80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tips.sort_values("tip").head()</a:t>
            </a:r>
            <a:endParaRPr sz="1800"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16071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812" name="Google Shape;812;p79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</p:spPr>
        <p:txBody>
          <a:bodyPr anchorCtr="0" anchor="t" bIns="91425" lIns="91425" spcFirstLastPara="1" rIns="126000" wrap="square" tIns="54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813" name="Google Shape;813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600" y="1844850"/>
            <a:ext cx="6826800" cy="272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80"/>
          <p:cNvSpPr txBox="1"/>
          <p:nvPr>
            <p:ph type="title"/>
          </p:nvPr>
        </p:nvSpPr>
        <p:spPr>
          <a:xfrm>
            <a:off x="526600" y="330500"/>
            <a:ext cx="6916500" cy="45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Source Code Pro"/>
                <a:ea typeface="Source Code Pro"/>
                <a:cs typeface="Source Code Pro"/>
                <a:sym typeface="Source Code Pro"/>
              </a:rPr>
              <a:t>UPDATE tips SET tip = tip*2 WHERE tip &lt; 2;</a:t>
            </a:r>
            <a:endParaRPr sz="20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819" name="Google Shape;819;p80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</p:spPr>
        <p:txBody>
          <a:bodyPr anchorCtr="0" anchor="t" bIns="91425" lIns="91425" spcFirstLastPara="1" rIns="126000" wrap="square" tIns="54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20" name="Google Shape;820;p80"/>
          <p:cNvSpPr txBox="1"/>
          <p:nvPr>
            <p:ph idx="2" type="body"/>
          </p:nvPr>
        </p:nvSpPr>
        <p:spPr>
          <a:xfrm>
            <a:off x="521550" y="1087700"/>
            <a:ext cx="8100900" cy="837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>
                <a:latin typeface="Source Code Pro"/>
                <a:ea typeface="Source Code Pro"/>
                <a:cs typeface="Source Code Pro"/>
                <a:sym typeface="Source Code Pro"/>
              </a:rPr>
              <a:t>tips.loc[tips["tip"] &lt; 2, "tip"] *= 2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>
                <a:latin typeface="Source Code Pro"/>
                <a:ea typeface="Source Code Pro"/>
                <a:cs typeface="Source Code Pro"/>
                <a:sym typeface="Source Code Pro"/>
              </a:rPr>
              <a:t>tips.sort_values("tip").head()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821" name="Google Shape;821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550" y="1925075"/>
            <a:ext cx="6916500" cy="281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81"/>
          <p:cNvSpPr txBox="1"/>
          <p:nvPr>
            <p:ph type="title"/>
          </p:nvPr>
        </p:nvSpPr>
        <p:spPr>
          <a:xfrm>
            <a:off x="526594" y="330502"/>
            <a:ext cx="6826800" cy="45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Zustand vor der nächsten Änderung</a:t>
            </a:r>
            <a:endParaRPr/>
          </a:p>
        </p:txBody>
      </p:sp>
      <p:sp>
        <p:nvSpPr>
          <p:cNvPr id="827" name="Google Shape;827;p81"/>
          <p:cNvSpPr txBox="1"/>
          <p:nvPr>
            <p:ph idx="1" type="body"/>
          </p:nvPr>
        </p:nvSpPr>
        <p:spPr>
          <a:xfrm>
            <a:off x="523800" y="1087675"/>
            <a:ext cx="8096400" cy="4518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Autofit/>
          </a:bodyPr>
          <a:lstStyle/>
          <a:p>
            <a:pPr indent="0" lvl="0" marL="0" rtl="0" algn="l">
              <a:lnSpc>
                <a:spcPct val="116071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80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tips.sort_values("tip", ascending=False).head()</a:t>
            </a:r>
            <a:endParaRPr sz="1800"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16071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828" name="Google Shape;828;p81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</p:spPr>
        <p:txBody>
          <a:bodyPr anchorCtr="0" anchor="t" bIns="91425" lIns="91425" spcFirstLastPara="1" rIns="126000" wrap="square" tIns="54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829" name="Google Shape;829;p81"/>
          <p:cNvPicPr preferRelativeResize="0"/>
          <p:nvPr/>
        </p:nvPicPr>
        <p:blipFill rotWithShape="1">
          <a:blip r:embed="rId3">
            <a:alphaModFix/>
          </a:blip>
          <a:srcRect b="564" l="0" r="0" t="573"/>
          <a:stretch/>
        </p:blipFill>
        <p:spPr>
          <a:xfrm>
            <a:off x="526600" y="1844850"/>
            <a:ext cx="6826800" cy="272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82"/>
          <p:cNvSpPr txBox="1"/>
          <p:nvPr>
            <p:ph type="title"/>
          </p:nvPr>
        </p:nvSpPr>
        <p:spPr>
          <a:xfrm>
            <a:off x="526600" y="330500"/>
            <a:ext cx="6916500" cy="45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Source Code Pro"/>
                <a:ea typeface="Source Code Pro"/>
                <a:cs typeface="Source Code Pro"/>
                <a:sym typeface="Source Code Pro"/>
              </a:rPr>
              <a:t>DELETE FROM tips WHERE tip &gt; 9;</a:t>
            </a:r>
            <a:endParaRPr sz="20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835" name="Google Shape;835;p82"/>
          <p:cNvSpPr txBox="1"/>
          <p:nvPr>
            <p:ph idx="12" type="sldNum"/>
          </p:nvPr>
        </p:nvSpPr>
        <p:spPr>
          <a:xfrm>
            <a:off x="0" y="4945075"/>
            <a:ext cx="474300" cy="198000"/>
          </a:xfrm>
          <a:prstGeom prst="rect">
            <a:avLst/>
          </a:prstGeom>
        </p:spPr>
        <p:txBody>
          <a:bodyPr anchorCtr="0" anchor="t" bIns="91425" lIns="91425" spcFirstLastPara="1" rIns="126000" wrap="square" tIns="54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36" name="Google Shape;836;p82"/>
          <p:cNvSpPr txBox="1"/>
          <p:nvPr>
            <p:ph idx="2" type="body"/>
          </p:nvPr>
        </p:nvSpPr>
        <p:spPr>
          <a:xfrm>
            <a:off x="521550" y="1087700"/>
            <a:ext cx="8100900" cy="837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>
                <a:latin typeface="Source Code Pro"/>
                <a:ea typeface="Source Code Pro"/>
                <a:cs typeface="Source Code Pro"/>
                <a:sym typeface="Source Code Pro"/>
              </a:rPr>
              <a:t>tips = tips.loc[tips["tip"] &lt;= 9]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>
                <a:latin typeface="Source Code Pro"/>
                <a:ea typeface="Source Code Pro"/>
                <a:cs typeface="Source Code Pro"/>
                <a:sym typeface="Source Code Pro"/>
              </a:rPr>
              <a:t>tips.sort_values("tip", ascending=False).head()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837" name="Google Shape;837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600" y="1925002"/>
            <a:ext cx="6916500" cy="28479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83"/>
          <p:cNvSpPr txBox="1"/>
          <p:nvPr>
            <p:ph type="ctrTitle"/>
          </p:nvPr>
        </p:nvSpPr>
        <p:spPr>
          <a:xfrm>
            <a:off x="3654279" y="2265285"/>
            <a:ext cx="4401000" cy="10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Danke für Ihre Aufmerksamkeit.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HHU DS Vorlage 2026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